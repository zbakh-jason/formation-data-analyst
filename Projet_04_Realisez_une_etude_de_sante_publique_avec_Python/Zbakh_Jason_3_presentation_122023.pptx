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72" r:id="rId11"/>
    <p:sldId id="265" r:id="rId12"/>
    <p:sldId id="266" r:id="rId13"/>
    <p:sldId id="267" r:id="rId14"/>
    <p:sldId id="268" r:id="rId15"/>
    <p:sldId id="269" r:id="rId16"/>
    <p:sldId id="273" r:id="rId17"/>
    <p:sldId id="270" r:id="rId18"/>
    <p:sldId id="274" r:id="rId19"/>
    <p:sldId id="275" r:id="rId20"/>
    <p:sldId id="271" r:id="rId21"/>
  </p:sldIdLst>
  <p:sldSz cx="12192000" cy="6858000"/>
  <p:notesSz cx="6858000" cy="9144000"/>
  <p:embeddedFontLst>
    <p:embeddedFont>
      <p:font typeface="Century Gothic" panose="020B0502020202020204" pitchFamily="34" charset="0"/>
      <p:regular r:id="rId23"/>
      <p:bold r:id="rId24"/>
      <p:italic r:id="rId25"/>
      <p:boldItalic r:id="rId26"/>
    </p:embeddedFont>
    <p:embeddedFont>
      <p:font typeface="Segoe UI" panose="020B0502040204020203"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irjfFyYNBG5sNntC35Cbhoqt17C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3736"/>
    <a:srgbClr val="373735"/>
    <a:srgbClr val="00C9DC"/>
    <a:srgbClr val="FEFEFB"/>
    <a:srgbClr val="FFFF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0C8B48-CBAB-4F51-B05E-36E5324C03D7}" v="3601" dt="2024-01-18T14:50:23.5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31136166-810A-5BDE-2A86-EF1185ABF6A1}"/>
            </a:ext>
          </a:extLst>
        </p:cNvPr>
        <p:cNvGrpSpPr/>
        <p:nvPr/>
      </p:nvGrpSpPr>
      <p:grpSpPr>
        <a:xfrm>
          <a:off x="0" y="0"/>
          <a:ext cx="0" cy="0"/>
          <a:chOff x="0" y="0"/>
          <a:chExt cx="0" cy="0"/>
        </a:xfrm>
      </p:grpSpPr>
      <p:sp>
        <p:nvSpPr>
          <p:cNvPr id="178" name="Google Shape;178;p9:notes">
            <a:extLst>
              <a:ext uri="{FF2B5EF4-FFF2-40B4-BE49-F238E27FC236}">
                <a16:creationId xmlns:a16="http://schemas.microsoft.com/office/drawing/2014/main" id="{2A2DEF88-65DD-9370-A8D5-AFC71FBBF19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9:notes">
            <a:extLst>
              <a:ext uri="{FF2B5EF4-FFF2-40B4-BE49-F238E27FC236}">
                <a16:creationId xmlns:a16="http://schemas.microsoft.com/office/drawing/2014/main" id="{20DF975E-3175-1344-6999-7B203349A0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6080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233f607d4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g2233f607d4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51BD1A3F-850C-080E-A682-E5AA7F1C2EDB}"/>
            </a:ext>
          </a:extLst>
        </p:cNvPr>
        <p:cNvGrpSpPr/>
        <p:nvPr/>
      </p:nvGrpSpPr>
      <p:grpSpPr>
        <a:xfrm>
          <a:off x="0" y="0"/>
          <a:ext cx="0" cy="0"/>
          <a:chOff x="0" y="0"/>
          <a:chExt cx="0" cy="0"/>
        </a:xfrm>
      </p:grpSpPr>
      <p:sp>
        <p:nvSpPr>
          <p:cNvPr id="220" name="Google Shape;220;p14:notes">
            <a:extLst>
              <a:ext uri="{FF2B5EF4-FFF2-40B4-BE49-F238E27FC236}">
                <a16:creationId xmlns:a16="http://schemas.microsoft.com/office/drawing/2014/main" id="{5280D327-9033-CA91-34F3-EB549FE7B65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4:notes">
            <a:extLst>
              <a:ext uri="{FF2B5EF4-FFF2-40B4-BE49-F238E27FC236}">
                <a16:creationId xmlns:a16="http://schemas.microsoft.com/office/drawing/2014/main" id="{A5DB4F66-0515-12B6-7F08-15E48196F44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88597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09D38B32-CCC1-AC92-74F0-5CF27311727A}"/>
            </a:ext>
          </a:extLst>
        </p:cNvPr>
        <p:cNvGrpSpPr/>
        <p:nvPr/>
      </p:nvGrpSpPr>
      <p:grpSpPr>
        <a:xfrm>
          <a:off x="0" y="0"/>
          <a:ext cx="0" cy="0"/>
          <a:chOff x="0" y="0"/>
          <a:chExt cx="0" cy="0"/>
        </a:xfrm>
      </p:grpSpPr>
      <p:sp>
        <p:nvSpPr>
          <p:cNvPr id="220" name="Google Shape;220;p14:notes">
            <a:extLst>
              <a:ext uri="{FF2B5EF4-FFF2-40B4-BE49-F238E27FC236}">
                <a16:creationId xmlns:a16="http://schemas.microsoft.com/office/drawing/2014/main" id="{A6EAE1B5-73FB-80C6-8D13-0590DF1016E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4:notes">
            <a:extLst>
              <a:ext uri="{FF2B5EF4-FFF2-40B4-BE49-F238E27FC236}">
                <a16:creationId xmlns:a16="http://schemas.microsoft.com/office/drawing/2014/main" id="{39F54134-AE36-D7DF-0289-418E5AF93E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80666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77200BE1-F851-2794-F116-144F824B161F}"/>
            </a:ext>
          </a:extLst>
        </p:cNvPr>
        <p:cNvGrpSpPr/>
        <p:nvPr/>
      </p:nvGrpSpPr>
      <p:grpSpPr>
        <a:xfrm>
          <a:off x="0" y="0"/>
          <a:ext cx="0" cy="0"/>
          <a:chOff x="0" y="0"/>
          <a:chExt cx="0" cy="0"/>
        </a:xfrm>
      </p:grpSpPr>
      <p:sp>
        <p:nvSpPr>
          <p:cNvPr id="220" name="Google Shape;220;p14:notes">
            <a:extLst>
              <a:ext uri="{FF2B5EF4-FFF2-40B4-BE49-F238E27FC236}">
                <a16:creationId xmlns:a16="http://schemas.microsoft.com/office/drawing/2014/main" id="{11EDB235-8F89-3BCF-5A16-4CC07714158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4:notes">
            <a:extLst>
              <a:ext uri="{FF2B5EF4-FFF2-40B4-BE49-F238E27FC236}">
                <a16:creationId xmlns:a16="http://schemas.microsoft.com/office/drawing/2014/main" id="{B711ADDF-EB96-BD38-38BF-11A737D3F4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0027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17"/>
          <p:cNvSpPr/>
          <p:nvPr/>
        </p:nvSpPr>
        <p:spPr>
          <a:xfrm>
            <a:off x="0" y="-3175"/>
            <a:ext cx="12192000" cy="5203825"/>
          </a:xfrm>
          <a:custGeom>
            <a:avLst/>
            <a:gdLst/>
            <a:ahLst/>
            <a:cxnLst/>
            <a:rect l="l" t="t" r="r" b="b"/>
            <a:pathLst>
              <a:path w="5760" h="3278" extrusionOk="0">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7" name="Google Shape;17;p17"/>
          <p:cNvSpPr txBox="1">
            <a:spLocks noGrp="1"/>
          </p:cNvSpPr>
          <p:nvPr>
            <p:ph type="ctrTitle"/>
          </p:nvPr>
        </p:nvSpPr>
        <p:spPr>
          <a:xfrm>
            <a:off x="810001" y="1449147"/>
            <a:ext cx="10572000" cy="297105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5400"/>
              <a:buFont typeface="Century Gothic"/>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7"/>
          <p:cNvSpPr txBox="1">
            <a:spLocks noGrp="1"/>
          </p:cNvSpPr>
          <p:nvPr>
            <p:ph type="subTitle" idx="1"/>
          </p:nvPr>
        </p:nvSpPr>
        <p:spPr>
          <a:xfrm>
            <a:off x="810001" y="5280847"/>
            <a:ext cx="10572000" cy="434974"/>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lvl="0" algn="l">
              <a:lnSpc>
                <a:spcPct val="100000"/>
              </a:lnSpc>
              <a:spcBef>
                <a:spcPts val="360"/>
              </a:spcBef>
              <a:spcAft>
                <a:spcPts val="0"/>
              </a:spcAft>
              <a:buSzPts val="1800"/>
              <a:buNone/>
              <a:defRPr>
                <a:solidFill>
                  <a:schemeClr val="lt1"/>
                </a:solidFill>
              </a:defRPr>
            </a:lvl1pPr>
            <a:lvl2pPr lvl="1" algn="ctr">
              <a:lnSpc>
                <a:spcPct val="100000"/>
              </a:lnSpc>
              <a:spcBef>
                <a:spcPts val="600"/>
              </a:spcBef>
              <a:spcAft>
                <a:spcPts val="0"/>
              </a:spcAft>
              <a:buSzPts val="1600"/>
              <a:buNone/>
              <a:defRPr>
                <a:solidFill>
                  <a:schemeClr val="lt1"/>
                </a:solidFill>
              </a:defRPr>
            </a:lvl2pPr>
            <a:lvl3pPr lvl="2" algn="ctr">
              <a:lnSpc>
                <a:spcPct val="100000"/>
              </a:lnSpc>
              <a:spcBef>
                <a:spcPts val="600"/>
              </a:spcBef>
              <a:spcAft>
                <a:spcPts val="0"/>
              </a:spcAft>
              <a:buSzPts val="1400"/>
              <a:buNone/>
              <a:defRPr>
                <a:solidFill>
                  <a:schemeClr val="lt1"/>
                </a:solidFill>
              </a:defRPr>
            </a:lvl3pPr>
            <a:lvl4pPr lvl="3" algn="ctr">
              <a:lnSpc>
                <a:spcPct val="100000"/>
              </a:lnSpc>
              <a:spcBef>
                <a:spcPts val="600"/>
              </a:spcBef>
              <a:spcAft>
                <a:spcPts val="0"/>
              </a:spcAft>
              <a:buSzPts val="1200"/>
              <a:buNone/>
              <a:defRPr>
                <a:solidFill>
                  <a:schemeClr val="lt1"/>
                </a:solidFill>
              </a:defRPr>
            </a:lvl4pPr>
            <a:lvl5pPr lvl="4" algn="ctr">
              <a:lnSpc>
                <a:spcPct val="100000"/>
              </a:lnSpc>
              <a:spcBef>
                <a:spcPts val="600"/>
              </a:spcBef>
              <a:spcAft>
                <a:spcPts val="0"/>
              </a:spcAft>
              <a:buSzPts val="1200"/>
              <a:buNone/>
              <a:defRPr>
                <a:solidFill>
                  <a:schemeClr val="lt1"/>
                </a:solidFill>
              </a:defRPr>
            </a:lvl5pPr>
            <a:lvl6pPr lvl="5" algn="ctr">
              <a:lnSpc>
                <a:spcPct val="100000"/>
              </a:lnSpc>
              <a:spcBef>
                <a:spcPts val="600"/>
              </a:spcBef>
              <a:spcAft>
                <a:spcPts val="0"/>
              </a:spcAft>
              <a:buSzPts val="1200"/>
              <a:buNone/>
              <a:defRPr>
                <a:solidFill>
                  <a:schemeClr val="lt1"/>
                </a:solidFill>
              </a:defRPr>
            </a:lvl6pPr>
            <a:lvl7pPr lvl="6" algn="ctr">
              <a:lnSpc>
                <a:spcPct val="100000"/>
              </a:lnSpc>
              <a:spcBef>
                <a:spcPts val="600"/>
              </a:spcBef>
              <a:spcAft>
                <a:spcPts val="0"/>
              </a:spcAft>
              <a:buSzPts val="1200"/>
              <a:buNone/>
              <a:defRPr>
                <a:solidFill>
                  <a:schemeClr val="lt1"/>
                </a:solidFill>
              </a:defRPr>
            </a:lvl7pPr>
            <a:lvl8pPr lvl="7" algn="ctr">
              <a:lnSpc>
                <a:spcPct val="100000"/>
              </a:lnSpc>
              <a:spcBef>
                <a:spcPts val="600"/>
              </a:spcBef>
              <a:spcAft>
                <a:spcPts val="0"/>
              </a:spcAft>
              <a:buSzPts val="1200"/>
              <a:buNone/>
              <a:defRPr>
                <a:solidFill>
                  <a:schemeClr val="lt1"/>
                </a:solidFill>
              </a:defRPr>
            </a:lvl8pPr>
            <a:lvl9pPr lvl="8" algn="ctr">
              <a:lnSpc>
                <a:spcPct val="100000"/>
              </a:lnSpc>
              <a:spcBef>
                <a:spcPts val="600"/>
              </a:spcBef>
              <a:spcAft>
                <a:spcPts val="600"/>
              </a:spcAft>
              <a:buSzPts val="1200"/>
              <a:buNone/>
              <a:defRPr>
                <a:solidFill>
                  <a:schemeClr val="lt1"/>
                </a:solidFill>
              </a:defRPr>
            </a:lvl9pPr>
          </a:lstStyle>
          <a:p>
            <a:endParaRPr/>
          </a:p>
        </p:txBody>
      </p:sp>
      <p:sp>
        <p:nvSpPr>
          <p:cNvPr id="19" name="Google Shape;19;p17"/>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2"/>
        <p:cNvGrpSpPr/>
        <p:nvPr/>
      </p:nvGrpSpPr>
      <p:grpSpPr>
        <a:xfrm>
          <a:off x="0" y="0"/>
          <a:ext cx="0" cy="0"/>
          <a:chOff x="0" y="0"/>
          <a:chExt cx="0" cy="0"/>
        </a:xfrm>
      </p:grpSpPr>
      <p:sp>
        <p:nvSpPr>
          <p:cNvPr id="23" name="Google Shape;23;p18"/>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24" name="Google Shape;24;p18"/>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8"/>
          <p:cNvSpPr txBox="1">
            <a:spLocks noGrp="1"/>
          </p:cNvSpPr>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26" name="Google Shape;26;p1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tête de section" type="secHead">
  <p:cSld name="SECTION_HEADER">
    <p:spTree>
      <p:nvGrpSpPr>
        <p:cNvPr id="1" name="Shape 29"/>
        <p:cNvGrpSpPr/>
        <p:nvPr/>
      </p:nvGrpSpPr>
      <p:grpSpPr>
        <a:xfrm>
          <a:off x="0" y="0"/>
          <a:ext cx="0" cy="0"/>
          <a:chOff x="0" y="0"/>
          <a:chExt cx="0" cy="0"/>
        </a:xfrm>
      </p:grpSpPr>
      <p:sp>
        <p:nvSpPr>
          <p:cNvPr id="30" name="Google Shape;30;p19"/>
          <p:cNvSpPr/>
          <p:nvPr/>
        </p:nvSpPr>
        <p:spPr>
          <a:xfrm>
            <a:off x="0" y="1"/>
            <a:ext cx="12192000" cy="5203825"/>
          </a:xfrm>
          <a:custGeom>
            <a:avLst/>
            <a:gdLst/>
            <a:ahLst/>
            <a:cxnLst/>
            <a:rect l="l" t="t" r="r" b="b"/>
            <a:pathLst>
              <a:path w="5760" h="3278" extrusionOk="0">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31" name="Google Shape;31;p19"/>
          <p:cNvSpPr txBox="1">
            <a:spLocks noGrp="1"/>
          </p:cNvSpPr>
          <p:nvPr>
            <p:ph type="title"/>
          </p:nvPr>
        </p:nvSpPr>
        <p:spPr>
          <a:xfrm>
            <a:off x="810000" y="2951396"/>
            <a:ext cx="10561418" cy="14688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r">
              <a:lnSpc>
                <a:spcPct val="100000"/>
              </a:lnSpc>
              <a:spcBef>
                <a:spcPts val="0"/>
              </a:spcBef>
              <a:spcAft>
                <a:spcPts val="0"/>
              </a:spcAft>
              <a:buClr>
                <a:srgbClr val="FEFEFE"/>
              </a:buClr>
              <a:buSzPts val="4800"/>
              <a:buFont typeface="Century Gothic"/>
              <a:buNone/>
              <a:defRPr sz="48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body" idx="1"/>
          </p:nvPr>
        </p:nvSpPr>
        <p:spPr>
          <a:xfrm>
            <a:off x="810000" y="5281201"/>
            <a:ext cx="10561418" cy="43395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r">
              <a:lnSpc>
                <a:spcPct val="100000"/>
              </a:lnSpc>
              <a:spcBef>
                <a:spcPts val="360"/>
              </a:spcBef>
              <a:spcAft>
                <a:spcPts val="0"/>
              </a:spcAft>
              <a:buSzPts val="1800"/>
              <a:buNone/>
              <a:defRPr sz="1800">
                <a:solidFill>
                  <a:schemeClr val="lt1"/>
                </a:solidFill>
              </a:defRPr>
            </a:lvl1pPr>
            <a:lvl2pPr marL="914400" lvl="1" indent="-228600" algn="l">
              <a:lnSpc>
                <a:spcPct val="100000"/>
              </a:lnSpc>
              <a:spcBef>
                <a:spcPts val="600"/>
              </a:spcBef>
              <a:spcAft>
                <a:spcPts val="0"/>
              </a:spcAft>
              <a:buSzPts val="1800"/>
              <a:buNone/>
              <a:defRPr sz="1800">
                <a:solidFill>
                  <a:schemeClr val="lt1"/>
                </a:solidFill>
              </a:defRPr>
            </a:lvl2pPr>
            <a:lvl3pPr marL="1371600" lvl="2" indent="-228600" algn="l">
              <a:lnSpc>
                <a:spcPct val="100000"/>
              </a:lnSpc>
              <a:spcBef>
                <a:spcPts val="600"/>
              </a:spcBef>
              <a:spcAft>
                <a:spcPts val="0"/>
              </a:spcAft>
              <a:buSzPts val="1600"/>
              <a:buNone/>
              <a:defRPr sz="1600">
                <a:solidFill>
                  <a:schemeClr val="lt1"/>
                </a:solidFill>
              </a:defRPr>
            </a:lvl3pPr>
            <a:lvl4pPr marL="1828800" lvl="3" indent="-228600" algn="l">
              <a:lnSpc>
                <a:spcPct val="100000"/>
              </a:lnSpc>
              <a:spcBef>
                <a:spcPts val="600"/>
              </a:spcBef>
              <a:spcAft>
                <a:spcPts val="0"/>
              </a:spcAft>
              <a:buSzPts val="1400"/>
              <a:buNone/>
              <a:defRPr sz="1400">
                <a:solidFill>
                  <a:schemeClr val="lt1"/>
                </a:solidFill>
              </a:defRPr>
            </a:lvl4pPr>
            <a:lvl5pPr marL="2286000" lvl="4" indent="-228600" algn="l">
              <a:lnSpc>
                <a:spcPct val="100000"/>
              </a:lnSpc>
              <a:spcBef>
                <a:spcPts val="600"/>
              </a:spcBef>
              <a:spcAft>
                <a:spcPts val="0"/>
              </a:spcAft>
              <a:buSzPts val="1400"/>
              <a:buNone/>
              <a:defRPr sz="1400">
                <a:solidFill>
                  <a:schemeClr val="lt1"/>
                </a:solidFill>
              </a:defRPr>
            </a:lvl5pPr>
            <a:lvl6pPr marL="2743200" lvl="5" indent="-228600" algn="l">
              <a:lnSpc>
                <a:spcPct val="100000"/>
              </a:lnSpc>
              <a:spcBef>
                <a:spcPts val="600"/>
              </a:spcBef>
              <a:spcAft>
                <a:spcPts val="0"/>
              </a:spcAft>
              <a:buSzPts val="1400"/>
              <a:buNone/>
              <a:defRPr sz="1400">
                <a:solidFill>
                  <a:schemeClr val="lt1"/>
                </a:solidFill>
              </a:defRPr>
            </a:lvl6pPr>
            <a:lvl7pPr marL="3200400" lvl="6" indent="-228600" algn="l">
              <a:lnSpc>
                <a:spcPct val="100000"/>
              </a:lnSpc>
              <a:spcBef>
                <a:spcPts val="600"/>
              </a:spcBef>
              <a:spcAft>
                <a:spcPts val="0"/>
              </a:spcAft>
              <a:buSzPts val="1400"/>
              <a:buNone/>
              <a:defRPr sz="1400">
                <a:solidFill>
                  <a:schemeClr val="lt1"/>
                </a:solidFill>
              </a:defRPr>
            </a:lvl7pPr>
            <a:lvl8pPr marL="3657600" lvl="7" indent="-228600" algn="l">
              <a:lnSpc>
                <a:spcPct val="100000"/>
              </a:lnSpc>
              <a:spcBef>
                <a:spcPts val="600"/>
              </a:spcBef>
              <a:spcAft>
                <a:spcPts val="0"/>
              </a:spcAft>
              <a:buSzPts val="1400"/>
              <a:buNone/>
              <a:defRPr sz="1400">
                <a:solidFill>
                  <a:schemeClr val="lt1"/>
                </a:solidFill>
              </a:defRPr>
            </a:lvl8pPr>
            <a:lvl9pPr marL="4114800" lvl="8" indent="-228600" algn="l">
              <a:lnSpc>
                <a:spcPct val="100000"/>
              </a:lnSpc>
              <a:spcBef>
                <a:spcPts val="600"/>
              </a:spcBef>
              <a:spcAft>
                <a:spcPts val="600"/>
              </a:spcAft>
              <a:buSzPts val="1400"/>
              <a:buNone/>
              <a:defRPr sz="1400">
                <a:solidFill>
                  <a:schemeClr val="lt1"/>
                </a:solidFill>
              </a:defRPr>
            </a:lvl9pPr>
          </a:lstStyle>
          <a:p>
            <a:endParaRPr/>
          </a:p>
        </p:txBody>
      </p:sp>
      <p:sp>
        <p:nvSpPr>
          <p:cNvPr id="33" name="Google Shape;33;p1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36"/>
        <p:cNvGrpSpPr/>
        <p:nvPr/>
      </p:nvGrpSpPr>
      <p:grpSpPr>
        <a:xfrm>
          <a:off x="0" y="0"/>
          <a:ext cx="0" cy="0"/>
          <a:chOff x="0" y="0"/>
          <a:chExt cx="0" cy="0"/>
        </a:xfrm>
      </p:grpSpPr>
      <p:sp>
        <p:nvSpPr>
          <p:cNvPr id="37" name="Google Shape;37;p20"/>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38" name="Google Shape;38;p20"/>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body" idx="1"/>
          </p:nvPr>
        </p:nvSpPr>
        <p:spPr>
          <a:xfrm>
            <a:off x="818712" y="2222287"/>
            <a:ext cx="5185873" cy="36387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40" name="Google Shape;40;p20"/>
          <p:cNvSpPr txBox="1">
            <a:spLocks noGrp="1"/>
          </p:cNvSpPr>
          <p:nvPr>
            <p:ph type="body" idx="2"/>
          </p:nvPr>
        </p:nvSpPr>
        <p:spPr>
          <a:xfrm>
            <a:off x="6187415" y="2222287"/>
            <a:ext cx="5194583" cy="3638764"/>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41" name="Google Shape;41;p2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4"/>
        <p:cNvGrpSpPr/>
        <p:nvPr/>
      </p:nvGrpSpPr>
      <p:grpSpPr>
        <a:xfrm>
          <a:off x="0" y="0"/>
          <a:ext cx="0" cy="0"/>
          <a:chOff x="0" y="0"/>
          <a:chExt cx="0" cy="0"/>
        </a:xfrm>
      </p:grpSpPr>
      <p:sp>
        <p:nvSpPr>
          <p:cNvPr id="45" name="Google Shape;45;p21"/>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46" name="Google Shape;46;p21"/>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1"/>
          <p:cNvSpPr txBox="1">
            <a:spLocks noGrp="1"/>
          </p:cNvSpPr>
          <p:nvPr>
            <p:ph type="body" idx="1"/>
          </p:nvPr>
        </p:nvSpPr>
        <p:spPr>
          <a:xfrm>
            <a:off x="814728" y="2174875"/>
            <a:ext cx="5189857"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0"/>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600"/>
              </a:spcBef>
              <a:spcAft>
                <a:spcPts val="0"/>
              </a:spcAft>
              <a:buSzPts val="1800"/>
              <a:buNone/>
              <a:defRPr sz="1800" b="1"/>
            </a:lvl3pPr>
            <a:lvl4pPr marL="1828800" lvl="3" indent="-228600" algn="l">
              <a:lnSpc>
                <a:spcPct val="100000"/>
              </a:lnSpc>
              <a:spcBef>
                <a:spcPts val="600"/>
              </a:spcBef>
              <a:spcAft>
                <a:spcPts val="0"/>
              </a:spcAft>
              <a:buSzPts val="1600"/>
              <a:buNone/>
              <a:defRPr sz="1600" b="1"/>
            </a:lvl4pPr>
            <a:lvl5pPr marL="2286000" lvl="4" indent="-228600" algn="l">
              <a:lnSpc>
                <a:spcPct val="100000"/>
              </a:lnSpc>
              <a:spcBef>
                <a:spcPts val="600"/>
              </a:spcBef>
              <a:spcAft>
                <a:spcPts val="0"/>
              </a:spcAft>
              <a:buSzPts val="1600"/>
              <a:buNone/>
              <a:defRPr sz="1600" b="1"/>
            </a:lvl5pPr>
            <a:lvl6pPr marL="2743200" lvl="5" indent="-228600" algn="l">
              <a:lnSpc>
                <a:spcPct val="100000"/>
              </a:lnSpc>
              <a:spcBef>
                <a:spcPts val="600"/>
              </a:spcBef>
              <a:spcAft>
                <a:spcPts val="0"/>
              </a:spcAft>
              <a:buSzPts val="1600"/>
              <a:buNone/>
              <a:defRPr sz="1600" b="1"/>
            </a:lvl6pPr>
            <a:lvl7pPr marL="3200400" lvl="6" indent="-228600" algn="l">
              <a:lnSpc>
                <a:spcPct val="100000"/>
              </a:lnSpc>
              <a:spcBef>
                <a:spcPts val="600"/>
              </a:spcBef>
              <a:spcAft>
                <a:spcPts val="0"/>
              </a:spcAft>
              <a:buSzPts val="1600"/>
              <a:buNone/>
              <a:defRPr sz="1600" b="1"/>
            </a:lvl7pPr>
            <a:lvl8pPr marL="3657600" lvl="7" indent="-228600" algn="l">
              <a:lnSpc>
                <a:spcPct val="100000"/>
              </a:lnSpc>
              <a:spcBef>
                <a:spcPts val="600"/>
              </a:spcBef>
              <a:spcAft>
                <a:spcPts val="0"/>
              </a:spcAft>
              <a:buSzPts val="1600"/>
              <a:buNone/>
              <a:defRPr sz="1600" b="1"/>
            </a:lvl8pPr>
            <a:lvl9pPr marL="4114800" lvl="8" indent="-228600" algn="l">
              <a:lnSpc>
                <a:spcPct val="100000"/>
              </a:lnSpc>
              <a:spcBef>
                <a:spcPts val="600"/>
              </a:spcBef>
              <a:spcAft>
                <a:spcPts val="600"/>
              </a:spcAft>
              <a:buSzPts val="1600"/>
              <a:buNone/>
              <a:defRPr sz="1600" b="1"/>
            </a:lvl9pPr>
          </a:lstStyle>
          <a:p>
            <a:endParaRPr/>
          </a:p>
        </p:txBody>
      </p:sp>
      <p:sp>
        <p:nvSpPr>
          <p:cNvPr id="48" name="Google Shape;48;p21"/>
          <p:cNvSpPr txBox="1">
            <a:spLocks noGrp="1"/>
          </p:cNvSpPr>
          <p:nvPr>
            <p:ph type="body" idx="2"/>
          </p:nvPr>
        </p:nvSpPr>
        <p:spPr>
          <a:xfrm>
            <a:off x="814729" y="2751138"/>
            <a:ext cx="5189856"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49" name="Google Shape;49;p21"/>
          <p:cNvSpPr txBox="1">
            <a:spLocks noGrp="1"/>
          </p:cNvSpPr>
          <p:nvPr>
            <p:ph type="body" idx="3"/>
          </p:nvPr>
        </p:nvSpPr>
        <p:spPr>
          <a:xfrm>
            <a:off x="6187415" y="2174875"/>
            <a:ext cx="5194583"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0"/>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600"/>
              </a:spcBef>
              <a:spcAft>
                <a:spcPts val="0"/>
              </a:spcAft>
              <a:buSzPts val="1800"/>
              <a:buNone/>
              <a:defRPr sz="1800" b="1"/>
            </a:lvl3pPr>
            <a:lvl4pPr marL="1828800" lvl="3" indent="-228600" algn="l">
              <a:lnSpc>
                <a:spcPct val="100000"/>
              </a:lnSpc>
              <a:spcBef>
                <a:spcPts val="600"/>
              </a:spcBef>
              <a:spcAft>
                <a:spcPts val="0"/>
              </a:spcAft>
              <a:buSzPts val="1600"/>
              <a:buNone/>
              <a:defRPr sz="1600" b="1"/>
            </a:lvl4pPr>
            <a:lvl5pPr marL="2286000" lvl="4" indent="-228600" algn="l">
              <a:lnSpc>
                <a:spcPct val="100000"/>
              </a:lnSpc>
              <a:spcBef>
                <a:spcPts val="600"/>
              </a:spcBef>
              <a:spcAft>
                <a:spcPts val="0"/>
              </a:spcAft>
              <a:buSzPts val="1600"/>
              <a:buNone/>
              <a:defRPr sz="1600" b="1"/>
            </a:lvl5pPr>
            <a:lvl6pPr marL="2743200" lvl="5" indent="-228600" algn="l">
              <a:lnSpc>
                <a:spcPct val="100000"/>
              </a:lnSpc>
              <a:spcBef>
                <a:spcPts val="600"/>
              </a:spcBef>
              <a:spcAft>
                <a:spcPts val="0"/>
              </a:spcAft>
              <a:buSzPts val="1600"/>
              <a:buNone/>
              <a:defRPr sz="1600" b="1"/>
            </a:lvl6pPr>
            <a:lvl7pPr marL="3200400" lvl="6" indent="-228600" algn="l">
              <a:lnSpc>
                <a:spcPct val="100000"/>
              </a:lnSpc>
              <a:spcBef>
                <a:spcPts val="600"/>
              </a:spcBef>
              <a:spcAft>
                <a:spcPts val="0"/>
              </a:spcAft>
              <a:buSzPts val="1600"/>
              <a:buNone/>
              <a:defRPr sz="1600" b="1"/>
            </a:lvl7pPr>
            <a:lvl8pPr marL="3657600" lvl="7" indent="-228600" algn="l">
              <a:lnSpc>
                <a:spcPct val="100000"/>
              </a:lnSpc>
              <a:spcBef>
                <a:spcPts val="600"/>
              </a:spcBef>
              <a:spcAft>
                <a:spcPts val="0"/>
              </a:spcAft>
              <a:buSzPts val="1600"/>
              <a:buNone/>
              <a:defRPr sz="1600" b="1"/>
            </a:lvl8pPr>
            <a:lvl9pPr marL="4114800" lvl="8" indent="-228600" algn="l">
              <a:lnSpc>
                <a:spcPct val="100000"/>
              </a:lnSpc>
              <a:spcBef>
                <a:spcPts val="600"/>
              </a:spcBef>
              <a:spcAft>
                <a:spcPts val="600"/>
              </a:spcAft>
              <a:buSzPts val="1600"/>
              <a:buNone/>
              <a:defRPr sz="1600" b="1"/>
            </a:lvl9pPr>
          </a:lstStyle>
          <a:p>
            <a:endParaRPr/>
          </a:p>
        </p:txBody>
      </p:sp>
      <p:sp>
        <p:nvSpPr>
          <p:cNvPr id="50" name="Google Shape;50;p21"/>
          <p:cNvSpPr txBox="1">
            <a:spLocks noGrp="1"/>
          </p:cNvSpPr>
          <p:nvPr>
            <p:ph type="body" idx="4"/>
          </p:nvPr>
        </p:nvSpPr>
        <p:spPr>
          <a:xfrm>
            <a:off x="6187415" y="2751138"/>
            <a:ext cx="5194583"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51" name="Google Shape;51;p21"/>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re uniquement" type="titleOnly">
  <p:cSld name="TITLE_ONLY">
    <p:spTree>
      <p:nvGrpSpPr>
        <p:cNvPr id="1" name="Shape 54"/>
        <p:cNvGrpSpPr/>
        <p:nvPr/>
      </p:nvGrpSpPr>
      <p:grpSpPr>
        <a:xfrm>
          <a:off x="0" y="0"/>
          <a:ext cx="0" cy="0"/>
          <a:chOff x="0" y="0"/>
          <a:chExt cx="0" cy="0"/>
        </a:xfrm>
      </p:grpSpPr>
      <p:sp>
        <p:nvSpPr>
          <p:cNvPr id="55" name="Google Shape;55;p22"/>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56" name="Google Shape;56;p2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60"/>
        <p:cNvGrpSpPr/>
        <p:nvPr/>
      </p:nvGrpSpPr>
      <p:grpSpPr>
        <a:xfrm>
          <a:off x="0" y="0"/>
          <a:ext cx="0" cy="0"/>
          <a:chOff x="0" y="0"/>
          <a:chExt cx="0" cy="0"/>
        </a:xfrm>
      </p:grpSpPr>
      <p:sp>
        <p:nvSpPr>
          <p:cNvPr id="61" name="Google Shape;61;p23"/>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64"/>
        <p:cNvGrpSpPr/>
        <p:nvPr/>
      </p:nvGrpSpPr>
      <p:grpSpPr>
        <a:xfrm>
          <a:off x="0" y="0"/>
          <a:ext cx="0" cy="0"/>
          <a:chOff x="0" y="0"/>
          <a:chExt cx="0" cy="0"/>
        </a:xfrm>
      </p:grpSpPr>
      <p:sp>
        <p:nvSpPr>
          <p:cNvPr id="65" name="Google Shape;65;p24"/>
          <p:cNvSpPr/>
          <p:nvPr/>
        </p:nvSpPr>
        <p:spPr>
          <a:xfrm>
            <a:off x="1073151" y="446087"/>
            <a:ext cx="3547533" cy="1814651"/>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66" name="Google Shape;66;p24"/>
          <p:cNvSpPr txBox="1">
            <a:spLocks noGrp="1"/>
          </p:cNvSpPr>
          <p:nvPr>
            <p:ph type="title"/>
          </p:nvPr>
        </p:nvSpPr>
        <p:spPr>
          <a:xfrm>
            <a:off x="1073151" y="446088"/>
            <a:ext cx="3547533" cy="1618396"/>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2000"/>
              <a:buFont typeface="Century Gothic"/>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body" idx="1"/>
          </p:nvPr>
        </p:nvSpPr>
        <p:spPr>
          <a:xfrm>
            <a:off x="4855633" y="446088"/>
            <a:ext cx="6252633" cy="54149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68" name="Google Shape;68;p24"/>
          <p:cNvSpPr txBox="1">
            <a:spLocks noGrp="1"/>
          </p:cNvSpPr>
          <p:nvPr>
            <p:ph type="body" idx="2"/>
          </p:nvPr>
        </p:nvSpPr>
        <p:spPr>
          <a:xfrm>
            <a:off x="1073151" y="2260738"/>
            <a:ext cx="3547533" cy="36003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lnSpc>
                <a:spcPct val="100000"/>
              </a:lnSpc>
              <a:spcBef>
                <a:spcPts val="280"/>
              </a:spcBef>
              <a:spcAft>
                <a:spcPts val="0"/>
              </a:spcAft>
              <a:buSzPts val="1400"/>
              <a:buNone/>
              <a:defRPr sz="14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69" name="Google Shape;69;p24"/>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a:off x="814728" y="727522"/>
            <a:ext cx="4852988" cy="1617163"/>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lnSpc>
                <a:spcPct val="100000"/>
              </a:lnSpc>
              <a:spcBef>
                <a:spcPts val="0"/>
              </a:spcBef>
              <a:spcAft>
                <a:spcPts val="0"/>
              </a:spcAft>
              <a:buClr>
                <a:srgbClr val="FEFEFE"/>
              </a:buClr>
              <a:buSzPts val="2400"/>
              <a:buFont typeface="Century Gothic"/>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a:spLocks noGrp="1"/>
          </p:cNvSpPr>
          <p:nvPr>
            <p:ph type="pic" idx="2"/>
          </p:nvPr>
        </p:nvSpPr>
        <p:spPr>
          <a:xfrm>
            <a:off x="6098117" y="0"/>
            <a:ext cx="6093883" cy="6858000"/>
          </a:xfrm>
          <a:prstGeom prst="rect">
            <a:avLst/>
          </a:prstGeom>
          <a:noFill/>
          <a:ln w="9525" cap="flat" cmpd="sng">
            <a:solidFill>
              <a:schemeClr val="lt2"/>
            </a:solidFill>
            <a:prstDash val="solid"/>
            <a:round/>
            <a:headEnd type="none" w="sm" len="sm"/>
            <a:tailEnd type="none" w="sm" len="sm"/>
          </a:ln>
          <a:effectLst>
            <a:outerShdw blurRad="50800">
              <a:srgbClr val="000000">
                <a:alpha val="40000"/>
              </a:srgbClr>
            </a:outerShdw>
          </a:effectLst>
        </p:spPr>
      </p:sp>
      <p:sp>
        <p:nvSpPr>
          <p:cNvPr id="75" name="Google Shape;75;p25"/>
          <p:cNvSpPr txBox="1">
            <a:spLocks noGrp="1"/>
          </p:cNvSpPr>
          <p:nvPr>
            <p:ph type="body" idx="1"/>
          </p:nvPr>
        </p:nvSpPr>
        <p:spPr>
          <a:xfrm>
            <a:off x="814728" y="2344684"/>
            <a:ext cx="4852988" cy="35163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SzPts val="1200"/>
              <a:buNone/>
              <a:defRPr sz="12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76" name="Google Shape;76;p25"/>
          <p:cNvSpPr txBox="1">
            <a:spLocks noGrp="1"/>
          </p:cNvSpPr>
          <p:nvPr>
            <p:ph type="dt" idx="10"/>
          </p:nvPr>
        </p:nvSpPr>
        <p:spPr>
          <a:xfrm>
            <a:off x="3885810" y="6041362"/>
            <a:ext cx="976879"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ftr" idx="11"/>
          </p:nvPr>
        </p:nvSpPr>
        <p:spPr>
          <a:xfrm>
            <a:off x="590396" y="6041362"/>
            <a:ext cx="3295413"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sldNum" idx="12"/>
          </p:nvPr>
        </p:nvSpPr>
        <p:spPr>
          <a:xfrm>
            <a:off x="4862689"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 panoramique avec légende">
  <p:cSld name="Image panoramique avec légende">
    <p:spTree>
      <p:nvGrpSpPr>
        <p:cNvPr id="1" name="Shape 79"/>
        <p:cNvGrpSpPr/>
        <p:nvPr/>
      </p:nvGrpSpPr>
      <p:grpSpPr>
        <a:xfrm>
          <a:off x="0" y="0"/>
          <a:ext cx="0" cy="0"/>
          <a:chOff x="0" y="0"/>
          <a:chExt cx="0" cy="0"/>
        </a:xfrm>
      </p:grpSpPr>
      <p:sp>
        <p:nvSpPr>
          <p:cNvPr id="80" name="Google Shape;80;p26"/>
          <p:cNvSpPr txBox="1">
            <a:spLocks noGrp="1"/>
          </p:cNvSpPr>
          <p:nvPr>
            <p:ph type="title"/>
          </p:nvPr>
        </p:nvSpPr>
        <p:spPr>
          <a:xfrm>
            <a:off x="810000" y="4800600"/>
            <a:ext cx="10561418" cy="566738"/>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lnSpc>
                <a:spcPct val="100000"/>
              </a:lnSpc>
              <a:spcBef>
                <a:spcPts val="0"/>
              </a:spcBef>
              <a:spcAft>
                <a:spcPts val="0"/>
              </a:spcAft>
              <a:buClr>
                <a:srgbClr val="FEFEFE"/>
              </a:buClr>
              <a:buSzPts val="2400"/>
              <a:buFont typeface="Century Gothic"/>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a:spLocks noGrp="1"/>
          </p:cNvSpPr>
          <p:nvPr>
            <p:ph type="pic" idx="2"/>
          </p:nvPr>
        </p:nvSpPr>
        <p:spPr>
          <a:xfrm>
            <a:off x="0" y="0"/>
            <a:ext cx="12192000" cy="4800600"/>
          </a:xfrm>
          <a:prstGeom prst="rect">
            <a:avLst/>
          </a:prstGeom>
          <a:noFill/>
          <a:ln w="9525" cap="rnd" cmpd="sng">
            <a:solidFill>
              <a:schemeClr val="lt2"/>
            </a:solidFill>
            <a:prstDash val="solid"/>
            <a:round/>
            <a:headEnd type="none" w="sm" len="sm"/>
            <a:tailEnd type="none" w="sm" len="sm"/>
          </a:ln>
          <a:effectLst>
            <a:outerShdw blurRad="50800">
              <a:srgbClr val="000000">
                <a:alpha val="40000"/>
              </a:srgbClr>
            </a:outerShdw>
          </a:effectLst>
        </p:spPr>
      </p:sp>
      <p:sp>
        <p:nvSpPr>
          <p:cNvPr id="82" name="Google Shape;82;p26"/>
          <p:cNvSpPr txBox="1">
            <a:spLocks noGrp="1"/>
          </p:cNvSpPr>
          <p:nvPr>
            <p:ph type="body" idx="1"/>
          </p:nvPr>
        </p:nvSpPr>
        <p:spPr>
          <a:xfrm>
            <a:off x="810000" y="5367338"/>
            <a:ext cx="10561418" cy="49371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200"/>
              <a:buNone/>
              <a:defRPr sz="12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83" name="Google Shape;83;p26"/>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6"/>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itation avec légende">
  <p:cSld name="Citation avec légende">
    <p:spTree>
      <p:nvGrpSpPr>
        <p:cNvPr id="1" name="Shape 86"/>
        <p:cNvGrpSpPr/>
        <p:nvPr/>
      </p:nvGrpSpPr>
      <p:grpSpPr>
        <a:xfrm>
          <a:off x="0" y="0"/>
          <a:ext cx="0" cy="0"/>
          <a:chOff x="0" y="0"/>
          <a:chExt cx="0" cy="0"/>
        </a:xfrm>
      </p:grpSpPr>
      <p:sp>
        <p:nvSpPr>
          <p:cNvPr id="87" name="Google Shape;87;p27"/>
          <p:cNvSpPr/>
          <p:nvPr/>
        </p:nvSpPr>
        <p:spPr>
          <a:xfrm>
            <a:off x="631697" y="1081456"/>
            <a:ext cx="6332416" cy="3239188"/>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88" name="Google Shape;88;p27"/>
          <p:cNvSpPr txBox="1">
            <a:spLocks noGrp="1"/>
          </p:cNvSpPr>
          <p:nvPr>
            <p:ph type="title"/>
          </p:nvPr>
        </p:nvSpPr>
        <p:spPr>
          <a:xfrm>
            <a:off x="850985" y="1238502"/>
            <a:ext cx="5893840" cy="2645912"/>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4200"/>
              <a:buFont typeface="Century Gothic"/>
              <a:buNone/>
              <a:defRPr sz="42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7"/>
          <p:cNvSpPr txBox="1">
            <a:spLocks noGrp="1"/>
          </p:cNvSpPr>
          <p:nvPr>
            <p:ph type="body" idx="1"/>
          </p:nvPr>
        </p:nvSpPr>
        <p:spPr>
          <a:xfrm>
            <a:off x="853190" y="4443680"/>
            <a:ext cx="5891636" cy="713241"/>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800"/>
              <a:buNone/>
              <a:defRPr sz="1800">
                <a:solidFill>
                  <a:schemeClr val="lt1"/>
                </a:solidFill>
              </a:defRPr>
            </a:lvl1pPr>
            <a:lvl2pPr marL="914400" lvl="1" indent="-228600" algn="l">
              <a:lnSpc>
                <a:spcPct val="100000"/>
              </a:lnSpc>
              <a:spcBef>
                <a:spcPts val="600"/>
              </a:spcBef>
              <a:spcAft>
                <a:spcPts val="0"/>
              </a:spcAft>
              <a:buSzPts val="1800"/>
              <a:buNone/>
              <a:defRPr sz="1800">
                <a:solidFill>
                  <a:schemeClr val="lt1"/>
                </a:solidFill>
              </a:defRPr>
            </a:lvl2pPr>
            <a:lvl3pPr marL="1371600" lvl="2" indent="-228600" algn="l">
              <a:lnSpc>
                <a:spcPct val="100000"/>
              </a:lnSpc>
              <a:spcBef>
                <a:spcPts val="600"/>
              </a:spcBef>
              <a:spcAft>
                <a:spcPts val="0"/>
              </a:spcAft>
              <a:buSzPts val="1600"/>
              <a:buNone/>
              <a:defRPr sz="1600">
                <a:solidFill>
                  <a:schemeClr val="lt1"/>
                </a:solidFill>
              </a:defRPr>
            </a:lvl3pPr>
            <a:lvl4pPr marL="1828800" lvl="3" indent="-228600" algn="l">
              <a:lnSpc>
                <a:spcPct val="100000"/>
              </a:lnSpc>
              <a:spcBef>
                <a:spcPts val="600"/>
              </a:spcBef>
              <a:spcAft>
                <a:spcPts val="0"/>
              </a:spcAft>
              <a:buSzPts val="1400"/>
              <a:buNone/>
              <a:defRPr sz="1400">
                <a:solidFill>
                  <a:schemeClr val="lt1"/>
                </a:solidFill>
              </a:defRPr>
            </a:lvl4pPr>
            <a:lvl5pPr marL="2286000" lvl="4" indent="-228600" algn="l">
              <a:lnSpc>
                <a:spcPct val="100000"/>
              </a:lnSpc>
              <a:spcBef>
                <a:spcPts val="600"/>
              </a:spcBef>
              <a:spcAft>
                <a:spcPts val="0"/>
              </a:spcAft>
              <a:buSzPts val="1400"/>
              <a:buNone/>
              <a:defRPr sz="1400">
                <a:solidFill>
                  <a:schemeClr val="lt1"/>
                </a:solidFill>
              </a:defRPr>
            </a:lvl5pPr>
            <a:lvl6pPr marL="2743200" lvl="5" indent="-228600" algn="l">
              <a:lnSpc>
                <a:spcPct val="100000"/>
              </a:lnSpc>
              <a:spcBef>
                <a:spcPts val="600"/>
              </a:spcBef>
              <a:spcAft>
                <a:spcPts val="0"/>
              </a:spcAft>
              <a:buSzPts val="1400"/>
              <a:buNone/>
              <a:defRPr sz="1400">
                <a:solidFill>
                  <a:schemeClr val="lt1"/>
                </a:solidFill>
              </a:defRPr>
            </a:lvl6pPr>
            <a:lvl7pPr marL="3200400" lvl="6" indent="-228600" algn="l">
              <a:lnSpc>
                <a:spcPct val="100000"/>
              </a:lnSpc>
              <a:spcBef>
                <a:spcPts val="600"/>
              </a:spcBef>
              <a:spcAft>
                <a:spcPts val="0"/>
              </a:spcAft>
              <a:buSzPts val="1400"/>
              <a:buNone/>
              <a:defRPr sz="1400">
                <a:solidFill>
                  <a:schemeClr val="lt1"/>
                </a:solidFill>
              </a:defRPr>
            </a:lvl7pPr>
            <a:lvl8pPr marL="3657600" lvl="7" indent="-228600" algn="l">
              <a:lnSpc>
                <a:spcPct val="100000"/>
              </a:lnSpc>
              <a:spcBef>
                <a:spcPts val="600"/>
              </a:spcBef>
              <a:spcAft>
                <a:spcPts val="0"/>
              </a:spcAft>
              <a:buSzPts val="1400"/>
              <a:buNone/>
              <a:defRPr sz="1400">
                <a:solidFill>
                  <a:schemeClr val="lt1"/>
                </a:solidFill>
              </a:defRPr>
            </a:lvl8pPr>
            <a:lvl9pPr marL="4114800" lvl="8" indent="-228600" algn="l">
              <a:lnSpc>
                <a:spcPct val="100000"/>
              </a:lnSpc>
              <a:spcBef>
                <a:spcPts val="600"/>
              </a:spcBef>
              <a:spcAft>
                <a:spcPts val="600"/>
              </a:spcAft>
              <a:buSzPts val="1400"/>
              <a:buNone/>
              <a:defRPr sz="1400">
                <a:solidFill>
                  <a:schemeClr val="lt1"/>
                </a:solidFill>
              </a:defRPr>
            </a:lvl9pPr>
          </a:lstStyle>
          <a:p>
            <a:endParaRPr/>
          </a:p>
        </p:txBody>
      </p:sp>
      <p:sp>
        <p:nvSpPr>
          <p:cNvPr id="90" name="Google Shape;90;p27"/>
          <p:cNvSpPr txBox="1">
            <a:spLocks noGrp="1"/>
          </p:cNvSpPr>
          <p:nvPr>
            <p:ph type="body" idx="2"/>
          </p:nvPr>
        </p:nvSpPr>
        <p:spPr>
          <a:xfrm>
            <a:off x="7574642" y="1081456"/>
            <a:ext cx="3810001" cy="40754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800"/>
              <a:buFont typeface="Century Gothic"/>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91" name="Google Shape;91;p27"/>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7"/>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rte de nom">
  <p:cSld name="Carte de nom">
    <p:spTree>
      <p:nvGrpSpPr>
        <p:cNvPr id="1" name="Shape 94"/>
        <p:cNvGrpSpPr/>
        <p:nvPr/>
      </p:nvGrpSpPr>
      <p:grpSpPr>
        <a:xfrm>
          <a:off x="0" y="0"/>
          <a:ext cx="0" cy="0"/>
          <a:chOff x="0" y="0"/>
          <a:chExt cx="0" cy="0"/>
        </a:xfrm>
      </p:grpSpPr>
      <p:sp>
        <p:nvSpPr>
          <p:cNvPr id="95" name="Google Shape;95;p28"/>
          <p:cNvSpPr/>
          <p:nvPr/>
        </p:nvSpPr>
        <p:spPr>
          <a:xfrm>
            <a:off x="1140884" y="2286585"/>
            <a:ext cx="4895115" cy="2503972"/>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96" name="Google Shape;96;p28"/>
          <p:cNvSpPr txBox="1">
            <a:spLocks noGrp="1"/>
          </p:cNvSpPr>
          <p:nvPr>
            <p:ph type="title"/>
          </p:nvPr>
        </p:nvSpPr>
        <p:spPr>
          <a:xfrm>
            <a:off x="1357089" y="2435957"/>
            <a:ext cx="4382521" cy="2007789"/>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8"/>
          <p:cNvSpPr txBox="1">
            <a:spLocks noGrp="1"/>
          </p:cNvSpPr>
          <p:nvPr>
            <p:ph type="body" idx="1"/>
          </p:nvPr>
        </p:nvSpPr>
        <p:spPr>
          <a:xfrm>
            <a:off x="6156000" y="2286000"/>
            <a:ext cx="4880300" cy="229552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800"/>
              <a:buFont typeface="Century Gothic"/>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98" name="Google Shape;98;p2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101"/>
        <p:cNvGrpSpPr/>
        <p:nvPr/>
      </p:nvGrpSpPr>
      <p:grpSpPr>
        <a:xfrm>
          <a:off x="0" y="0"/>
          <a:ext cx="0" cy="0"/>
          <a:chOff x="0" y="0"/>
          <a:chExt cx="0" cy="0"/>
        </a:xfrm>
      </p:grpSpPr>
      <p:sp>
        <p:nvSpPr>
          <p:cNvPr id="102" name="Google Shape;102;p29"/>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03" name="Google Shape;103;p29"/>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rot="5400000">
            <a:off x="4254444" y="-1260043"/>
            <a:ext cx="3674397" cy="1056328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105" name="Google Shape;105;p2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2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108"/>
        <p:cNvGrpSpPr/>
        <p:nvPr/>
      </p:nvGrpSpPr>
      <p:grpSpPr>
        <a:xfrm>
          <a:off x="0" y="0"/>
          <a:ext cx="0" cy="0"/>
          <a:chOff x="0" y="0"/>
          <a:chExt cx="0" cy="0"/>
        </a:xfrm>
      </p:grpSpPr>
      <p:sp>
        <p:nvSpPr>
          <p:cNvPr id="109" name="Google Shape;109;p30"/>
          <p:cNvSpPr/>
          <p:nvPr/>
        </p:nvSpPr>
        <p:spPr>
          <a:xfrm>
            <a:off x="7669651" y="446089"/>
            <a:ext cx="4522349" cy="5414962"/>
          </a:xfrm>
          <a:custGeom>
            <a:avLst/>
            <a:gdLst/>
            <a:ahLst/>
            <a:cxnLst/>
            <a:rect l="l" t="t" r="r" b="b"/>
            <a:pathLst>
              <a:path w="2879" h="4320" extrusionOk="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10" name="Google Shape;110;p30"/>
          <p:cNvSpPr txBox="1">
            <a:spLocks noGrp="1"/>
          </p:cNvSpPr>
          <p:nvPr>
            <p:ph type="title"/>
          </p:nvPr>
        </p:nvSpPr>
        <p:spPr>
          <a:xfrm rot="5400000">
            <a:off x="6863536" y="1906175"/>
            <a:ext cx="5134798" cy="249479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30"/>
          <p:cNvSpPr txBox="1">
            <a:spLocks noGrp="1"/>
          </p:cNvSpPr>
          <p:nvPr>
            <p:ph type="body" idx="1"/>
          </p:nvPr>
        </p:nvSpPr>
        <p:spPr>
          <a:xfrm rot="5400000">
            <a:off x="1408290" y="-152200"/>
            <a:ext cx="5414962" cy="6611540"/>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112" name="Google Shape;112;p3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3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3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FEFEFE"/>
              </a:buClr>
              <a:buSzPts val="4000"/>
              <a:buFont typeface="Century Gothic"/>
              <a:buNone/>
              <a:defRPr sz="4000" b="1" i="0" u="none" strike="noStrike" cap="none">
                <a:solidFill>
                  <a:srgbClr val="FEFEFE"/>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810000" y="2184401"/>
            <a:ext cx="10563285" cy="3674397"/>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marR="0" lvl="0"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30200" algn="l" rtl="0">
              <a:lnSpc>
                <a:spcPct val="100000"/>
              </a:lnSpc>
              <a:spcBef>
                <a:spcPts val="600"/>
              </a:spcBef>
              <a:spcAft>
                <a:spcPts val="0"/>
              </a:spcAft>
              <a:buClr>
                <a:schemeClr val="accent1"/>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17500" algn="l" rtl="0">
              <a:lnSpc>
                <a:spcPct val="100000"/>
              </a:lnSpc>
              <a:spcBef>
                <a:spcPts val="600"/>
              </a:spcBef>
              <a:spcAft>
                <a:spcPts val="0"/>
              </a:spcAft>
              <a:buClr>
                <a:schemeClr val="accent1"/>
              </a:buClr>
              <a:buSzPts val="14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04800" algn="l" rtl="0">
              <a:lnSpc>
                <a:spcPct val="100000"/>
              </a:lnSpc>
              <a:spcBef>
                <a:spcPts val="600"/>
              </a:spcBef>
              <a:spcAft>
                <a:spcPts val="60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endParaRPr/>
          </a:p>
        </p:txBody>
      </p:sp>
      <p:sp>
        <p:nvSpPr>
          <p:cNvPr id="12" name="Google Shape;12;p16"/>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3" name="Google Shape;13;p16"/>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4" name="Google Shape;14;p16"/>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12"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svg"/><Relationship Id="rId9"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4.jpeg"/></Relationships>
</file>

<file path=ppt/slides/_rels/slide5.xml.rels><?xml version="1.0" encoding="UTF-8" standalone="yes"?>
<Relationships xmlns="http://schemas.openxmlformats.org/package/2006/relationships"><Relationship Id="rId3" Type="http://schemas.openxmlformats.org/officeDocument/2006/relationships/hyperlink" Target="https://fr.wikipedia.org/wiki/Ration_alimentair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6.jpeg"/><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8.jpe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19"/>
        <p:cNvGrpSpPr/>
        <p:nvPr/>
      </p:nvGrpSpPr>
      <p:grpSpPr>
        <a:xfrm>
          <a:off x="0" y="0"/>
          <a:ext cx="0" cy="0"/>
          <a:chOff x="0" y="0"/>
          <a:chExt cx="0" cy="0"/>
        </a:xfrm>
      </p:grpSpPr>
      <p:sp>
        <p:nvSpPr>
          <p:cNvPr id="120" name="Google Shape;120;p1"/>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entury Gothic"/>
              <a:ea typeface="Century Gothic"/>
              <a:cs typeface="Century Gothic"/>
              <a:sym typeface="Century Gothic"/>
            </a:endParaRPr>
          </a:p>
        </p:txBody>
      </p:sp>
      <p:sp>
        <p:nvSpPr>
          <p:cNvPr id="121" name="Google Shape;121;p1"/>
          <p:cNvSpPr/>
          <p:nvPr/>
        </p:nvSpPr>
        <p:spPr>
          <a:xfrm rot="-5400000">
            <a:off x="-650724" y="650724"/>
            <a:ext cx="6858000" cy="5556552"/>
          </a:xfrm>
          <a:custGeom>
            <a:avLst/>
            <a:gdLst/>
            <a:ahLst/>
            <a:cxnLst/>
            <a:rect l="l" t="t" r="r" b="b"/>
            <a:pathLst>
              <a:path w="6858000" h="5556552" extrusionOk="0">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solidFill>
            <a:schemeClr val="bg2">
              <a:lumMod val="90000"/>
              <a:lumOff val="1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
          <p:cNvSpPr txBox="1">
            <a:spLocks noGrp="1"/>
          </p:cNvSpPr>
          <p:nvPr>
            <p:ph type="subTitle" idx="1"/>
          </p:nvPr>
        </p:nvSpPr>
        <p:spPr>
          <a:xfrm>
            <a:off x="382507" y="6206394"/>
            <a:ext cx="2668345" cy="562086"/>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indent="0" algn="ctr">
              <a:spcBef>
                <a:spcPts val="0"/>
              </a:spcBef>
              <a:buSzPts val="2800"/>
            </a:pPr>
            <a:r>
              <a:rPr lang="fr-FR" sz="2800" b="1" i="1" dirty="0">
                <a:latin typeface="Arial"/>
              </a:rPr>
              <a:t>Jason ZBAKH</a:t>
            </a:r>
            <a:endParaRPr sz="2800" b="1" i="1" dirty="0">
              <a:latin typeface="Arial"/>
            </a:endParaRPr>
          </a:p>
        </p:txBody>
      </p:sp>
      <p:sp>
        <p:nvSpPr>
          <p:cNvPr id="123" name="Google Shape;123;p1"/>
          <p:cNvSpPr txBox="1">
            <a:spLocks noGrp="1"/>
          </p:cNvSpPr>
          <p:nvPr>
            <p:ph type="ctrTitle"/>
          </p:nvPr>
        </p:nvSpPr>
        <p:spPr>
          <a:xfrm>
            <a:off x="5803899" y="122751"/>
            <a:ext cx="5452533" cy="3306249"/>
          </a:xfrm>
          <a:prstGeom prst="rect">
            <a:avLst/>
          </a:prstGeom>
          <a:noFill/>
          <a:ln>
            <a:noFill/>
          </a:ln>
          <a:effectLst>
            <a:outerShdw blurRad="50800">
              <a:srgbClr val="000000">
                <a:alpha val="60000"/>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EFEFE"/>
              </a:buClr>
              <a:buSzPts val="4400"/>
              <a:buFont typeface="Century Gothic"/>
              <a:buNone/>
            </a:pPr>
            <a:r>
              <a:rPr lang="fr-FR" sz="4400"/>
              <a:t>Étude sur l’alimentation dans le monde</a:t>
            </a:r>
            <a:endParaRPr/>
          </a:p>
        </p:txBody>
      </p:sp>
      <p:pic>
        <p:nvPicPr>
          <p:cNvPr id="124" name="Google Shape;124;p1" descr="Une image contenant légume, ingrédient, épice, mélange&#10;&#10;Description générée automatiquement"/>
          <p:cNvPicPr preferRelativeResize="0"/>
          <p:nvPr/>
        </p:nvPicPr>
        <p:blipFill rotWithShape="1">
          <a:blip r:embed="rId3"/>
          <a:srcRect/>
          <a:stretch/>
        </p:blipFill>
        <p:spPr>
          <a:xfrm>
            <a:off x="5607484" y="3657116"/>
            <a:ext cx="6532324" cy="3155974"/>
          </a:xfrm>
          <a:prstGeom prst="rect">
            <a:avLst/>
          </a:prstGeom>
          <a:noFill/>
          <a:ln w="28575">
            <a:solidFill>
              <a:schemeClr val="tx1"/>
            </a:solidFill>
          </a:ln>
        </p:spPr>
      </p:pic>
      <p:pic>
        <p:nvPicPr>
          <p:cNvPr id="2" name="Image 1" descr="Une image contenant texte, Police, logo, Graphique&#10;&#10;Description générée automatiquement">
            <a:extLst>
              <a:ext uri="{FF2B5EF4-FFF2-40B4-BE49-F238E27FC236}">
                <a16:creationId xmlns:a16="http://schemas.microsoft.com/office/drawing/2014/main" id="{2751B6A2-DD55-5659-2B8A-2C11B1DF2A4B}"/>
              </a:ext>
            </a:extLst>
          </p:cNvPr>
          <p:cNvPicPr>
            <a:picLocks noChangeAspect="1"/>
          </p:cNvPicPr>
          <p:nvPr/>
        </p:nvPicPr>
        <p:blipFill>
          <a:blip r:embed="rId4"/>
          <a:stretch>
            <a:fillRect/>
          </a:stretch>
        </p:blipFill>
        <p:spPr>
          <a:xfrm>
            <a:off x="114821" y="2459111"/>
            <a:ext cx="4613754" cy="18667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90000"/>
            <a:lumOff val="10000"/>
          </a:schemeClr>
        </a:solidFill>
        <a:effectLst/>
      </p:bgPr>
    </p:bg>
    <p:spTree>
      <p:nvGrpSpPr>
        <p:cNvPr id="1" name="Shape 129"/>
        <p:cNvGrpSpPr/>
        <p:nvPr/>
      </p:nvGrpSpPr>
      <p:grpSpPr>
        <a:xfrm>
          <a:off x="0" y="0"/>
          <a:ext cx="0" cy="0"/>
          <a:chOff x="0" y="0"/>
          <a:chExt cx="0" cy="0"/>
        </a:xfrm>
      </p:grpSpPr>
      <p:sp>
        <p:nvSpPr>
          <p:cNvPr id="130" name="Google Shape;130;p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a:t>Contexte et spécification des données</a:t>
            </a:r>
            <a:endParaRPr sz="3200"/>
          </a:p>
        </p:txBody>
      </p:sp>
      <p:sp>
        <p:nvSpPr>
          <p:cNvPr id="131" name="Google Shape;131;p2"/>
          <p:cNvSpPr txBox="1">
            <a:spLocks noGrp="1"/>
          </p:cNvSpPr>
          <p:nvPr>
            <p:ph type="body" idx="1"/>
          </p:nvPr>
        </p:nvSpPr>
        <p:spPr>
          <a:xfrm>
            <a:off x="1140371" y="2270528"/>
            <a:ext cx="6697075" cy="387554"/>
          </a:xfrm>
          <a:prstGeom prst="rect">
            <a:avLst/>
          </a:prstGeom>
          <a:solidFill>
            <a:schemeClr val="bg2"/>
          </a:solidFill>
          <a:ln>
            <a:noFill/>
          </a:ln>
          <a:effectLst>
            <a:outerShdw blurRad="190500">
              <a:srgbClr val="000000">
                <a:alpha val="74000"/>
              </a:srgbClr>
            </a:outerShdw>
          </a:effectLst>
        </p:spPr>
        <p:txBody>
          <a:bodyPr spcFirstLastPara="1" wrap="square" lIns="91425" tIns="45700" rIns="91425" bIns="45700" anchor="ctr" anchorCtr="0">
            <a:normAutofit lnSpcReduction="10000"/>
          </a:bodyPr>
          <a:lstStyle/>
          <a:p>
            <a:pPr marL="114300" indent="0" algn="ctr">
              <a:lnSpc>
                <a:spcPct val="110000"/>
              </a:lnSpc>
              <a:spcBef>
                <a:spcPts val="0"/>
              </a:spcBef>
              <a:buNone/>
            </a:pPr>
            <a:r>
              <a:rPr lang="fr-FR" b="1" i="1" u="sng" dirty="0">
                <a:latin typeface="Arial"/>
              </a:rPr>
              <a:t>Étude sur l'alimentation et la sous-nutrition dans le monde</a:t>
            </a:r>
            <a:endParaRPr lang="fr-FR" dirty="0"/>
          </a:p>
        </p:txBody>
      </p:sp>
      <p:sp>
        <p:nvSpPr>
          <p:cNvPr id="132" name="Google Shape;132;p2"/>
          <p:cNvSpPr/>
          <p:nvPr/>
        </p:nvSpPr>
        <p:spPr>
          <a:xfrm>
            <a:off x="12387894" y="2981967"/>
            <a:ext cx="3432024" cy="2582431"/>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Rappel de ce que nous devons faire</a:t>
            </a: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endParaRPr sz="1800">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a:latin typeface="Century Gothic"/>
                <a:ea typeface="Century Gothic"/>
                <a:cs typeface="Century Gothic"/>
                <a:sym typeface="Century Gothic"/>
              </a:rPr>
              <a:t>Présentation des types de données à analyser</a:t>
            </a:r>
            <a:endParaRPr sz="1800">
              <a:latin typeface="Century Gothic"/>
              <a:ea typeface="Century Gothic"/>
              <a:cs typeface="Century Gothic"/>
              <a:sym typeface="Century Gothic"/>
            </a:endParaRPr>
          </a:p>
        </p:txBody>
      </p:sp>
      <p:sp>
        <p:nvSpPr>
          <p:cNvPr id="2" name="ZoneTexte 1">
            <a:extLst>
              <a:ext uri="{FF2B5EF4-FFF2-40B4-BE49-F238E27FC236}">
                <a16:creationId xmlns:a16="http://schemas.microsoft.com/office/drawing/2014/main" id="{9E28ADED-BF10-94D4-42C3-57A6944A8A99}"/>
              </a:ext>
            </a:extLst>
          </p:cNvPr>
          <p:cNvSpPr txBox="1"/>
          <p:nvPr/>
        </p:nvSpPr>
        <p:spPr>
          <a:xfrm>
            <a:off x="146812" y="2936549"/>
            <a:ext cx="11837097" cy="1237326"/>
          </a:xfrm>
          <a:prstGeom prst="rect">
            <a:avLst/>
          </a:prstGeom>
          <a:solidFill>
            <a:schemeClr val="bg2"/>
          </a:solidFill>
          <a:ln w="6350">
            <a:solidFill>
              <a:schemeClr val="accent1">
                <a:lumMod val="40000"/>
                <a:lumOff val="60000"/>
              </a:schemeClr>
            </a:solidFill>
            <a:prstDash val="solid"/>
            <a:extLst>
              <a:ext uri="{C807C97D-BFC1-408E-A445-0C87EB9F89A2}">
                <ask:lineSketchStyleProps xmlns:ask="http://schemas.microsoft.com/office/drawing/2018/sketchyshapes">
                  <ask:type>
                    <ask:lineSketchCurved/>
                  </ask:type>
                </ask:lineSketchStyleProps>
              </a:ext>
            </a:extLst>
          </a:ln>
        </p:spPr>
        <p:style>
          <a:lnRef idx="3">
            <a:schemeClr val="lt1"/>
          </a:lnRef>
          <a:fillRef idx="1">
            <a:schemeClr val="dk1"/>
          </a:fillRef>
          <a:effectRef idx="1">
            <a:schemeClr val="dk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fr-FR" b="1" i="1" dirty="0">
                <a:highlight>
                  <a:srgbClr val="000000"/>
                </a:highlight>
              </a:rPr>
              <a:t>        - </a:t>
            </a:r>
            <a:r>
              <a:rPr lang="fr-FR" b="1" i="1" u="sng" dirty="0">
                <a:highlight>
                  <a:srgbClr val="000000"/>
                </a:highlight>
              </a:rPr>
              <a:t>Disponibilité alimentaire pour l’année 2017 : </a:t>
            </a:r>
            <a:endParaRPr lang="fr-FR" b="1" i="1" u="sng" dirty="0">
              <a:highlight>
                <a:srgbClr val="000000"/>
              </a:highlight>
              <a:cs typeface="Arial"/>
            </a:endParaRPr>
          </a:p>
          <a:p>
            <a:r>
              <a:rPr lang="fr-FR" b="1" i="1" dirty="0">
                <a:highlight>
                  <a:srgbClr val="000000"/>
                </a:highlight>
              </a:rPr>
              <a:t>● Le pays      ● Le produit      ● 4 valeurs de disponibilité alimentaire exprimées dans des unités spécifique </a:t>
            </a:r>
            <a:endParaRPr lang="fr-FR" b="1" i="1" dirty="0">
              <a:highlight>
                <a:srgbClr val="000000"/>
              </a:highlight>
              <a:cs typeface="Arial"/>
            </a:endParaRPr>
          </a:p>
          <a:p>
            <a:pPr>
              <a:lnSpc>
                <a:spcPct val="150000"/>
              </a:lnSpc>
            </a:pPr>
            <a:r>
              <a:rPr lang="fr-FR" b="1" i="1" dirty="0">
                <a:highlight>
                  <a:srgbClr val="000000"/>
                </a:highlight>
              </a:rPr>
              <a:t>● 10 valeurs utilisations/moyens d’acquisition de la disponibilité alimentaire (milliers de tonnes) </a:t>
            </a:r>
            <a:endParaRPr lang="fr-FR" b="1" i="1" dirty="0">
              <a:highlight>
                <a:srgbClr val="000000"/>
              </a:highlight>
              <a:cs typeface="Arial"/>
            </a:endParaRPr>
          </a:p>
          <a:p>
            <a:pPr>
              <a:lnSpc>
                <a:spcPct val="150000"/>
              </a:lnSpc>
            </a:pPr>
            <a:r>
              <a:rPr lang="fr-FR" b="1" i="1" dirty="0">
                <a:highlight>
                  <a:srgbClr val="000000"/>
                </a:highlight>
              </a:rPr>
              <a:t>● L'origine du produit ( animale ou végétale )</a:t>
            </a:r>
            <a:endParaRPr lang="fr-FR" b="1" i="1" dirty="0">
              <a:highlight>
                <a:srgbClr val="000000"/>
              </a:highlight>
              <a:cs typeface="Arial"/>
            </a:endParaRPr>
          </a:p>
        </p:txBody>
      </p:sp>
      <p:pic>
        <p:nvPicPr>
          <p:cNvPr id="3" name="Graphique 2" descr="Document avec un remplissage uni">
            <a:extLst>
              <a:ext uri="{FF2B5EF4-FFF2-40B4-BE49-F238E27FC236}">
                <a16:creationId xmlns:a16="http://schemas.microsoft.com/office/drawing/2014/main" id="{FC62CE0F-BD9D-5266-6DA7-7FD0E9AA6A2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267" y="3021514"/>
            <a:ext cx="234119" cy="234119"/>
          </a:xfrm>
          <a:prstGeom prst="rect">
            <a:avLst/>
          </a:prstGeom>
        </p:spPr>
      </p:pic>
      <p:sp>
        <p:nvSpPr>
          <p:cNvPr id="12" name="ZoneTexte 11">
            <a:extLst>
              <a:ext uri="{FF2B5EF4-FFF2-40B4-BE49-F238E27FC236}">
                <a16:creationId xmlns:a16="http://schemas.microsoft.com/office/drawing/2014/main" id="{4408993F-DAC1-DA21-251E-7B74305EA49F}"/>
              </a:ext>
            </a:extLst>
          </p:cNvPr>
          <p:cNvSpPr txBox="1"/>
          <p:nvPr/>
        </p:nvSpPr>
        <p:spPr>
          <a:xfrm>
            <a:off x="150215" y="4348835"/>
            <a:ext cx="11837097" cy="630942"/>
          </a:xfrm>
          <a:prstGeom prst="rect">
            <a:avLst/>
          </a:prstGeom>
          <a:ln w="6350">
            <a:solidFill>
              <a:schemeClr val="accent1">
                <a:lumMod val="40000"/>
                <a:lumOff val="60000"/>
              </a:schemeClr>
            </a:solidFill>
          </a:ln>
        </p:spPr>
        <p:style>
          <a:lnRef idx="3">
            <a:schemeClr val="lt1"/>
          </a:lnRef>
          <a:fillRef idx="1">
            <a:schemeClr val="dk1"/>
          </a:fillRef>
          <a:effectRef idx="1">
            <a:schemeClr val="dk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fr-FR" sz="1400" b="0" i="0" dirty="0">
                <a:solidFill>
                  <a:srgbClr val="FFFFFF"/>
                </a:solidFill>
                <a:latin typeface="Arial"/>
                <a:ea typeface="Segoe UI"/>
                <a:cs typeface="Segoe UI"/>
              </a:rPr>
              <a:t>​</a:t>
            </a:r>
            <a:r>
              <a:rPr lang="fr-FR" sz="1400" b="1" i="1" strike="noStrike" baseline="0" dirty="0">
                <a:solidFill>
                  <a:srgbClr val="FFFFFF"/>
                </a:solidFill>
                <a:highlight>
                  <a:srgbClr val="000000"/>
                </a:highlight>
                <a:latin typeface="Arial"/>
                <a:ea typeface="Segoe UI"/>
                <a:cs typeface="Segoe UI"/>
              </a:rPr>
              <a:t>        - </a:t>
            </a:r>
            <a:r>
              <a:rPr lang="fr-FR" b="1" i="1" u="sng" dirty="0">
                <a:solidFill>
                  <a:srgbClr val="FFFFFF"/>
                </a:solidFill>
                <a:highlight>
                  <a:srgbClr val="000000"/>
                </a:highlight>
                <a:latin typeface="Arial"/>
                <a:ea typeface="Segoe UI"/>
                <a:cs typeface="Segoe UI"/>
              </a:rPr>
              <a:t>Insécurité</a:t>
            </a:r>
            <a:r>
              <a:rPr lang="fr-FR" sz="1400" b="1" i="1" u="sng" strike="noStrike" baseline="0" dirty="0">
                <a:solidFill>
                  <a:srgbClr val="FFFFFF"/>
                </a:solidFill>
                <a:highlight>
                  <a:srgbClr val="000000"/>
                </a:highlight>
                <a:latin typeface="Arial"/>
                <a:ea typeface="Segoe UI"/>
                <a:cs typeface="Segoe UI"/>
              </a:rPr>
              <a:t> alimentaire</a:t>
            </a:r>
            <a:r>
              <a:rPr lang="fr-FR" b="1" i="1" u="sng" dirty="0">
                <a:solidFill>
                  <a:srgbClr val="FFFFFF"/>
                </a:solidFill>
                <a:highlight>
                  <a:srgbClr val="000000"/>
                </a:highlight>
                <a:latin typeface="Arial"/>
                <a:ea typeface="Segoe UI"/>
                <a:cs typeface="Segoe UI"/>
              </a:rPr>
              <a:t> </a:t>
            </a:r>
            <a:r>
              <a:rPr lang="fr-FR" sz="1400" b="1" i="1" u="sng" strike="noStrike" baseline="0" dirty="0">
                <a:solidFill>
                  <a:srgbClr val="FFFFFF"/>
                </a:solidFill>
                <a:highlight>
                  <a:srgbClr val="000000"/>
                </a:highlight>
                <a:latin typeface="Arial"/>
                <a:ea typeface="Segoe UI"/>
                <a:cs typeface="Segoe UI"/>
              </a:rPr>
              <a:t>:</a:t>
            </a:r>
            <a:r>
              <a:rPr lang="fr-FR" sz="1400" b="1" i="1" u="sng" dirty="0">
                <a:solidFill>
                  <a:srgbClr val="FFFFFF"/>
                </a:solidFill>
                <a:highlight>
                  <a:srgbClr val="000000"/>
                </a:highlight>
                <a:latin typeface="Arial"/>
                <a:ea typeface="Segoe UI"/>
                <a:cs typeface="Segoe UI"/>
              </a:rPr>
              <a:t>​</a:t>
            </a:r>
            <a:endParaRPr lang="fr-FR" b="1" i="1" u="sng" dirty="0">
              <a:highlight>
                <a:srgbClr val="000000"/>
              </a:highlight>
              <a:cs typeface="Arial"/>
            </a:endParaRPr>
          </a:p>
          <a:p>
            <a:r>
              <a:rPr lang="fr-FR" sz="1400" b="1" i="1" u="none" strike="noStrike" baseline="0" dirty="0">
                <a:solidFill>
                  <a:srgbClr val="FFFFFF"/>
                </a:solidFill>
                <a:highlight>
                  <a:srgbClr val="000000"/>
                </a:highlight>
                <a:latin typeface="Arial"/>
                <a:ea typeface="Segoe UI"/>
                <a:cs typeface="Segoe UI"/>
              </a:rPr>
              <a:t>● Le pays</a:t>
            </a:r>
            <a:r>
              <a:rPr lang="fr-FR" b="1" i="1" dirty="0">
                <a:solidFill>
                  <a:srgbClr val="FFFFFF"/>
                </a:solidFill>
                <a:highlight>
                  <a:srgbClr val="000000"/>
                </a:highlight>
                <a:latin typeface="Arial"/>
                <a:ea typeface="Segoe UI"/>
                <a:cs typeface="Segoe UI"/>
              </a:rPr>
              <a:t> </a:t>
            </a:r>
            <a:r>
              <a:rPr lang="fr-FR" sz="1400" b="1" i="1" u="none" strike="noStrike" baseline="0" dirty="0">
                <a:solidFill>
                  <a:srgbClr val="FFFFFF"/>
                </a:solidFill>
                <a:highlight>
                  <a:srgbClr val="000000"/>
                </a:highlight>
                <a:latin typeface="Arial"/>
                <a:ea typeface="Segoe UI"/>
                <a:cs typeface="Segoe UI"/>
              </a:rPr>
              <a:t> </a:t>
            </a:r>
            <a:r>
              <a:rPr lang="fr-FR" b="1" i="1" dirty="0">
                <a:solidFill>
                  <a:srgbClr val="FFFFFF"/>
                </a:solidFill>
                <a:highlight>
                  <a:srgbClr val="000000"/>
                </a:highlight>
                <a:latin typeface="Arial"/>
                <a:ea typeface="Segoe UI"/>
                <a:cs typeface="Segoe UI"/>
              </a:rPr>
              <a:t>    </a:t>
            </a:r>
            <a:r>
              <a:rPr lang="fr-FR" sz="1400" b="1" i="1" u="none" strike="noStrike" baseline="0" dirty="0">
                <a:solidFill>
                  <a:srgbClr val="FFFFFF"/>
                </a:solidFill>
                <a:highlight>
                  <a:srgbClr val="000000"/>
                </a:highlight>
                <a:latin typeface="Arial"/>
                <a:ea typeface="Segoe UI"/>
                <a:cs typeface="Segoe UI"/>
              </a:rPr>
              <a:t>● Intervalle d’années</a:t>
            </a:r>
            <a:r>
              <a:rPr lang="fr-FR" b="1" i="1" dirty="0">
                <a:solidFill>
                  <a:srgbClr val="FFFFFF"/>
                </a:solidFill>
                <a:highlight>
                  <a:srgbClr val="000000"/>
                </a:highlight>
                <a:latin typeface="Arial"/>
                <a:ea typeface="Segoe UI"/>
                <a:cs typeface="Segoe UI"/>
              </a:rPr>
              <a:t>      </a:t>
            </a:r>
            <a:r>
              <a:rPr lang="fr-FR" sz="1400" b="1" i="1" u="none" strike="noStrike" baseline="0" dirty="0">
                <a:solidFill>
                  <a:srgbClr val="FFFFFF"/>
                </a:solidFill>
                <a:highlight>
                  <a:srgbClr val="000000"/>
                </a:highlight>
                <a:latin typeface="Arial"/>
                <a:ea typeface="Segoe UI"/>
                <a:cs typeface="Segoe UI"/>
              </a:rPr>
              <a:t>● Le nombre de personnes en sous-alimentation</a:t>
            </a:r>
            <a:r>
              <a:rPr lang="fr-FR" b="1" i="1" dirty="0">
                <a:solidFill>
                  <a:srgbClr val="FFFFFF"/>
                </a:solidFill>
                <a:highlight>
                  <a:srgbClr val="000000"/>
                </a:highlight>
                <a:latin typeface="Arial"/>
                <a:ea typeface="Segoe UI"/>
                <a:cs typeface="Segoe UI"/>
              </a:rPr>
              <a:t> </a:t>
            </a:r>
            <a:endParaRPr lang="fr-FR" b="1" i="1" dirty="0">
              <a:highlight>
                <a:srgbClr val="000000"/>
              </a:highlight>
              <a:cs typeface="Segoe UI"/>
            </a:endParaRPr>
          </a:p>
        </p:txBody>
      </p:sp>
      <p:sp>
        <p:nvSpPr>
          <p:cNvPr id="13" name="ZoneTexte 12">
            <a:extLst>
              <a:ext uri="{FF2B5EF4-FFF2-40B4-BE49-F238E27FC236}">
                <a16:creationId xmlns:a16="http://schemas.microsoft.com/office/drawing/2014/main" id="{49665C9E-BAE3-6D39-C5B0-E3E00FBAA7CE}"/>
              </a:ext>
            </a:extLst>
          </p:cNvPr>
          <p:cNvSpPr txBox="1"/>
          <p:nvPr/>
        </p:nvSpPr>
        <p:spPr>
          <a:xfrm>
            <a:off x="157697" y="5183402"/>
            <a:ext cx="11837097" cy="630942"/>
          </a:xfrm>
          <a:prstGeom prst="rect">
            <a:avLst/>
          </a:prstGeom>
          <a:ln w="6350">
            <a:solidFill>
              <a:schemeClr val="accent1">
                <a:lumMod val="40000"/>
                <a:lumOff val="60000"/>
              </a:schemeClr>
            </a:solidFill>
          </a:ln>
        </p:spPr>
        <p:style>
          <a:lnRef idx="3">
            <a:schemeClr val="lt1"/>
          </a:lnRef>
          <a:fillRef idx="1">
            <a:schemeClr val="dk1"/>
          </a:fillRef>
          <a:effectRef idx="1">
            <a:schemeClr val="dk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fr-FR" b="1" i="1" dirty="0">
                <a:highlight>
                  <a:srgbClr val="000000"/>
                </a:highlight>
                <a:cs typeface="Arial"/>
              </a:rPr>
              <a:t>        - </a:t>
            </a:r>
            <a:r>
              <a:rPr lang="fr-FR" b="1" i="1" u="sng" dirty="0">
                <a:highlight>
                  <a:srgbClr val="000000"/>
                </a:highlight>
                <a:cs typeface="Arial"/>
              </a:rPr>
              <a:t>Population : </a:t>
            </a:r>
            <a:endParaRPr lang="fr-FR" u="sng" dirty="0">
              <a:cs typeface="Arial"/>
            </a:endParaRPr>
          </a:p>
          <a:p>
            <a:r>
              <a:rPr lang="fr-FR" b="1" i="1" dirty="0">
                <a:highlight>
                  <a:srgbClr val="000000"/>
                </a:highlight>
                <a:cs typeface="Arial"/>
              </a:rPr>
              <a:t>● Le pays      ● L’année      ● Le nombre de personnes dans le pays </a:t>
            </a:r>
            <a:endParaRPr lang="fr-FR" dirty="0"/>
          </a:p>
        </p:txBody>
      </p:sp>
      <p:sp>
        <p:nvSpPr>
          <p:cNvPr id="14" name="ZoneTexte 13">
            <a:extLst>
              <a:ext uri="{FF2B5EF4-FFF2-40B4-BE49-F238E27FC236}">
                <a16:creationId xmlns:a16="http://schemas.microsoft.com/office/drawing/2014/main" id="{7EB11858-15F9-5EB2-EE23-E30C80D5B4D5}"/>
              </a:ext>
            </a:extLst>
          </p:cNvPr>
          <p:cNvSpPr txBox="1"/>
          <p:nvPr/>
        </p:nvSpPr>
        <p:spPr>
          <a:xfrm>
            <a:off x="161099" y="6012838"/>
            <a:ext cx="11837097" cy="630942"/>
          </a:xfrm>
          <a:prstGeom prst="rect">
            <a:avLst/>
          </a:prstGeom>
          <a:ln w="6350">
            <a:solidFill>
              <a:schemeClr val="accent1">
                <a:lumMod val="40000"/>
                <a:lumOff val="60000"/>
              </a:schemeClr>
            </a:solidFill>
          </a:ln>
        </p:spPr>
        <p:style>
          <a:lnRef idx="3">
            <a:schemeClr val="lt1"/>
          </a:lnRef>
          <a:fillRef idx="1">
            <a:schemeClr val="dk1"/>
          </a:fillRef>
          <a:effectRef idx="1">
            <a:schemeClr val="dk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fr-FR" b="1" i="1" dirty="0">
                <a:highlight>
                  <a:srgbClr val="000000"/>
                </a:highlight>
                <a:cs typeface="Arial"/>
              </a:rPr>
              <a:t>        - </a:t>
            </a:r>
            <a:r>
              <a:rPr lang="fr-FR" b="1" i="1" u="sng" dirty="0">
                <a:highlight>
                  <a:srgbClr val="000000"/>
                </a:highlight>
                <a:cs typeface="Arial"/>
              </a:rPr>
              <a:t>Aide alimentaire :</a:t>
            </a:r>
            <a:endParaRPr lang="fr-FR" u="sng" dirty="0">
              <a:highlight>
                <a:srgbClr val="000000"/>
              </a:highlight>
              <a:cs typeface="Arial"/>
            </a:endParaRPr>
          </a:p>
          <a:p>
            <a:r>
              <a:rPr lang="fr-FR" b="1" i="1" dirty="0">
                <a:highlight>
                  <a:srgbClr val="000000"/>
                </a:highlight>
                <a:cs typeface="Arial"/>
              </a:rPr>
              <a:t>● Le pays bénéficiaire      ● L’année      ● Le produit      ● La quantité qui a été donnée d'aide alimentaire (en tonnes)</a:t>
            </a:r>
            <a:endParaRPr lang="fr-FR" dirty="0"/>
          </a:p>
        </p:txBody>
      </p:sp>
      <p:pic>
        <p:nvPicPr>
          <p:cNvPr id="16" name="Graphique 15" descr="Document avec un remplissage uni">
            <a:extLst>
              <a:ext uri="{FF2B5EF4-FFF2-40B4-BE49-F238E27FC236}">
                <a16:creationId xmlns:a16="http://schemas.microsoft.com/office/drawing/2014/main" id="{110AABCF-FB33-4B34-A161-091DBD566B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265" y="4435032"/>
            <a:ext cx="234119" cy="234119"/>
          </a:xfrm>
          <a:prstGeom prst="rect">
            <a:avLst/>
          </a:prstGeom>
        </p:spPr>
      </p:pic>
      <p:pic>
        <p:nvPicPr>
          <p:cNvPr id="17" name="Graphique 16" descr="Document avec un remplissage uni">
            <a:extLst>
              <a:ext uri="{FF2B5EF4-FFF2-40B4-BE49-F238E27FC236}">
                <a16:creationId xmlns:a16="http://schemas.microsoft.com/office/drawing/2014/main" id="{2493810E-EC13-7D7C-A287-2C919FD2FD8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7151" y="5270712"/>
            <a:ext cx="234119" cy="234119"/>
          </a:xfrm>
          <a:prstGeom prst="rect">
            <a:avLst/>
          </a:prstGeom>
        </p:spPr>
      </p:pic>
      <p:pic>
        <p:nvPicPr>
          <p:cNvPr id="18" name="Graphique 17" descr="Document avec un remplissage uni">
            <a:extLst>
              <a:ext uri="{FF2B5EF4-FFF2-40B4-BE49-F238E27FC236}">
                <a16:creationId xmlns:a16="http://schemas.microsoft.com/office/drawing/2014/main" id="{EC1AE29A-5213-5204-54DB-77899318CD7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7150" y="6096600"/>
            <a:ext cx="234119" cy="234119"/>
          </a:xfrm>
          <a:prstGeom prst="rect">
            <a:avLst/>
          </a:prstGeom>
        </p:spPr>
      </p:pic>
      <p:pic>
        <p:nvPicPr>
          <p:cNvPr id="5" name="Image 4">
            <a:extLst>
              <a:ext uri="{FF2B5EF4-FFF2-40B4-BE49-F238E27FC236}">
                <a16:creationId xmlns:a16="http://schemas.microsoft.com/office/drawing/2014/main" id="{D5F17162-B50E-B16C-1167-6C4F14BC213E}"/>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086135" y="-1061"/>
            <a:ext cx="2110040" cy="8543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136"/>
        <p:cNvGrpSpPr/>
        <p:nvPr/>
      </p:nvGrpSpPr>
      <p:grpSpPr>
        <a:xfrm>
          <a:off x="0" y="0"/>
          <a:ext cx="0" cy="0"/>
          <a:chOff x="0" y="0"/>
          <a:chExt cx="0" cy="0"/>
        </a:xfrm>
      </p:grpSpPr>
      <p:sp>
        <p:nvSpPr>
          <p:cNvPr id="137" name="Google Shape;137;p3"/>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a:t>Méthodologie de l’analyse</a:t>
            </a:r>
            <a:endParaRPr sz="3200"/>
          </a:p>
        </p:txBody>
      </p:sp>
      <p:sp>
        <p:nvSpPr>
          <p:cNvPr id="138" name="Google Shape;138;p3"/>
          <p:cNvSpPr txBox="1">
            <a:spLocks noGrp="1"/>
          </p:cNvSpPr>
          <p:nvPr>
            <p:ph type="body" idx="1"/>
          </p:nvPr>
        </p:nvSpPr>
        <p:spPr>
          <a:xfrm>
            <a:off x="1907730" y="5974428"/>
            <a:ext cx="8377432" cy="513952"/>
          </a:xfrm>
          <a:prstGeom prst="rect">
            <a:avLst/>
          </a:prstGeom>
          <a:ln/>
        </p:spPr>
        <p:style>
          <a:lnRef idx="2">
            <a:schemeClr val="dk1"/>
          </a:lnRef>
          <a:fillRef idx="1">
            <a:schemeClr val="lt1"/>
          </a:fillRef>
          <a:effectRef idx="0">
            <a:schemeClr val="dk1"/>
          </a:effectRef>
          <a:fontRef idx="minor">
            <a:schemeClr val="dk1"/>
          </a:fontRef>
        </p:style>
        <p:txBody>
          <a:bodyPr spcFirstLastPara="1" wrap="square" lIns="91425" tIns="45700" rIns="91425" bIns="45700" anchor="ctr" anchorCtr="0">
            <a:normAutofit/>
          </a:bodyPr>
          <a:lstStyle/>
          <a:p>
            <a:pPr marL="342900" indent="-228600" algn="ctr">
              <a:spcBef>
                <a:spcPts val="0"/>
              </a:spcBef>
              <a:buNone/>
            </a:pPr>
            <a:r>
              <a:rPr lang="fr-FR" b="1" i="1" dirty="0">
                <a:solidFill>
                  <a:schemeClr val="tx1"/>
                </a:solidFill>
                <a:latin typeface="Arial"/>
              </a:rPr>
              <a:t>Le RGPD ne s'applique pas à ce projet : il s'agit de données nationales</a:t>
            </a:r>
            <a:endParaRPr lang="fr-FR"/>
          </a:p>
        </p:txBody>
      </p:sp>
      <p:sp>
        <p:nvSpPr>
          <p:cNvPr id="139" name="Google Shape;139;p3"/>
          <p:cNvSpPr/>
          <p:nvPr/>
        </p:nvSpPr>
        <p:spPr>
          <a:xfrm>
            <a:off x="12395925" y="-84602"/>
            <a:ext cx="3691200" cy="3783000"/>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Comment j’ai fait mon analyse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Attention, il faut s’adapter à l’interlocuteur (pas trop de technique)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Vérifier que l’interlocuteur comprend  bien les choses</a:t>
            </a: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Penser à commenter les slides pendant la présentation mais à ne pas les lire</a:t>
            </a: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p:txBody>
      </p:sp>
      <p:sp>
        <p:nvSpPr>
          <p:cNvPr id="140" name="Google Shape;140;p3"/>
          <p:cNvSpPr/>
          <p:nvPr/>
        </p:nvSpPr>
        <p:spPr>
          <a:xfrm>
            <a:off x="12843216" y="3929089"/>
            <a:ext cx="2653800" cy="2716200"/>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Est-ce que le RGPD s’applique dans notre projet ?</a:t>
            </a:r>
            <a:endParaRPr sz="1800" b="0" i="0" u="none" strike="noStrike" cap="none">
              <a:solidFill>
                <a:srgbClr val="000000"/>
              </a:solidFill>
              <a:latin typeface="Century Gothic"/>
              <a:ea typeface="Century Gothic"/>
              <a:cs typeface="Century Gothic"/>
              <a:sym typeface="Century Gothic"/>
            </a:endParaRPr>
          </a:p>
        </p:txBody>
      </p:sp>
      <p:sp>
        <p:nvSpPr>
          <p:cNvPr id="6" name="ZoneTexte 5">
            <a:extLst>
              <a:ext uri="{FF2B5EF4-FFF2-40B4-BE49-F238E27FC236}">
                <a16:creationId xmlns:a16="http://schemas.microsoft.com/office/drawing/2014/main" id="{975C5813-37AF-CC0F-1278-971715C846CA}"/>
              </a:ext>
            </a:extLst>
          </p:cNvPr>
          <p:cNvSpPr txBox="1"/>
          <p:nvPr/>
        </p:nvSpPr>
        <p:spPr>
          <a:xfrm>
            <a:off x="197959" y="2453209"/>
            <a:ext cx="11822008" cy="3154710"/>
          </a:xfrm>
          <a:prstGeom prst="rect">
            <a:avLst/>
          </a:prstGeom>
          <a:ln w="6350">
            <a:solidFill>
              <a:schemeClr val="accent1">
                <a:lumMod val="40000"/>
                <a:lumOff val="60000"/>
              </a:schemeClr>
            </a:solidFill>
          </a:ln>
        </p:spPr>
        <p:style>
          <a:lnRef idx="3">
            <a:schemeClr val="lt1"/>
          </a:lnRef>
          <a:fillRef idx="1">
            <a:schemeClr val="dk1"/>
          </a:fillRef>
          <a:effectRef idx="1">
            <a:schemeClr val="dk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250000"/>
              </a:lnSpc>
            </a:pPr>
            <a:r>
              <a:rPr lang="fr-FR" dirty="0">
                <a:highlight>
                  <a:srgbClr val="000000"/>
                </a:highlight>
                <a:ea typeface="+mn-lt"/>
                <a:cs typeface="+mn-lt"/>
              </a:rPr>
              <a:t>●</a:t>
            </a:r>
            <a:r>
              <a:rPr lang="fr-FR" b="1" i="1" dirty="0">
                <a:highlight>
                  <a:srgbClr val="000000"/>
                </a:highlight>
                <a:ea typeface="+mn-lt"/>
                <a:cs typeface="+mn-lt"/>
              </a:rPr>
              <a:t> L'analyse a été réalisée en comparant les données issues des 4 fichiers avec le langage de programmation Python.</a:t>
            </a:r>
            <a:endParaRPr lang="fr-FR" b="1" i="1">
              <a:ea typeface="+mn-lt"/>
              <a:cs typeface="+mn-lt"/>
            </a:endParaRPr>
          </a:p>
          <a:p>
            <a:r>
              <a:rPr lang="fr-FR" dirty="0">
                <a:highlight>
                  <a:srgbClr val="000000"/>
                </a:highlight>
                <a:ea typeface="+mn-lt"/>
                <a:cs typeface="+mn-lt"/>
              </a:rPr>
              <a:t>      </a:t>
            </a:r>
          </a:p>
          <a:p>
            <a:pPr>
              <a:lnSpc>
                <a:spcPct val="250000"/>
              </a:lnSpc>
            </a:pPr>
            <a:r>
              <a:rPr lang="fr-FR" b="1" i="1" dirty="0">
                <a:highlight>
                  <a:srgbClr val="000000"/>
                </a:highlight>
                <a:ea typeface="+mn-lt"/>
                <a:cs typeface="+mn-lt"/>
              </a:rPr>
              <a:t>                        Étape 1 : Harmonisation des unités.</a:t>
            </a:r>
            <a:endParaRPr lang="fr-FR" b="1" i="1">
              <a:cs typeface="Arial"/>
            </a:endParaRPr>
          </a:p>
          <a:p>
            <a:pPr>
              <a:lnSpc>
                <a:spcPct val="250000"/>
              </a:lnSpc>
            </a:pPr>
            <a:r>
              <a:rPr lang="fr-FR" b="1" i="1" dirty="0">
                <a:highlight>
                  <a:srgbClr val="000000"/>
                </a:highlight>
                <a:ea typeface="+mn-lt"/>
                <a:cs typeface="+mn-lt"/>
              </a:rPr>
              <a:t>                        Étape 2 : Jointure des données en fonction des besoins.</a:t>
            </a:r>
            <a:endParaRPr lang="fr-FR" b="1" i="1">
              <a:cs typeface="Arial"/>
            </a:endParaRPr>
          </a:p>
          <a:p>
            <a:pPr>
              <a:lnSpc>
                <a:spcPct val="250000"/>
              </a:lnSpc>
            </a:pPr>
            <a:r>
              <a:rPr lang="fr-FR" b="1" i="1" dirty="0">
                <a:highlight>
                  <a:srgbClr val="000000"/>
                </a:highlight>
                <a:ea typeface="+mn-lt"/>
                <a:cs typeface="+mn-lt"/>
              </a:rPr>
              <a:t>                        Étape 3 : Étude et réalisation des calculs nécessaires.</a:t>
            </a:r>
            <a:endParaRPr lang="fr-FR" b="1" i="1">
              <a:cs typeface="Arial"/>
            </a:endParaRPr>
          </a:p>
          <a:p>
            <a:pPr>
              <a:lnSpc>
                <a:spcPct val="250000"/>
              </a:lnSpc>
            </a:pPr>
            <a:r>
              <a:rPr lang="fr-FR" b="1" i="1" dirty="0">
                <a:highlight>
                  <a:srgbClr val="000000"/>
                </a:highlight>
                <a:ea typeface="+mn-lt"/>
                <a:cs typeface="+mn-lt"/>
              </a:rPr>
              <a:t>                        Étape 4 : Mise en forme des résultats et représentations graphique.</a:t>
            </a:r>
          </a:p>
          <a:p>
            <a:r>
              <a:rPr lang="fr-FR" sz="1000" b="1" i="1" dirty="0">
                <a:highlight>
                  <a:srgbClr val="000000"/>
                </a:highlight>
                <a:ea typeface="+mn-lt"/>
                <a:cs typeface="+mn-lt"/>
              </a:rPr>
              <a:t>   </a:t>
            </a:r>
          </a:p>
        </p:txBody>
      </p:sp>
      <p:pic>
        <p:nvPicPr>
          <p:cNvPr id="8" name="Graphique 7" descr="Document avec un remplissage uni">
            <a:extLst>
              <a:ext uri="{FF2B5EF4-FFF2-40B4-BE49-F238E27FC236}">
                <a16:creationId xmlns:a16="http://schemas.microsoft.com/office/drawing/2014/main" id="{15A92B49-8B86-760A-9115-9F1A32A6AE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2040" y="3985384"/>
            <a:ext cx="234119" cy="234119"/>
          </a:xfrm>
          <a:prstGeom prst="rect">
            <a:avLst/>
          </a:prstGeom>
        </p:spPr>
      </p:pic>
      <p:pic>
        <p:nvPicPr>
          <p:cNvPr id="10" name="Graphique 9" descr="Document avec un remplissage uni">
            <a:extLst>
              <a:ext uri="{FF2B5EF4-FFF2-40B4-BE49-F238E27FC236}">
                <a16:creationId xmlns:a16="http://schemas.microsoft.com/office/drawing/2014/main" id="{E9982DD7-A5BF-601D-D1B8-1CFD3D6AFB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4557" y="3984104"/>
            <a:ext cx="234119" cy="234119"/>
          </a:xfrm>
          <a:prstGeom prst="rect">
            <a:avLst/>
          </a:prstGeom>
        </p:spPr>
      </p:pic>
      <p:pic>
        <p:nvPicPr>
          <p:cNvPr id="11" name="Graphique 10" descr="Transférer avec un remplissage uni">
            <a:extLst>
              <a:ext uri="{FF2B5EF4-FFF2-40B4-BE49-F238E27FC236}">
                <a16:creationId xmlns:a16="http://schemas.microsoft.com/office/drawing/2014/main" id="{84FB2332-189E-2915-70BB-7577DB86255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3991" y="3989458"/>
            <a:ext cx="277907" cy="277907"/>
          </a:xfrm>
          <a:prstGeom prst="rect">
            <a:avLst/>
          </a:prstGeom>
        </p:spPr>
      </p:pic>
      <p:pic>
        <p:nvPicPr>
          <p:cNvPr id="12" name="Image 11">
            <a:extLst>
              <a:ext uri="{FF2B5EF4-FFF2-40B4-BE49-F238E27FC236}">
                <a16:creationId xmlns:a16="http://schemas.microsoft.com/office/drawing/2014/main" id="{0EB34F3F-705F-9B84-9AEC-A7B6379C634D}"/>
              </a:ext>
            </a:extLst>
          </p:cNvPr>
          <p:cNvPicPr>
            <a:picLocks noChangeAspect="1"/>
          </p:cNvPicPr>
          <p:nvPr/>
        </p:nvPicPr>
        <p:blipFill>
          <a:blip r:embed="rId7"/>
          <a:stretch>
            <a:fillRect/>
          </a:stretch>
        </p:blipFill>
        <p:spPr>
          <a:xfrm>
            <a:off x="344746" y="3416466"/>
            <a:ext cx="247232" cy="250748"/>
          </a:xfrm>
          <a:prstGeom prst="rect">
            <a:avLst/>
          </a:prstGeom>
        </p:spPr>
      </p:pic>
      <p:pic>
        <p:nvPicPr>
          <p:cNvPr id="13" name="Image 12" descr="Une image contenant symbole, texte, Panneau de signalisation, signe&#10;&#10;Description générée automatiquement">
            <a:extLst>
              <a:ext uri="{FF2B5EF4-FFF2-40B4-BE49-F238E27FC236}">
                <a16:creationId xmlns:a16="http://schemas.microsoft.com/office/drawing/2014/main" id="{271ED45A-4751-DDAF-6089-A5A34D7C39F9}"/>
              </a:ext>
            </a:extLst>
          </p:cNvPr>
          <p:cNvPicPr>
            <a:picLocks noChangeAspect="1"/>
          </p:cNvPicPr>
          <p:nvPr/>
        </p:nvPicPr>
        <p:blipFill>
          <a:blip r:embed="rId8"/>
          <a:stretch>
            <a:fillRect/>
          </a:stretch>
        </p:blipFill>
        <p:spPr>
          <a:xfrm>
            <a:off x="1104943" y="3418355"/>
            <a:ext cx="244695" cy="254080"/>
          </a:xfrm>
          <a:prstGeom prst="rect">
            <a:avLst/>
          </a:prstGeom>
        </p:spPr>
      </p:pic>
      <p:pic>
        <p:nvPicPr>
          <p:cNvPr id="14" name="Graphique 13" descr="Transférer avec un remplissage uni">
            <a:extLst>
              <a:ext uri="{FF2B5EF4-FFF2-40B4-BE49-F238E27FC236}">
                <a16:creationId xmlns:a16="http://schemas.microsoft.com/office/drawing/2014/main" id="{6B7F98A0-A00F-0811-B1CA-B537C4069A1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3990" y="3404958"/>
            <a:ext cx="277907" cy="277907"/>
          </a:xfrm>
          <a:prstGeom prst="rect">
            <a:avLst/>
          </a:prstGeom>
        </p:spPr>
      </p:pic>
      <p:pic>
        <p:nvPicPr>
          <p:cNvPr id="4" name="Image 3" descr="Illustration gratuite: Graphique, Analytique - Image gratuite sur ...">
            <a:extLst>
              <a:ext uri="{FF2B5EF4-FFF2-40B4-BE49-F238E27FC236}">
                <a16:creationId xmlns:a16="http://schemas.microsoft.com/office/drawing/2014/main" id="{2AF0F44F-DB16-F0B2-E13D-ED3D46F605E1}"/>
              </a:ext>
            </a:extLst>
          </p:cNvPr>
          <p:cNvPicPr>
            <a:picLocks noChangeAspect="1"/>
          </p:cNvPicPr>
          <p:nvPr/>
        </p:nvPicPr>
        <p:blipFill>
          <a:blip r:embed="rId9"/>
          <a:stretch>
            <a:fillRect/>
          </a:stretch>
        </p:blipFill>
        <p:spPr>
          <a:xfrm>
            <a:off x="594847" y="4968096"/>
            <a:ext cx="545487" cy="363545"/>
          </a:xfrm>
          <a:prstGeom prst="rect">
            <a:avLst/>
          </a:prstGeom>
        </p:spPr>
      </p:pic>
      <p:pic>
        <p:nvPicPr>
          <p:cNvPr id="15" name="Graphique 14" descr="Recherche avec un remplissage uni">
            <a:extLst>
              <a:ext uri="{FF2B5EF4-FFF2-40B4-BE49-F238E27FC236}">
                <a16:creationId xmlns:a16="http://schemas.microsoft.com/office/drawing/2014/main" id="{2E5603D6-09BE-8F23-182A-3B36A138F69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16408" y="4512075"/>
            <a:ext cx="295749" cy="280658"/>
          </a:xfrm>
          <a:prstGeom prst="rect">
            <a:avLst/>
          </a:prstGeom>
        </p:spPr>
      </p:pic>
      <p:pic>
        <p:nvPicPr>
          <p:cNvPr id="3" name="Image 2">
            <a:extLst>
              <a:ext uri="{FF2B5EF4-FFF2-40B4-BE49-F238E27FC236}">
                <a16:creationId xmlns:a16="http://schemas.microsoft.com/office/drawing/2014/main" id="{E21F0714-8CF2-57D2-94BC-C830FB7FEAB2}"/>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10086135" y="-1061"/>
            <a:ext cx="2110040" cy="8543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144"/>
        <p:cNvGrpSpPr/>
        <p:nvPr/>
      </p:nvGrpSpPr>
      <p:grpSpPr>
        <a:xfrm>
          <a:off x="0" y="0"/>
          <a:ext cx="0" cy="0"/>
          <a:chOff x="0" y="0"/>
          <a:chExt cx="0" cy="0"/>
        </a:xfrm>
      </p:grpSpPr>
      <p:sp>
        <p:nvSpPr>
          <p:cNvPr id="145" name="Google Shape;145;p4"/>
          <p:cNvSpPr txBox="1">
            <a:spLocks noGrp="1"/>
          </p:cNvSpPr>
          <p:nvPr>
            <p:ph type="title"/>
          </p:nvPr>
        </p:nvSpPr>
        <p:spPr>
          <a:xfrm>
            <a:off x="810000" y="425417"/>
            <a:ext cx="9156858" cy="99227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1) Proportion de personnes en état de sous-nutrition en 2017</a:t>
            </a:r>
            <a:endParaRPr sz="3200"/>
          </a:p>
        </p:txBody>
      </p:sp>
      <p:sp>
        <p:nvSpPr>
          <p:cNvPr id="147" name="Google Shape;147;p4"/>
          <p:cNvSpPr/>
          <p:nvPr/>
        </p:nvSpPr>
        <p:spPr>
          <a:xfrm>
            <a:off x="12346141" y="2961091"/>
            <a:ext cx="3432024" cy="2582431"/>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On veut montrer le nombre de personnes et le % de personnes en état de sous-nutrition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=&gt; Expliciter le chiffre</a:t>
            </a:r>
            <a:endParaRPr sz="1400" b="0" i="0" u="none" strike="noStrike" cap="none">
              <a:solidFill>
                <a:srgbClr val="000000"/>
              </a:solidFill>
              <a:latin typeface="Arial"/>
              <a:ea typeface="Arial"/>
              <a:cs typeface="Arial"/>
              <a:sym typeface="Arial"/>
            </a:endParaRPr>
          </a:p>
        </p:txBody>
      </p:sp>
      <p:sp>
        <p:nvSpPr>
          <p:cNvPr id="3" name="ZoneTexte 2">
            <a:extLst>
              <a:ext uri="{FF2B5EF4-FFF2-40B4-BE49-F238E27FC236}">
                <a16:creationId xmlns:a16="http://schemas.microsoft.com/office/drawing/2014/main" id="{19FBDAA7-58EC-3ACB-E2EF-4D3D8FA7816F}"/>
              </a:ext>
            </a:extLst>
          </p:cNvPr>
          <p:cNvSpPr txBox="1"/>
          <p:nvPr/>
        </p:nvSpPr>
        <p:spPr>
          <a:xfrm>
            <a:off x="-3131" y="2265719"/>
            <a:ext cx="4012801" cy="1631216"/>
          </a:xfrm>
          <a:prstGeom prst="rect">
            <a:avLst/>
          </a:prstGeom>
          <a:solidFill>
            <a:schemeClr val="tx1"/>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000" dirty="0">
                <a:solidFill>
                  <a:schemeClr val="bg1"/>
                </a:solidFill>
              </a:rPr>
              <a:t>535.7 millions de personnes étaient en état de sous-nutrition</a:t>
            </a:r>
            <a:endParaRPr lang="fr-FR" dirty="0">
              <a:solidFill>
                <a:schemeClr val="bg1"/>
              </a:solidFill>
            </a:endParaRPr>
          </a:p>
          <a:p>
            <a:pPr algn="ctr"/>
            <a:endParaRPr lang="fr-FR" sz="2000" dirty="0">
              <a:solidFill>
                <a:schemeClr val="bg1"/>
              </a:solidFill>
            </a:endParaRPr>
          </a:p>
          <a:p>
            <a:pPr algn="ctr"/>
            <a:r>
              <a:rPr lang="fr-FR" sz="2000" dirty="0">
                <a:solidFill>
                  <a:schemeClr val="bg1"/>
                </a:solidFill>
              </a:rPr>
              <a:t>Population totale de 7.544 milliards de personnes</a:t>
            </a:r>
            <a:endParaRPr lang="fr-FR" dirty="0">
              <a:solidFill>
                <a:schemeClr val="bg1"/>
              </a:solidFill>
            </a:endParaRPr>
          </a:p>
        </p:txBody>
      </p:sp>
      <p:pic>
        <p:nvPicPr>
          <p:cNvPr id="2" name="Image 1" descr="Une image contenant texte, capture d’écran, Police, diagramme&#10;&#10;Description générée automatiquement">
            <a:extLst>
              <a:ext uri="{FF2B5EF4-FFF2-40B4-BE49-F238E27FC236}">
                <a16:creationId xmlns:a16="http://schemas.microsoft.com/office/drawing/2014/main" id="{C3B9A19C-6325-2C60-CC2A-3C25B0803903}"/>
              </a:ext>
            </a:extLst>
          </p:cNvPr>
          <p:cNvPicPr>
            <a:picLocks noChangeAspect="1"/>
          </p:cNvPicPr>
          <p:nvPr/>
        </p:nvPicPr>
        <p:blipFill>
          <a:blip r:embed="rId3"/>
          <a:stretch>
            <a:fillRect/>
          </a:stretch>
        </p:blipFill>
        <p:spPr>
          <a:xfrm>
            <a:off x="4001963" y="2269911"/>
            <a:ext cx="8198191" cy="4247932"/>
          </a:xfrm>
          <a:prstGeom prst="rect">
            <a:avLst/>
          </a:prstGeom>
        </p:spPr>
      </p:pic>
      <p:pic>
        <p:nvPicPr>
          <p:cNvPr id="4" name="Image 3" descr="Une image contenant texte, Police, blanc, typographie&#10;&#10;Description générée automatiquement">
            <a:extLst>
              <a:ext uri="{FF2B5EF4-FFF2-40B4-BE49-F238E27FC236}">
                <a16:creationId xmlns:a16="http://schemas.microsoft.com/office/drawing/2014/main" id="{4743D37D-F603-2CDF-2BCA-8479FCBA8097}"/>
              </a:ext>
            </a:extLst>
          </p:cNvPr>
          <p:cNvPicPr>
            <a:picLocks noChangeAspect="1"/>
          </p:cNvPicPr>
          <p:nvPr/>
        </p:nvPicPr>
        <p:blipFill>
          <a:blip r:embed="rId4"/>
          <a:stretch>
            <a:fillRect/>
          </a:stretch>
        </p:blipFill>
        <p:spPr>
          <a:xfrm>
            <a:off x="759540" y="4344472"/>
            <a:ext cx="2514600" cy="638175"/>
          </a:xfrm>
          <a:prstGeom prst="rect">
            <a:avLst/>
          </a:prstGeom>
          <a:ln>
            <a:solidFill>
              <a:schemeClr val="accent1">
                <a:lumMod val="40000"/>
                <a:lumOff val="60000"/>
              </a:schemeClr>
            </a:solidFill>
          </a:ln>
        </p:spPr>
      </p:pic>
      <p:sp>
        <p:nvSpPr>
          <p:cNvPr id="5" name="ZoneTexte 4">
            <a:extLst>
              <a:ext uri="{FF2B5EF4-FFF2-40B4-BE49-F238E27FC236}">
                <a16:creationId xmlns:a16="http://schemas.microsoft.com/office/drawing/2014/main" id="{3CA535C2-4DD4-38E0-0A07-F005F5CBD194}"/>
              </a:ext>
            </a:extLst>
          </p:cNvPr>
          <p:cNvSpPr txBox="1"/>
          <p:nvPr/>
        </p:nvSpPr>
        <p:spPr>
          <a:xfrm>
            <a:off x="-1341" y="5490575"/>
            <a:ext cx="4009667" cy="1015663"/>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000">
                <a:solidFill>
                  <a:schemeClr val="bg1"/>
                </a:solidFill>
              </a:rPr>
              <a:t>La proportion minimale de</a:t>
            </a:r>
            <a:endParaRPr lang="fr-FR" dirty="0">
              <a:solidFill>
                <a:schemeClr val="bg1"/>
              </a:solidFill>
            </a:endParaRPr>
          </a:p>
          <a:p>
            <a:pPr algn="ctr"/>
            <a:r>
              <a:rPr lang="fr-FR" sz="2000" dirty="0">
                <a:solidFill>
                  <a:schemeClr val="bg1"/>
                </a:solidFill>
              </a:rPr>
              <a:t>personne en état </a:t>
            </a:r>
            <a:r>
              <a:rPr lang="fr-FR" sz="2000">
                <a:solidFill>
                  <a:schemeClr val="bg1"/>
                </a:solidFill>
              </a:rPr>
              <a:t>de sous-nutrition </a:t>
            </a:r>
            <a:r>
              <a:rPr lang="fr-FR" sz="2000" dirty="0">
                <a:solidFill>
                  <a:schemeClr val="bg1"/>
                </a:solidFill>
              </a:rPr>
              <a:t>est de 7.10 % en 2017 </a:t>
            </a:r>
            <a:endParaRPr lang="fr-FR">
              <a:solidFill>
                <a:schemeClr val="bg1"/>
              </a:solidFill>
            </a:endParaRPr>
          </a:p>
        </p:txBody>
      </p:sp>
      <p:pic>
        <p:nvPicPr>
          <p:cNvPr id="7" name="Image 6" descr="Une image contenant texte, Police, guide, conception&#10;&#10;Description générée automatiquement">
            <a:extLst>
              <a:ext uri="{FF2B5EF4-FFF2-40B4-BE49-F238E27FC236}">
                <a16:creationId xmlns:a16="http://schemas.microsoft.com/office/drawing/2014/main" id="{CB9A39AF-4673-1278-9DFD-C760D2283D31}"/>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10086135" y="-1061"/>
            <a:ext cx="2110040" cy="8543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151"/>
        <p:cNvGrpSpPr/>
        <p:nvPr/>
      </p:nvGrpSpPr>
      <p:grpSpPr>
        <a:xfrm>
          <a:off x="0" y="0"/>
          <a:ext cx="0" cy="0"/>
          <a:chOff x="0" y="0"/>
          <a:chExt cx="0" cy="0"/>
        </a:xfrm>
      </p:grpSpPr>
      <p:sp>
        <p:nvSpPr>
          <p:cNvPr id="152" name="Google Shape;152;p5"/>
          <p:cNvSpPr txBox="1">
            <a:spLocks noGrp="1"/>
          </p:cNvSpPr>
          <p:nvPr>
            <p:ph type="title"/>
          </p:nvPr>
        </p:nvSpPr>
        <p:spPr>
          <a:xfrm>
            <a:off x="810000" y="425417"/>
            <a:ext cx="9233056" cy="99222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2) Nombre théorique de personnes qui pourraient être nourries en 2017</a:t>
            </a:r>
            <a:endParaRPr sz="3200"/>
          </a:p>
        </p:txBody>
      </p:sp>
      <p:sp>
        <p:nvSpPr>
          <p:cNvPr id="153" name="Google Shape;153;p5"/>
          <p:cNvSpPr txBox="1">
            <a:spLocks noGrp="1"/>
          </p:cNvSpPr>
          <p:nvPr>
            <p:ph type="body" idx="1"/>
          </p:nvPr>
        </p:nvSpPr>
        <p:spPr>
          <a:xfrm>
            <a:off x="3180" y="2578085"/>
            <a:ext cx="12189216" cy="30776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lnSpcReduction="10000"/>
          </a:bodyPr>
          <a:lstStyle/>
          <a:p>
            <a:pPr marL="114300" indent="0">
              <a:buNone/>
            </a:pPr>
            <a:r>
              <a:rPr lang="fr-FR" sz="1600" b="1" i="1" dirty="0">
                <a:solidFill>
                  <a:schemeClr val="bg1"/>
                </a:solidFill>
                <a:highlight>
                  <a:srgbClr val="000000"/>
                </a:highlight>
                <a:latin typeface="Arial"/>
              </a:rPr>
              <a:t>Selon J.-P. Charvet, la ration alimentaire moyenne nécessaire est de 2 500 calories par personne par jour.</a:t>
            </a:r>
            <a:endParaRPr lang="fr-FR" sz="1600" b="1" i="1">
              <a:solidFill>
                <a:schemeClr val="bg1"/>
              </a:solidFill>
              <a:latin typeface="Arial"/>
            </a:endParaRPr>
          </a:p>
          <a:p>
            <a:pPr>
              <a:buNone/>
            </a:pPr>
            <a:r>
              <a:rPr lang="fr-FR" sz="1600" b="1" i="1" dirty="0">
                <a:solidFill>
                  <a:schemeClr val="bg1"/>
                </a:solidFill>
                <a:highlight>
                  <a:srgbClr val="000000"/>
                </a:highlight>
                <a:latin typeface="Arial"/>
              </a:rPr>
              <a:t>Source : </a:t>
            </a:r>
            <a:r>
              <a:rPr lang="fr-FR" sz="1600" b="1" i="1" dirty="0">
                <a:solidFill>
                  <a:schemeClr val="bg1"/>
                </a:solidFill>
                <a:highlight>
                  <a:srgbClr val="000000"/>
                </a:highlight>
                <a:latin typeface="Arial"/>
                <a:hlinkClick r:id="rId3">
                  <a:extLst>
                    <a:ext uri="{A12FA001-AC4F-418D-AE19-62706E023703}">
                      <ahyp:hlinkClr xmlns:ahyp="http://schemas.microsoft.com/office/drawing/2018/hyperlinkcolor" val="tx"/>
                    </a:ext>
                  </a:extLst>
                </a:hlinkClick>
              </a:rPr>
              <a:t>https://fr.wikipedia.org/wiki/Ration_alimentaire</a:t>
            </a:r>
            <a:endParaRPr lang="fr-FR" sz="1600" b="1" i="1" dirty="0">
              <a:solidFill>
                <a:schemeClr val="bg1"/>
              </a:solidFill>
              <a:highlight>
                <a:srgbClr val="000000"/>
              </a:highlight>
              <a:latin typeface="Arial"/>
            </a:endParaRPr>
          </a:p>
          <a:p>
            <a:pPr>
              <a:buNone/>
            </a:pPr>
            <a:endParaRPr lang="fr-FR" sz="1600" b="1" i="1" dirty="0">
              <a:solidFill>
                <a:schemeClr val="bg1"/>
              </a:solidFill>
              <a:highlight>
                <a:srgbClr val="000000"/>
              </a:highlight>
              <a:latin typeface="Arial"/>
            </a:endParaRPr>
          </a:p>
          <a:p>
            <a:pPr>
              <a:buFont typeface="Calibri"/>
              <a:buChar char="-"/>
            </a:pPr>
            <a:r>
              <a:rPr lang="fr-FR" sz="1600" b="1" i="1" dirty="0">
                <a:solidFill>
                  <a:schemeClr val="bg1"/>
                </a:solidFill>
                <a:highlight>
                  <a:srgbClr val="000000"/>
                </a:highlight>
                <a:latin typeface="Arial"/>
              </a:rPr>
              <a:t>La disponibilité alimentaire dans le monde est de 20 918 984 627 331 calories par jour.</a:t>
            </a:r>
          </a:p>
          <a:p>
            <a:pPr>
              <a:buNone/>
            </a:pPr>
            <a:endParaRPr lang="fr-FR" sz="1600" b="1" i="1" dirty="0">
              <a:solidFill>
                <a:schemeClr val="bg1"/>
              </a:solidFill>
              <a:highlight>
                <a:srgbClr val="000000"/>
              </a:highlight>
              <a:latin typeface="Arial"/>
            </a:endParaRPr>
          </a:p>
          <a:p>
            <a:pPr>
              <a:buNone/>
            </a:pPr>
            <a:endParaRPr lang="fr-FR" sz="1600" b="1" i="1" dirty="0">
              <a:solidFill>
                <a:schemeClr val="bg1"/>
              </a:solidFill>
              <a:highlight>
                <a:srgbClr val="000000"/>
              </a:highlight>
              <a:latin typeface="Arial"/>
            </a:endParaRPr>
          </a:p>
          <a:p>
            <a:pPr>
              <a:buNone/>
            </a:pPr>
            <a:r>
              <a:rPr lang="fr-FR" sz="1600" b="1" i="1" dirty="0">
                <a:solidFill>
                  <a:schemeClr val="bg1"/>
                </a:solidFill>
                <a:highlight>
                  <a:srgbClr val="000000"/>
                </a:highlight>
                <a:latin typeface="Arial"/>
              </a:rPr>
              <a:t>                                       = 8 367 593 850.5244 soit environ 8.368 milliards d'humains peuvent être nourris en 2017.</a:t>
            </a:r>
          </a:p>
          <a:p>
            <a:pPr>
              <a:buNone/>
            </a:pPr>
            <a:r>
              <a:rPr lang="fr-FR" b="1" i="1" dirty="0">
                <a:solidFill>
                  <a:schemeClr val="bg1"/>
                </a:solidFill>
                <a:latin typeface="Arial"/>
              </a:rPr>
              <a:t>                </a:t>
            </a:r>
          </a:p>
          <a:p>
            <a:pPr>
              <a:buNone/>
            </a:pPr>
            <a:r>
              <a:rPr lang="fr-FR" b="1" i="1" dirty="0">
                <a:solidFill>
                  <a:schemeClr val="bg1"/>
                </a:solidFill>
                <a:latin typeface="Arial"/>
              </a:rPr>
              <a:t>                                            </a:t>
            </a:r>
          </a:p>
          <a:p>
            <a:pPr>
              <a:buNone/>
            </a:pPr>
            <a:r>
              <a:rPr lang="fr-FR" sz="1600" b="1" i="1" dirty="0">
                <a:solidFill>
                  <a:schemeClr val="bg1"/>
                </a:solidFill>
                <a:highlight>
                  <a:srgbClr val="000000"/>
                </a:highlight>
                <a:latin typeface="Arial"/>
              </a:rPr>
              <a:t>La proportion d'humains qui peuvent être nourris est calculée comme suit :                                = 110.92 %</a:t>
            </a:r>
          </a:p>
          <a:p>
            <a:pPr algn="ctr">
              <a:buNone/>
            </a:pPr>
            <a:endParaRPr lang="fr-FR" sz="1600" b="1" i="1" dirty="0">
              <a:solidFill>
                <a:schemeClr val="bg1"/>
              </a:solidFill>
              <a:highlight>
                <a:srgbClr val="000000"/>
              </a:highlight>
              <a:latin typeface="Arial"/>
            </a:endParaRPr>
          </a:p>
          <a:p>
            <a:pPr algn="ctr">
              <a:buNone/>
            </a:pPr>
            <a:endParaRPr lang="fr-FR" sz="1700" b="1" i="1" dirty="0">
              <a:solidFill>
                <a:schemeClr val="bg1"/>
              </a:solidFill>
              <a:highlight>
                <a:srgbClr val="000000"/>
              </a:highlight>
              <a:latin typeface="Arial"/>
            </a:endParaRPr>
          </a:p>
        </p:txBody>
      </p:sp>
      <p:sp>
        <p:nvSpPr>
          <p:cNvPr id="154" name="Google Shape;154;p5"/>
          <p:cNvSpPr/>
          <p:nvPr/>
        </p:nvSpPr>
        <p:spPr>
          <a:xfrm>
            <a:off x="12303518" y="2840469"/>
            <a:ext cx="3432024" cy="2582431"/>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Chiffre à calculer avec la disponibilité alimentaire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Combien de Kcal par personne et par jour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Justification du chiffre</a:t>
            </a:r>
            <a:endParaRPr sz="1400" b="0" i="0" u="none" strike="noStrike" cap="none">
              <a:solidFill>
                <a:srgbClr val="000000"/>
              </a:solidFill>
              <a:latin typeface="Arial"/>
              <a:ea typeface="Arial"/>
              <a:cs typeface="Arial"/>
              <a:sym typeface="Arial"/>
            </a:endParaRPr>
          </a:p>
        </p:txBody>
      </p:sp>
      <p:pic>
        <p:nvPicPr>
          <p:cNvPr id="2" name="Image 1" descr="Une image contenant texte, Police, blanc, calligraphie&#10;&#10;Description générée automatiquement">
            <a:extLst>
              <a:ext uri="{FF2B5EF4-FFF2-40B4-BE49-F238E27FC236}">
                <a16:creationId xmlns:a16="http://schemas.microsoft.com/office/drawing/2014/main" id="{AE267FAD-DAE7-90A1-0924-6FD0A959D979}"/>
              </a:ext>
            </a:extLst>
          </p:cNvPr>
          <p:cNvPicPr>
            <a:picLocks noChangeAspect="1"/>
          </p:cNvPicPr>
          <p:nvPr/>
        </p:nvPicPr>
        <p:blipFill>
          <a:blip r:embed="rId4"/>
          <a:stretch>
            <a:fillRect/>
          </a:stretch>
        </p:blipFill>
        <p:spPr>
          <a:xfrm>
            <a:off x="166111" y="3939427"/>
            <a:ext cx="2124075" cy="600075"/>
          </a:xfrm>
          <a:prstGeom prst="rect">
            <a:avLst/>
          </a:prstGeom>
        </p:spPr>
      </p:pic>
      <p:pic>
        <p:nvPicPr>
          <p:cNvPr id="3" name="Image 2">
            <a:extLst>
              <a:ext uri="{FF2B5EF4-FFF2-40B4-BE49-F238E27FC236}">
                <a16:creationId xmlns:a16="http://schemas.microsoft.com/office/drawing/2014/main" id="{E21D3DDB-2CA2-6DF2-34DC-34EE362F737B}"/>
              </a:ext>
            </a:extLst>
          </p:cNvPr>
          <p:cNvPicPr>
            <a:picLocks noChangeAspect="1"/>
          </p:cNvPicPr>
          <p:nvPr/>
        </p:nvPicPr>
        <p:blipFill>
          <a:blip r:embed="rId5"/>
          <a:stretch>
            <a:fillRect/>
          </a:stretch>
        </p:blipFill>
        <p:spPr>
          <a:xfrm>
            <a:off x="7651047" y="4840275"/>
            <a:ext cx="1552575" cy="466725"/>
          </a:xfrm>
          <a:prstGeom prst="rect">
            <a:avLst/>
          </a:prstGeom>
        </p:spPr>
      </p:pic>
      <p:sp>
        <p:nvSpPr>
          <p:cNvPr id="5" name="ZoneTexte 4">
            <a:extLst>
              <a:ext uri="{FF2B5EF4-FFF2-40B4-BE49-F238E27FC236}">
                <a16:creationId xmlns:a16="http://schemas.microsoft.com/office/drawing/2014/main" id="{D20DC4C2-C4A4-CA81-0575-F170C88BBE36}"/>
              </a:ext>
            </a:extLst>
          </p:cNvPr>
          <p:cNvSpPr txBox="1"/>
          <p:nvPr/>
        </p:nvSpPr>
        <p:spPr>
          <a:xfrm>
            <a:off x="87086" y="5497284"/>
            <a:ext cx="12017827" cy="1257267"/>
          </a:xfrm>
          <a:prstGeom prst="rect">
            <a:avLst/>
          </a:prstGeom>
          <a:solidFill>
            <a:schemeClr val="tx1"/>
          </a:solidFill>
          <a:ln>
            <a:solidFill>
              <a:schemeClr val="accent1">
                <a:lumMod val="40000"/>
                <a:lumOff val="6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342900" algn="ctr">
              <a:lnSpc>
                <a:spcPct val="150000"/>
              </a:lnSpc>
              <a:spcBef>
                <a:spcPts val="360"/>
              </a:spcBef>
            </a:pPr>
            <a:r>
              <a:rPr lang="fr-FR" sz="1600" b="1" i="1" dirty="0">
                <a:solidFill>
                  <a:schemeClr val="bg1"/>
                </a:solidFill>
                <a:highlight>
                  <a:srgbClr val="000000"/>
                </a:highlight>
              </a:rPr>
              <a:t>8,368 milliards d'humains peuvent être nourris, alors que la population mondiale était de 7,544 milliards de</a:t>
            </a:r>
          </a:p>
          <a:p>
            <a:pPr marL="457200" indent="-342900" algn="ctr">
              <a:lnSpc>
                <a:spcPct val="150000"/>
              </a:lnSpc>
              <a:spcBef>
                <a:spcPts val="360"/>
              </a:spcBef>
            </a:pPr>
            <a:r>
              <a:rPr lang="fr-FR" sz="1600" b="1" i="1" dirty="0">
                <a:solidFill>
                  <a:schemeClr val="bg1"/>
                </a:solidFill>
                <a:highlight>
                  <a:srgbClr val="000000"/>
                </a:highlight>
              </a:rPr>
              <a:t> personnes en 2017</a:t>
            </a:r>
          </a:p>
          <a:p>
            <a:pPr marL="457200" indent="-342900" algn="ctr">
              <a:lnSpc>
                <a:spcPct val="150000"/>
              </a:lnSpc>
              <a:spcBef>
                <a:spcPts val="360"/>
              </a:spcBef>
            </a:pPr>
            <a:r>
              <a:rPr lang="fr-FR" sz="1600" b="1" i="1" dirty="0">
                <a:solidFill>
                  <a:schemeClr val="bg1"/>
                </a:solidFill>
                <a:highlight>
                  <a:srgbClr val="000000"/>
                </a:highlight>
              </a:rPr>
              <a:t>Nous aurions donc théoriquement la capacité de nourrir 110,92 % de la population mondiale en 2017.</a:t>
            </a:r>
            <a:endParaRPr lang="fr-FR" sz="1700" dirty="0">
              <a:solidFill>
                <a:schemeClr val="bg1"/>
              </a:solidFill>
            </a:endParaRPr>
          </a:p>
        </p:txBody>
      </p:sp>
      <p:pic>
        <p:nvPicPr>
          <p:cNvPr id="6" name="Image 5" descr="Une image contenant texte, Police, guide, conception&#10;&#10;Description générée automatiquement">
            <a:extLst>
              <a:ext uri="{FF2B5EF4-FFF2-40B4-BE49-F238E27FC236}">
                <a16:creationId xmlns:a16="http://schemas.microsoft.com/office/drawing/2014/main" id="{ECA10C0A-1801-C312-85DE-C8BFCA0A0A93}"/>
              </a:ext>
              <a:ext uri="{C183D7F6-B498-43B3-948B-1728B52AA6E4}">
                <adec:decorative xmlns:adec="http://schemas.microsoft.com/office/drawing/2017/decorative" val="0"/>
              </a:ext>
            </a:extLst>
          </p:cNvPr>
          <p:cNvPicPr>
            <a:picLocks noChangeAspect="1"/>
          </p:cNvPicPr>
          <p:nvPr/>
        </p:nvPicPr>
        <p:blipFill>
          <a:blip r:embed="rId6"/>
          <a:stretch>
            <a:fillRect/>
          </a:stretch>
        </p:blipFill>
        <p:spPr>
          <a:xfrm>
            <a:off x="10086135" y="-1061"/>
            <a:ext cx="2110040" cy="8543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158"/>
        <p:cNvGrpSpPr/>
        <p:nvPr/>
      </p:nvGrpSpPr>
      <p:grpSpPr>
        <a:xfrm>
          <a:off x="0" y="0"/>
          <a:ext cx="0" cy="0"/>
          <a:chOff x="0" y="0"/>
          <a:chExt cx="0" cy="0"/>
        </a:xfrm>
      </p:grpSpPr>
      <p:sp>
        <p:nvSpPr>
          <p:cNvPr id="159" name="Google Shape;159;p6"/>
          <p:cNvSpPr txBox="1">
            <a:spLocks noGrp="1"/>
          </p:cNvSpPr>
          <p:nvPr>
            <p:ph type="title"/>
          </p:nvPr>
        </p:nvSpPr>
        <p:spPr>
          <a:xfrm>
            <a:off x="810000" y="425417"/>
            <a:ext cx="9222170" cy="1286135"/>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3) Nombre théorique de personnes qui pourraient être nourries uniquement avec les végétaux en 2017</a:t>
            </a:r>
            <a:endParaRPr/>
          </a:p>
        </p:txBody>
      </p:sp>
      <p:sp>
        <p:nvSpPr>
          <p:cNvPr id="160" name="Google Shape;160;p6"/>
          <p:cNvSpPr txBox="1">
            <a:spLocks noGrp="1"/>
          </p:cNvSpPr>
          <p:nvPr>
            <p:ph type="body" idx="1"/>
          </p:nvPr>
        </p:nvSpPr>
        <p:spPr>
          <a:xfrm>
            <a:off x="1630667" y="6303536"/>
            <a:ext cx="10563967" cy="2835588"/>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a:buNone/>
            </a:pPr>
            <a:r>
              <a:rPr lang="en-US" sz="1700" dirty="0">
                <a:solidFill>
                  <a:schemeClr val="bg1"/>
                </a:solidFill>
              </a:rPr>
              <a:t>                                            </a:t>
            </a:r>
          </a:p>
          <a:p>
            <a:pPr algn="ctr">
              <a:buNone/>
            </a:pPr>
            <a:endParaRPr lang="en-US" sz="1700" dirty="0"/>
          </a:p>
          <a:p>
            <a:pPr algn="ctr">
              <a:buNone/>
            </a:pPr>
            <a:endParaRPr lang="en-US" sz="1700" dirty="0"/>
          </a:p>
          <a:p>
            <a:pPr algn="ctr">
              <a:buNone/>
            </a:pPr>
            <a:r>
              <a:rPr lang="en-US" sz="1700" dirty="0">
                <a:solidFill>
                  <a:schemeClr val="bg1"/>
                </a:solidFill>
              </a:rPr>
              <a:t>6.904 milliards </a:t>
            </a:r>
            <a:r>
              <a:rPr lang="en-US" sz="1700" dirty="0" err="1">
                <a:solidFill>
                  <a:schemeClr val="bg1"/>
                </a:solidFill>
              </a:rPr>
              <a:t>d'humains</a:t>
            </a:r>
            <a:r>
              <a:rPr lang="en-US" sz="1700" dirty="0">
                <a:solidFill>
                  <a:schemeClr val="bg1"/>
                </a:solidFill>
              </a:rPr>
              <a:t> </a:t>
            </a:r>
            <a:r>
              <a:rPr lang="en-US" sz="1700" dirty="0" err="1">
                <a:solidFill>
                  <a:schemeClr val="bg1"/>
                </a:solidFill>
              </a:rPr>
              <a:t>aurrai</a:t>
            </a:r>
            <a:r>
              <a:rPr lang="en-US" sz="1700" dirty="0">
                <a:solidFill>
                  <a:schemeClr val="bg1"/>
                </a:solidFill>
              </a:rPr>
              <a:t> </a:t>
            </a:r>
            <a:r>
              <a:rPr lang="en-US" sz="1700" dirty="0" err="1">
                <a:solidFill>
                  <a:schemeClr val="bg1"/>
                </a:solidFill>
              </a:rPr>
              <a:t>pu</a:t>
            </a:r>
            <a:r>
              <a:rPr lang="en-US" sz="1700" dirty="0">
                <a:solidFill>
                  <a:schemeClr val="bg1"/>
                </a:solidFill>
              </a:rPr>
              <a:t> </a:t>
            </a:r>
            <a:r>
              <a:rPr lang="en-US" sz="1700" dirty="0" err="1">
                <a:solidFill>
                  <a:schemeClr val="bg1"/>
                </a:solidFill>
              </a:rPr>
              <a:t>être</a:t>
            </a:r>
            <a:r>
              <a:rPr lang="en-US" sz="1700" dirty="0">
                <a:solidFill>
                  <a:schemeClr val="bg1"/>
                </a:solidFill>
              </a:rPr>
              <a:t> </a:t>
            </a:r>
            <a:r>
              <a:rPr lang="en-US" sz="1700" dirty="0" err="1">
                <a:solidFill>
                  <a:schemeClr val="bg1"/>
                </a:solidFill>
              </a:rPr>
              <a:t>nourris</a:t>
            </a:r>
            <a:r>
              <a:rPr lang="en-US" sz="1700" dirty="0">
                <a:solidFill>
                  <a:schemeClr val="bg1"/>
                </a:solidFill>
              </a:rPr>
              <a:t> avec </a:t>
            </a:r>
            <a:r>
              <a:rPr lang="en-US" sz="1700" dirty="0" err="1">
                <a:solidFill>
                  <a:schemeClr val="bg1"/>
                </a:solidFill>
              </a:rPr>
              <a:t>l'alimentaire</a:t>
            </a:r>
            <a:r>
              <a:rPr lang="en-US" sz="1700" dirty="0">
                <a:solidFill>
                  <a:schemeClr val="bg1"/>
                </a:solidFill>
              </a:rPr>
              <a:t> </a:t>
            </a:r>
            <a:r>
              <a:rPr lang="en-US" sz="1700" dirty="0" err="1">
                <a:solidFill>
                  <a:schemeClr val="bg1"/>
                </a:solidFill>
              </a:rPr>
              <a:t>végétale</a:t>
            </a:r>
            <a:r>
              <a:rPr lang="en-US" sz="1700" dirty="0">
                <a:solidFill>
                  <a:schemeClr val="bg1"/>
                </a:solidFill>
              </a:rPr>
              <a:t> </a:t>
            </a:r>
            <a:r>
              <a:rPr lang="en-US" sz="1700" dirty="0" err="1">
                <a:solidFill>
                  <a:schemeClr val="bg1"/>
                </a:solidFill>
              </a:rPr>
              <a:t>en</a:t>
            </a:r>
            <a:r>
              <a:rPr lang="en-US" sz="1700" dirty="0">
                <a:solidFill>
                  <a:schemeClr val="bg1"/>
                </a:solidFill>
              </a:rPr>
              <a:t> 2017, </a:t>
            </a:r>
            <a:r>
              <a:rPr lang="en-US" sz="1700" dirty="0" err="1">
                <a:solidFill>
                  <a:schemeClr val="bg1"/>
                </a:solidFill>
              </a:rPr>
              <a:t>alors</a:t>
            </a:r>
            <a:r>
              <a:rPr lang="en-US" sz="1700" dirty="0">
                <a:solidFill>
                  <a:schemeClr val="bg1"/>
                </a:solidFill>
              </a:rPr>
              <a:t> que la population </a:t>
            </a:r>
            <a:r>
              <a:rPr lang="en-US" sz="1700" dirty="0" err="1">
                <a:solidFill>
                  <a:schemeClr val="bg1"/>
                </a:solidFill>
              </a:rPr>
              <a:t>mondiale</a:t>
            </a:r>
            <a:r>
              <a:rPr lang="en-US" sz="1700" dirty="0">
                <a:solidFill>
                  <a:schemeClr val="bg1"/>
                </a:solidFill>
              </a:rPr>
              <a:t> </a:t>
            </a:r>
            <a:r>
              <a:rPr lang="en-US" sz="1700" dirty="0" err="1">
                <a:solidFill>
                  <a:schemeClr val="bg1"/>
                </a:solidFill>
              </a:rPr>
              <a:t>était</a:t>
            </a:r>
            <a:r>
              <a:rPr lang="en-US" sz="1700" dirty="0">
                <a:solidFill>
                  <a:schemeClr val="bg1"/>
                </a:solidFill>
              </a:rPr>
              <a:t> de 7.544 milliards.</a:t>
            </a:r>
            <a:endParaRPr lang="en-US" dirty="0">
              <a:solidFill>
                <a:schemeClr val="bg1"/>
              </a:solidFill>
            </a:endParaRPr>
          </a:p>
          <a:p>
            <a:pPr algn="ctr">
              <a:buNone/>
            </a:pPr>
            <a:endParaRPr lang="en-US" sz="1700" dirty="0"/>
          </a:p>
          <a:p>
            <a:pPr algn="ctr">
              <a:buNone/>
            </a:pPr>
            <a:r>
              <a:rPr lang="en-US" sz="1700" dirty="0">
                <a:solidFill>
                  <a:schemeClr val="bg1"/>
                </a:solidFill>
              </a:rPr>
              <a:t>Nous </a:t>
            </a:r>
            <a:r>
              <a:rPr lang="en-US" sz="1700" dirty="0" err="1">
                <a:solidFill>
                  <a:schemeClr val="bg1"/>
                </a:solidFill>
              </a:rPr>
              <a:t>aurions</a:t>
            </a:r>
            <a:r>
              <a:rPr lang="en-US" sz="1700" dirty="0">
                <a:solidFill>
                  <a:schemeClr val="bg1"/>
                </a:solidFill>
              </a:rPr>
              <a:t> </a:t>
            </a:r>
            <a:r>
              <a:rPr lang="en-US" sz="1700" dirty="0" err="1">
                <a:solidFill>
                  <a:schemeClr val="bg1"/>
                </a:solidFill>
              </a:rPr>
              <a:t>donc</a:t>
            </a:r>
            <a:r>
              <a:rPr lang="en-US" sz="1700" dirty="0">
                <a:solidFill>
                  <a:schemeClr val="bg1"/>
                </a:solidFill>
              </a:rPr>
              <a:t> </a:t>
            </a:r>
            <a:r>
              <a:rPr lang="en-US" sz="1700" dirty="0" err="1">
                <a:solidFill>
                  <a:schemeClr val="bg1"/>
                </a:solidFill>
              </a:rPr>
              <a:t>théoriquement</a:t>
            </a:r>
            <a:r>
              <a:rPr lang="en-US" sz="1700" dirty="0">
                <a:solidFill>
                  <a:schemeClr val="bg1"/>
                </a:solidFill>
              </a:rPr>
              <a:t> la </a:t>
            </a:r>
            <a:r>
              <a:rPr lang="en-US" sz="1700" dirty="0" err="1">
                <a:solidFill>
                  <a:schemeClr val="bg1"/>
                </a:solidFill>
              </a:rPr>
              <a:t>capacité</a:t>
            </a:r>
            <a:r>
              <a:rPr lang="en-US" sz="1700" dirty="0">
                <a:solidFill>
                  <a:schemeClr val="bg1"/>
                </a:solidFill>
              </a:rPr>
              <a:t> de 91.52 % de la population Mondial </a:t>
            </a:r>
            <a:r>
              <a:rPr lang="en-US" sz="1700" dirty="0" err="1">
                <a:solidFill>
                  <a:schemeClr val="bg1"/>
                </a:solidFill>
              </a:rPr>
              <a:t>en</a:t>
            </a:r>
            <a:r>
              <a:rPr lang="en-US" sz="1700" dirty="0">
                <a:solidFill>
                  <a:schemeClr val="bg1"/>
                </a:solidFill>
              </a:rPr>
              <a:t> 2017</a:t>
            </a:r>
          </a:p>
        </p:txBody>
      </p:sp>
      <p:sp>
        <p:nvSpPr>
          <p:cNvPr id="161" name="Google Shape;161;p6"/>
          <p:cNvSpPr/>
          <p:nvPr/>
        </p:nvSpPr>
        <p:spPr>
          <a:xfrm>
            <a:off x="12303517" y="2746524"/>
            <a:ext cx="3432024" cy="2582431"/>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highlight>
                  <a:srgbClr val="FFFF00"/>
                </a:highlight>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highlight>
                  <a:srgbClr val="FFFF00"/>
                </a:highlight>
                <a:latin typeface="Century Gothic"/>
                <a:ea typeface="Century Gothic"/>
                <a:cs typeface="Century Gothic"/>
                <a:sym typeface="Century Gothic"/>
              </a:rPr>
              <a:t>Même calcul que précédemment mais avec uniquement les végétaux</a:t>
            </a:r>
            <a:endParaRPr sz="1400" b="0" i="0" u="none" strike="noStrike" cap="none">
              <a:solidFill>
                <a:srgbClr val="000000"/>
              </a:solidFill>
              <a:latin typeface="Arial"/>
              <a:ea typeface="Arial"/>
              <a:cs typeface="Arial"/>
              <a:sym typeface="Arial"/>
            </a:endParaRPr>
          </a:p>
        </p:txBody>
      </p:sp>
      <p:sp>
        <p:nvSpPr>
          <p:cNvPr id="5" name="Google Shape;153;p5">
            <a:extLst>
              <a:ext uri="{FF2B5EF4-FFF2-40B4-BE49-F238E27FC236}">
                <a16:creationId xmlns:a16="http://schemas.microsoft.com/office/drawing/2014/main" id="{78888B6A-E3AF-E1DD-9F7A-D91252525C76}"/>
              </a:ext>
            </a:extLst>
          </p:cNvPr>
          <p:cNvSpPr txBox="1">
            <a:spLocks/>
          </p:cNvSpPr>
          <p:nvPr/>
        </p:nvSpPr>
        <p:spPr>
          <a:xfrm>
            <a:off x="3180" y="2262399"/>
            <a:ext cx="12189217" cy="287078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chemeClr val="accent1"/>
              </a:buClr>
              <a:buSzPts val="18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100000"/>
              </a:lnSpc>
              <a:spcBef>
                <a:spcPts val="600"/>
              </a:spcBef>
              <a:spcAft>
                <a:spcPts val="60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pPr marL="114300" indent="0">
              <a:buFont typeface="Noto Sans Symbols"/>
              <a:buNone/>
            </a:pPr>
            <a:endParaRPr lang="fr-FR" b="1" i="1" dirty="0">
              <a:solidFill>
                <a:schemeClr val="bg1"/>
              </a:solidFill>
              <a:highlight>
                <a:srgbClr val="000000"/>
              </a:highlight>
              <a:latin typeface="Arial"/>
            </a:endParaRPr>
          </a:p>
          <a:p>
            <a:pPr>
              <a:buFont typeface="Calibri"/>
              <a:buChar char="-"/>
            </a:pPr>
            <a:r>
              <a:rPr lang="fr-FR" b="1" i="1" dirty="0">
                <a:solidFill>
                  <a:schemeClr val="bg1"/>
                </a:solidFill>
                <a:highlight>
                  <a:srgbClr val="000000"/>
                </a:highlight>
                <a:latin typeface="Arial"/>
              </a:rPr>
              <a:t>La disponibilité alimentaire d'origine végétal dans le monde est de 17 260 764 211 501 calories par jours.</a:t>
            </a:r>
          </a:p>
          <a:p>
            <a:pPr>
              <a:buFont typeface="Noto Sans Symbols"/>
              <a:buNone/>
            </a:pPr>
            <a:endParaRPr lang="fr-FR" b="1" i="1" dirty="0">
              <a:solidFill>
                <a:schemeClr val="bg1"/>
              </a:solidFill>
              <a:highlight>
                <a:srgbClr val="000000"/>
              </a:highlight>
              <a:latin typeface="Arial"/>
            </a:endParaRPr>
          </a:p>
          <a:p>
            <a:pPr>
              <a:buFont typeface="Noto Sans Symbols"/>
              <a:buNone/>
            </a:pPr>
            <a:endParaRPr lang="fr-FR" b="1" i="1" dirty="0">
              <a:solidFill>
                <a:schemeClr val="bg1"/>
              </a:solidFill>
              <a:highlight>
                <a:srgbClr val="000000"/>
              </a:highlight>
              <a:latin typeface="Arial"/>
            </a:endParaRPr>
          </a:p>
          <a:p>
            <a:pPr>
              <a:buNone/>
            </a:pPr>
            <a:r>
              <a:rPr lang="fr-FR" b="1" i="1" dirty="0">
                <a:solidFill>
                  <a:schemeClr val="bg1"/>
                </a:solidFill>
                <a:highlight>
                  <a:srgbClr val="000000"/>
                </a:highlight>
                <a:latin typeface="Arial"/>
              </a:rPr>
              <a:t>                         = 6 904 305 684 </a:t>
            </a:r>
            <a:r>
              <a:rPr lang="fr-FR" sz="1600" b="1" i="1" dirty="0">
                <a:solidFill>
                  <a:schemeClr val="bg1"/>
                </a:solidFill>
                <a:highlight>
                  <a:srgbClr val="000000"/>
                </a:highlight>
                <a:latin typeface="Arial"/>
              </a:rPr>
              <a:t>soit environ 6.904 milliards</a:t>
            </a:r>
            <a:r>
              <a:rPr lang="fr-FR" b="1" i="1" dirty="0">
                <a:solidFill>
                  <a:schemeClr val="bg1"/>
                </a:solidFill>
                <a:highlight>
                  <a:srgbClr val="000000"/>
                </a:highlight>
                <a:latin typeface="Arial"/>
              </a:rPr>
              <a:t> d'humains peuvent être nourris en 2017.</a:t>
            </a:r>
          </a:p>
          <a:p>
            <a:pPr>
              <a:buFont typeface="Noto Sans Symbols"/>
              <a:buNone/>
            </a:pPr>
            <a:r>
              <a:rPr lang="fr-FR" b="1" i="1" dirty="0">
                <a:solidFill>
                  <a:schemeClr val="bg1"/>
                </a:solidFill>
                <a:latin typeface="Arial"/>
              </a:rPr>
              <a:t>                </a:t>
            </a:r>
          </a:p>
          <a:p>
            <a:pPr>
              <a:buFont typeface="Noto Sans Symbols"/>
              <a:buNone/>
            </a:pPr>
            <a:r>
              <a:rPr lang="fr-FR" b="1" i="1" dirty="0">
                <a:solidFill>
                  <a:schemeClr val="bg1"/>
                </a:solidFill>
                <a:latin typeface="Arial"/>
              </a:rPr>
              <a:t>                                            </a:t>
            </a:r>
          </a:p>
          <a:p>
            <a:pPr>
              <a:buNone/>
            </a:pPr>
            <a:r>
              <a:rPr lang="fr-FR" sz="1700" b="1" i="1" dirty="0">
                <a:solidFill>
                  <a:schemeClr val="bg1"/>
                </a:solidFill>
                <a:highlight>
                  <a:srgbClr val="000000"/>
                </a:highlight>
                <a:latin typeface="Arial"/>
              </a:rPr>
              <a:t>La proportion d'humains qui peuvent être nourris est calculée comme suit :                                  = 91</a:t>
            </a:r>
            <a:r>
              <a:rPr lang="fr-FR" b="1" i="1" dirty="0">
                <a:solidFill>
                  <a:schemeClr val="bg1"/>
                </a:solidFill>
                <a:highlight>
                  <a:srgbClr val="000000"/>
                </a:highlight>
                <a:latin typeface="Arial"/>
              </a:rPr>
              <a:t>.52 %</a:t>
            </a:r>
          </a:p>
        </p:txBody>
      </p:sp>
      <p:pic>
        <p:nvPicPr>
          <p:cNvPr id="3" name="Image 2" descr="Une image contenant texte, Police, blanc, typographie&#10;&#10;Description générée automatiquement">
            <a:extLst>
              <a:ext uri="{FF2B5EF4-FFF2-40B4-BE49-F238E27FC236}">
                <a16:creationId xmlns:a16="http://schemas.microsoft.com/office/drawing/2014/main" id="{D8D44B54-0551-C9D8-AE94-55C8A872A39B}"/>
              </a:ext>
            </a:extLst>
          </p:cNvPr>
          <p:cNvPicPr>
            <a:picLocks noChangeAspect="1"/>
          </p:cNvPicPr>
          <p:nvPr/>
        </p:nvPicPr>
        <p:blipFill>
          <a:blip r:embed="rId3"/>
          <a:stretch>
            <a:fillRect/>
          </a:stretch>
        </p:blipFill>
        <p:spPr>
          <a:xfrm>
            <a:off x="231526" y="3617656"/>
            <a:ext cx="1466850" cy="476250"/>
          </a:xfrm>
          <a:prstGeom prst="rect">
            <a:avLst/>
          </a:prstGeom>
        </p:spPr>
      </p:pic>
      <p:pic>
        <p:nvPicPr>
          <p:cNvPr id="2" name="Image 1" descr="Une image contenant texte, Police, calligraphie, blanc&#10;&#10;Description générée automatiquement">
            <a:extLst>
              <a:ext uri="{FF2B5EF4-FFF2-40B4-BE49-F238E27FC236}">
                <a16:creationId xmlns:a16="http://schemas.microsoft.com/office/drawing/2014/main" id="{3CA8200C-3F3C-0942-F76B-41541298F21B}"/>
              </a:ext>
            </a:extLst>
          </p:cNvPr>
          <p:cNvPicPr>
            <a:picLocks noChangeAspect="1"/>
          </p:cNvPicPr>
          <p:nvPr/>
        </p:nvPicPr>
        <p:blipFill>
          <a:blip r:embed="rId4"/>
          <a:stretch>
            <a:fillRect/>
          </a:stretch>
        </p:blipFill>
        <p:spPr>
          <a:xfrm>
            <a:off x="8031626" y="4551488"/>
            <a:ext cx="1885950" cy="523875"/>
          </a:xfrm>
          <a:prstGeom prst="rect">
            <a:avLst/>
          </a:prstGeom>
        </p:spPr>
      </p:pic>
      <p:sp>
        <p:nvSpPr>
          <p:cNvPr id="6" name="ZoneTexte 5">
            <a:extLst>
              <a:ext uri="{FF2B5EF4-FFF2-40B4-BE49-F238E27FC236}">
                <a16:creationId xmlns:a16="http://schemas.microsoft.com/office/drawing/2014/main" id="{970BCCA8-1A00-34EE-AC01-7FC885854A12}"/>
              </a:ext>
            </a:extLst>
          </p:cNvPr>
          <p:cNvSpPr txBox="1"/>
          <p:nvPr/>
        </p:nvSpPr>
        <p:spPr>
          <a:xfrm>
            <a:off x="87086" y="5410199"/>
            <a:ext cx="12017827" cy="1084912"/>
          </a:xfrm>
          <a:prstGeom prst="rect">
            <a:avLst/>
          </a:prstGeom>
          <a:solidFill>
            <a:schemeClr val="tx1"/>
          </a:solidFill>
          <a:ln>
            <a:solidFill>
              <a:schemeClr val="accent1">
                <a:lumMod val="40000"/>
                <a:lumOff val="6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342900" algn="ctr">
              <a:lnSpc>
                <a:spcPct val="150000"/>
              </a:lnSpc>
              <a:spcBef>
                <a:spcPts val="360"/>
              </a:spcBef>
            </a:pPr>
            <a:r>
              <a:rPr lang="fr-FR" sz="1600" b="1" i="1" dirty="0">
                <a:solidFill>
                  <a:schemeClr val="bg1"/>
                </a:solidFill>
                <a:highlight>
                  <a:srgbClr val="000000"/>
                </a:highlight>
              </a:rPr>
              <a:t>6,904 milliards d'humains peuvent être nourris grâce aux aliments d'origine végétal, </a:t>
            </a:r>
            <a:endParaRPr lang="en-US" sz="1600" b="1" i="1" dirty="0">
              <a:solidFill>
                <a:schemeClr val="bg1"/>
              </a:solidFill>
            </a:endParaRPr>
          </a:p>
          <a:p>
            <a:pPr marL="457200" indent="-342900" algn="ctr">
              <a:lnSpc>
                <a:spcPct val="80000"/>
              </a:lnSpc>
              <a:spcBef>
                <a:spcPts val="360"/>
              </a:spcBef>
            </a:pPr>
            <a:r>
              <a:rPr lang="fr-FR" sz="1600" b="1" i="1" dirty="0">
                <a:solidFill>
                  <a:schemeClr val="bg1"/>
                </a:solidFill>
                <a:highlight>
                  <a:srgbClr val="000000"/>
                </a:highlight>
              </a:rPr>
              <a:t>alors que la population mondiale était de 7,544 milliards de personnes en 2017</a:t>
            </a:r>
            <a:endParaRPr lang="en-US" sz="1600" b="1" i="1">
              <a:solidFill>
                <a:schemeClr val="bg1"/>
              </a:solidFill>
            </a:endParaRPr>
          </a:p>
          <a:p>
            <a:pPr algn="ctr">
              <a:lnSpc>
                <a:spcPct val="150000"/>
              </a:lnSpc>
              <a:spcBef>
                <a:spcPts val="360"/>
              </a:spcBef>
            </a:pPr>
            <a:r>
              <a:rPr lang="fr-FR" sz="1600" b="1" i="1" dirty="0">
                <a:solidFill>
                  <a:schemeClr val="bg1"/>
                </a:solidFill>
                <a:highlight>
                  <a:srgbClr val="000000"/>
                </a:highlight>
              </a:rPr>
              <a:t>Nous aurions donc théoriquement la capacité de nourrir 91,52 % de la population mondiale en 2017.</a:t>
            </a:r>
            <a:endParaRPr lang="fr-FR" sz="1600" dirty="0">
              <a:solidFill>
                <a:schemeClr val="bg1"/>
              </a:solidFill>
            </a:endParaRPr>
          </a:p>
        </p:txBody>
      </p:sp>
      <p:pic>
        <p:nvPicPr>
          <p:cNvPr id="7" name="Image 6" descr="Une image contenant texte, Police, guide, conception&#10;&#10;Description générée automatiquement">
            <a:extLst>
              <a:ext uri="{FF2B5EF4-FFF2-40B4-BE49-F238E27FC236}">
                <a16:creationId xmlns:a16="http://schemas.microsoft.com/office/drawing/2014/main" id="{A60E50E9-CDCB-3479-65B3-54BB89E59DE5}"/>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10086135" y="-1061"/>
            <a:ext cx="2110040" cy="8543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165"/>
        <p:cNvGrpSpPr/>
        <p:nvPr/>
      </p:nvGrpSpPr>
      <p:grpSpPr>
        <a:xfrm>
          <a:off x="0" y="0"/>
          <a:ext cx="0" cy="0"/>
          <a:chOff x="0" y="0"/>
          <a:chExt cx="0" cy="0"/>
        </a:xfrm>
      </p:grpSpPr>
      <p:sp>
        <p:nvSpPr>
          <p:cNvPr id="166" name="Google Shape;166;p7"/>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dirty="0"/>
              <a:t>4) Répartition de la disponibilité alimentaire</a:t>
            </a:r>
            <a:endParaRPr dirty="0"/>
          </a:p>
        </p:txBody>
      </p:sp>
      <p:sp>
        <p:nvSpPr>
          <p:cNvPr id="168" name="Google Shape;168;p7"/>
          <p:cNvSpPr/>
          <p:nvPr/>
        </p:nvSpPr>
        <p:spPr>
          <a:xfrm>
            <a:off x="12319630" y="1543101"/>
            <a:ext cx="3432000" cy="2582400"/>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Donner la part de l’alimentation humaine, animale et perdue (est-ce qu’on peut aussi calculer les autres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=&gt; Graphique ?</a:t>
            </a:r>
            <a:endParaRPr sz="1400" b="0" i="0" u="none" strike="noStrike" cap="none">
              <a:solidFill>
                <a:srgbClr val="000000"/>
              </a:solidFill>
              <a:latin typeface="Arial"/>
              <a:ea typeface="Arial"/>
              <a:cs typeface="Arial"/>
              <a:sym typeface="Arial"/>
            </a:endParaRPr>
          </a:p>
        </p:txBody>
      </p:sp>
      <p:sp>
        <p:nvSpPr>
          <p:cNvPr id="169" name="Google Shape;169;p7"/>
          <p:cNvSpPr/>
          <p:nvPr/>
        </p:nvSpPr>
        <p:spPr>
          <a:xfrm>
            <a:off x="12324315" y="4223183"/>
            <a:ext cx="3432000" cy="2582400"/>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fr-FR" sz="1600" b="1" i="0" u="sng" strike="noStrike" cap="none">
                <a:solidFill>
                  <a:srgbClr val="000000"/>
                </a:solidFill>
                <a:latin typeface="Century Gothic"/>
                <a:ea typeface="Century Gothic"/>
                <a:cs typeface="Century Gothic"/>
                <a:sym typeface="Century Gothic"/>
              </a:rPr>
              <a:t>Equation </a:t>
            </a:r>
            <a:endParaRPr sz="1600" b="1" i="0" u="sng"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Century Gothic"/>
                <a:ea typeface="Century Gothic"/>
                <a:cs typeface="Century Gothic"/>
                <a:sym typeface="Century Gothic"/>
              </a:rPr>
              <a:t>Production + Importations - Exportations + Variation de stock</a:t>
            </a:r>
            <a:endParaRPr sz="16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Century Gothic"/>
                <a:ea typeface="Century Gothic"/>
                <a:cs typeface="Century Gothic"/>
                <a:sym typeface="Century Gothic"/>
              </a:rPr>
              <a:t>=</a:t>
            </a:r>
            <a:endParaRPr sz="16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Century Gothic"/>
                <a:ea typeface="Century Gothic"/>
                <a:cs typeface="Century Gothic"/>
                <a:sym typeface="Century Gothic"/>
              </a:rPr>
              <a:t>Disponibilité intérieure</a:t>
            </a:r>
            <a:endParaRPr sz="16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Century Gothic"/>
                <a:ea typeface="Century Gothic"/>
                <a:cs typeface="Century Gothic"/>
                <a:sym typeface="Century Gothic"/>
              </a:rPr>
              <a:t>=</a:t>
            </a:r>
            <a:endParaRPr sz="16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Century Gothic"/>
                <a:ea typeface="Century Gothic"/>
                <a:cs typeface="Century Gothic"/>
                <a:sym typeface="Century Gothic"/>
              </a:rPr>
              <a:t>Semences + Pertes + Nourriture + Aliments pour animaux + Traitement + Autres utilisations</a:t>
            </a:r>
            <a:endParaRPr sz="1600" b="0" i="0" u="none" strike="noStrike" cap="none">
              <a:solidFill>
                <a:srgbClr val="000000"/>
              </a:solidFill>
              <a:latin typeface="Century Gothic"/>
              <a:ea typeface="Century Gothic"/>
              <a:cs typeface="Century Gothic"/>
              <a:sym typeface="Century Gothic"/>
            </a:endParaRPr>
          </a:p>
        </p:txBody>
      </p:sp>
      <p:pic>
        <p:nvPicPr>
          <p:cNvPr id="2" name="Image 1" descr="Une image contenant texte, capture d’écran, diagramme, Police&#10;&#10;Description générée automatiquement">
            <a:extLst>
              <a:ext uri="{FF2B5EF4-FFF2-40B4-BE49-F238E27FC236}">
                <a16:creationId xmlns:a16="http://schemas.microsoft.com/office/drawing/2014/main" id="{4C008254-309C-1086-F3D0-CFBB1548A58B}"/>
              </a:ext>
            </a:extLst>
          </p:cNvPr>
          <p:cNvPicPr>
            <a:picLocks noChangeAspect="1"/>
          </p:cNvPicPr>
          <p:nvPr/>
        </p:nvPicPr>
        <p:blipFill>
          <a:blip r:embed="rId3"/>
          <a:stretch>
            <a:fillRect/>
          </a:stretch>
        </p:blipFill>
        <p:spPr>
          <a:xfrm>
            <a:off x="3548744" y="2088765"/>
            <a:ext cx="8534399" cy="4585471"/>
          </a:xfrm>
          <a:prstGeom prst="rect">
            <a:avLst/>
          </a:prstGeom>
          <a:ln w="28575">
            <a:solidFill>
              <a:schemeClr val="accent1">
                <a:lumMod val="40000"/>
                <a:lumOff val="60000"/>
              </a:schemeClr>
            </a:solidFill>
          </a:ln>
        </p:spPr>
      </p:pic>
      <p:sp>
        <p:nvSpPr>
          <p:cNvPr id="4" name="ZoneTexte 3">
            <a:extLst>
              <a:ext uri="{FF2B5EF4-FFF2-40B4-BE49-F238E27FC236}">
                <a16:creationId xmlns:a16="http://schemas.microsoft.com/office/drawing/2014/main" id="{71598A08-8222-5EF4-81D1-10C173FF1174}"/>
              </a:ext>
            </a:extLst>
          </p:cNvPr>
          <p:cNvSpPr txBox="1"/>
          <p:nvPr/>
        </p:nvSpPr>
        <p:spPr>
          <a:xfrm>
            <a:off x="53087" y="3389632"/>
            <a:ext cx="3389182" cy="1815882"/>
          </a:xfrm>
          <a:prstGeom prst="rect">
            <a:avLst/>
          </a:prstGeom>
          <a:solidFill>
            <a:schemeClr val="tx1"/>
          </a:solidFill>
          <a:ln>
            <a:solidFill>
              <a:schemeClr val="accent1">
                <a:lumMod val="40000"/>
                <a:lumOff val="6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1600" b="1" i="1" u="sng" dirty="0">
                <a:solidFill>
                  <a:schemeClr val="bg1"/>
                </a:solidFill>
              </a:rPr>
              <a:t>Répartition alimentaire :</a:t>
            </a:r>
          </a:p>
          <a:p>
            <a:pPr algn="ctr"/>
            <a:endParaRPr lang="fr-FR" sz="1600" b="1" i="1" dirty="0">
              <a:solidFill>
                <a:schemeClr val="bg1"/>
              </a:solidFill>
            </a:endParaRPr>
          </a:p>
          <a:p>
            <a:pPr algn="ctr"/>
            <a:r>
              <a:rPr lang="fr-FR" sz="1600" b="1" i="1" dirty="0">
                <a:solidFill>
                  <a:schemeClr val="bg1"/>
                </a:solidFill>
              </a:rPr>
              <a:t>Aliments pour animaux : 13.2% </a:t>
            </a:r>
            <a:endParaRPr lang="fr-FR" dirty="0">
              <a:solidFill>
                <a:schemeClr val="bg1"/>
              </a:solidFill>
            </a:endParaRPr>
          </a:p>
          <a:p>
            <a:pPr algn="ctr"/>
            <a:endParaRPr lang="fr-FR" sz="1600" b="1" i="1" dirty="0">
              <a:solidFill>
                <a:schemeClr val="bg1"/>
              </a:solidFill>
            </a:endParaRPr>
          </a:p>
          <a:p>
            <a:pPr algn="ctr"/>
            <a:r>
              <a:rPr lang="fr-FR" sz="1600" b="1" i="1" dirty="0">
                <a:solidFill>
                  <a:schemeClr val="bg1"/>
                </a:solidFill>
              </a:rPr>
              <a:t>Pertes : 4.6%</a:t>
            </a:r>
          </a:p>
          <a:p>
            <a:pPr algn="ctr"/>
            <a:endParaRPr lang="fr-FR" sz="1600" b="1" i="1" dirty="0">
              <a:solidFill>
                <a:schemeClr val="bg1"/>
              </a:solidFill>
            </a:endParaRPr>
          </a:p>
          <a:p>
            <a:pPr algn="ctr"/>
            <a:r>
              <a:rPr lang="fr-FR" sz="1600" b="1" i="1" dirty="0">
                <a:solidFill>
                  <a:schemeClr val="bg1"/>
                </a:solidFill>
              </a:rPr>
              <a:t>Nourriture : 49.5%</a:t>
            </a:r>
            <a:endParaRPr lang="fr-FR" sz="1600" b="1" i="1">
              <a:solidFill>
                <a:schemeClr val="bg1"/>
              </a:solidFill>
            </a:endParaRPr>
          </a:p>
        </p:txBody>
      </p:sp>
      <p:pic>
        <p:nvPicPr>
          <p:cNvPr id="5" name="Image 4" descr="Une image contenant texte, Police, guide, conception&#10;&#10;Description générée automatiquement">
            <a:extLst>
              <a:ext uri="{FF2B5EF4-FFF2-40B4-BE49-F238E27FC236}">
                <a16:creationId xmlns:a16="http://schemas.microsoft.com/office/drawing/2014/main" id="{1F6F0746-359D-AC6C-125D-9DEB4B0CE5BB}"/>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0086135" y="-1061"/>
            <a:ext cx="2110040" cy="8543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173"/>
        <p:cNvGrpSpPr/>
        <p:nvPr/>
      </p:nvGrpSpPr>
      <p:grpSpPr>
        <a:xfrm>
          <a:off x="0" y="0"/>
          <a:ext cx="0" cy="0"/>
          <a:chOff x="0" y="0"/>
          <a:chExt cx="0" cy="0"/>
        </a:xfrm>
      </p:grpSpPr>
      <p:sp>
        <p:nvSpPr>
          <p:cNvPr id="174" name="Google Shape;174;p8"/>
          <p:cNvSpPr txBox="1">
            <a:spLocks noGrp="1"/>
          </p:cNvSpPr>
          <p:nvPr>
            <p:ph type="title"/>
          </p:nvPr>
        </p:nvSpPr>
        <p:spPr>
          <a:xfrm>
            <a:off x="810000" y="425417"/>
            <a:ext cx="9189513" cy="99222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5) Part de l’utilisation des principales céréales entre l’alimentation humaine et animale</a:t>
            </a:r>
            <a:endParaRPr/>
          </a:p>
        </p:txBody>
      </p:sp>
      <p:sp>
        <p:nvSpPr>
          <p:cNvPr id="176" name="Google Shape;176;p8"/>
          <p:cNvSpPr/>
          <p:nvPr/>
        </p:nvSpPr>
        <p:spPr>
          <a:xfrm>
            <a:off x="12351061" y="1865682"/>
            <a:ext cx="4596600" cy="4914600"/>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Noms des céréales que j’ai récupérés sur le site de la FAO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Blé</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Riz (Eq Blanchi)</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Orge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Maïs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Seigle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Avoine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Millet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Sorgho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Céréales, </a:t>
            </a: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Autres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Est-ce qu’il ne faut donner que le total ou le détail par céréales et pour les humains et les animaux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Je ne sais pas encore, à voir. </a:t>
            </a:r>
            <a:endParaRPr sz="1400" b="0" i="0" u="none" strike="noStrike" cap="none">
              <a:solidFill>
                <a:srgbClr val="000000"/>
              </a:solidFill>
              <a:latin typeface="Arial"/>
              <a:ea typeface="Arial"/>
              <a:cs typeface="Arial"/>
              <a:sym typeface="Arial"/>
            </a:endParaRPr>
          </a:p>
        </p:txBody>
      </p:sp>
      <p:sp>
        <p:nvSpPr>
          <p:cNvPr id="3" name="ZoneTexte 2">
            <a:extLst>
              <a:ext uri="{FF2B5EF4-FFF2-40B4-BE49-F238E27FC236}">
                <a16:creationId xmlns:a16="http://schemas.microsoft.com/office/drawing/2014/main" id="{E6D5D40A-CE3D-F656-B014-59882D79AEC6}"/>
              </a:ext>
            </a:extLst>
          </p:cNvPr>
          <p:cNvSpPr txBox="1"/>
          <p:nvPr/>
        </p:nvSpPr>
        <p:spPr>
          <a:xfrm>
            <a:off x="1587973" y="2366375"/>
            <a:ext cx="7754354" cy="338554"/>
          </a:xfrm>
          <a:prstGeom prst="rect">
            <a:avLst/>
          </a:prstGeom>
          <a:solidFill>
            <a:schemeClr val="tx1"/>
          </a:solidFill>
          <a:ln>
            <a:solidFill>
              <a:schemeClr val="accent1">
                <a:lumMod val="40000"/>
                <a:lumOff val="6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1600" b="1" i="1" dirty="0">
                <a:solidFill>
                  <a:schemeClr val="bg1"/>
                </a:solidFill>
              </a:rPr>
              <a:t>Disponibilité alimentaire mondial concernant les céréales : 873535000 tonnes</a:t>
            </a:r>
            <a:endParaRPr lang="fr-FR" dirty="0">
              <a:solidFill>
                <a:schemeClr val="bg1"/>
              </a:solidFill>
            </a:endParaRPr>
          </a:p>
        </p:txBody>
      </p:sp>
      <p:pic>
        <p:nvPicPr>
          <p:cNvPr id="4" name="Image 3" descr="Une image contenant texte, capture d’écran, Police, diagramme&#10;&#10;Description générée automatiquement">
            <a:extLst>
              <a:ext uri="{FF2B5EF4-FFF2-40B4-BE49-F238E27FC236}">
                <a16:creationId xmlns:a16="http://schemas.microsoft.com/office/drawing/2014/main" id="{89784F7A-948F-2C91-BD9A-58DE41BD7C4D}"/>
              </a:ext>
            </a:extLst>
          </p:cNvPr>
          <p:cNvPicPr>
            <a:picLocks noChangeAspect="1"/>
          </p:cNvPicPr>
          <p:nvPr/>
        </p:nvPicPr>
        <p:blipFill>
          <a:blip r:embed="rId3"/>
          <a:stretch>
            <a:fillRect/>
          </a:stretch>
        </p:blipFill>
        <p:spPr>
          <a:xfrm>
            <a:off x="594495" y="2951404"/>
            <a:ext cx="5070295" cy="3676615"/>
          </a:xfrm>
          <a:prstGeom prst="rect">
            <a:avLst/>
          </a:prstGeom>
          <a:ln w="12700">
            <a:solidFill>
              <a:schemeClr val="accent1">
                <a:lumMod val="40000"/>
                <a:lumOff val="60000"/>
              </a:schemeClr>
            </a:solidFill>
          </a:ln>
        </p:spPr>
      </p:pic>
      <p:pic>
        <p:nvPicPr>
          <p:cNvPr id="5" name="Image 4" descr="Une image contenant texte, capture d’écran, Police, diagramme&#10;&#10;Description générée automatiquement">
            <a:extLst>
              <a:ext uri="{FF2B5EF4-FFF2-40B4-BE49-F238E27FC236}">
                <a16:creationId xmlns:a16="http://schemas.microsoft.com/office/drawing/2014/main" id="{867F7511-D7AA-F7FB-7C14-CA55004E727E}"/>
              </a:ext>
            </a:extLst>
          </p:cNvPr>
          <p:cNvPicPr>
            <a:picLocks noChangeAspect="1"/>
          </p:cNvPicPr>
          <p:nvPr/>
        </p:nvPicPr>
        <p:blipFill>
          <a:blip r:embed="rId4"/>
          <a:stretch>
            <a:fillRect/>
          </a:stretch>
        </p:blipFill>
        <p:spPr>
          <a:xfrm>
            <a:off x="5987045" y="2949764"/>
            <a:ext cx="5573677" cy="3679899"/>
          </a:xfrm>
          <a:prstGeom prst="rect">
            <a:avLst/>
          </a:prstGeom>
          <a:ln w="12700">
            <a:solidFill>
              <a:schemeClr val="accent1">
                <a:lumMod val="40000"/>
                <a:lumOff val="60000"/>
              </a:schemeClr>
            </a:solidFill>
          </a:ln>
        </p:spPr>
      </p:pic>
      <p:pic>
        <p:nvPicPr>
          <p:cNvPr id="6" name="Image 5" descr="Une image contenant texte, Police, guide, conception&#10;&#10;Description générée automatiquement">
            <a:extLst>
              <a:ext uri="{FF2B5EF4-FFF2-40B4-BE49-F238E27FC236}">
                <a16:creationId xmlns:a16="http://schemas.microsoft.com/office/drawing/2014/main" id="{566CB198-2DD9-F0C3-CB35-E2F183FA4119}"/>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10086135" y="-1061"/>
            <a:ext cx="2110040" cy="8543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180"/>
        <p:cNvGrpSpPr/>
        <p:nvPr/>
      </p:nvGrpSpPr>
      <p:grpSpPr>
        <a:xfrm>
          <a:off x="0" y="0"/>
          <a:ext cx="0" cy="0"/>
          <a:chOff x="0" y="0"/>
          <a:chExt cx="0" cy="0"/>
        </a:xfrm>
      </p:grpSpPr>
      <p:sp>
        <p:nvSpPr>
          <p:cNvPr id="181" name="Google Shape;181;p9"/>
          <p:cNvSpPr txBox="1">
            <a:spLocks noGrp="1"/>
          </p:cNvSpPr>
          <p:nvPr>
            <p:ph type="title"/>
          </p:nvPr>
        </p:nvSpPr>
        <p:spPr>
          <a:xfrm>
            <a:off x="810000" y="425417"/>
            <a:ext cx="9222170" cy="1286135"/>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6) Liste des 10 pays où la proportion de personnes en état de sous-nutrition est la plus forte en </a:t>
            </a:r>
            <a:r>
              <a:rPr lang="fr-FR" sz="3200">
                <a:solidFill>
                  <a:schemeClr val="lt1"/>
                </a:solidFill>
              </a:rPr>
              <a:t>2017</a:t>
            </a:r>
            <a:endParaRPr/>
          </a:p>
        </p:txBody>
      </p:sp>
      <p:sp>
        <p:nvSpPr>
          <p:cNvPr id="183" name="Google Shape;183;p9"/>
          <p:cNvSpPr/>
          <p:nvPr/>
        </p:nvSpPr>
        <p:spPr>
          <a:xfrm>
            <a:off x="12288159" y="2938440"/>
            <a:ext cx="3432024" cy="2582431"/>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Graphique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Tableau de chiffres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À voir </a:t>
            </a:r>
            <a:endParaRPr sz="1400" b="0" i="0" u="none" strike="noStrike" cap="none">
              <a:solidFill>
                <a:srgbClr val="000000"/>
              </a:solidFill>
              <a:latin typeface="Arial"/>
              <a:ea typeface="Arial"/>
              <a:cs typeface="Arial"/>
              <a:sym typeface="Arial"/>
            </a:endParaRPr>
          </a:p>
        </p:txBody>
      </p:sp>
      <p:pic>
        <p:nvPicPr>
          <p:cNvPr id="2" name="Image 1" descr="Une image contenant texte, capture d’écran, logiciel&#10;&#10;Description générée automatiquement">
            <a:extLst>
              <a:ext uri="{FF2B5EF4-FFF2-40B4-BE49-F238E27FC236}">
                <a16:creationId xmlns:a16="http://schemas.microsoft.com/office/drawing/2014/main" id="{72D9A1CD-3B0D-54B2-47F6-609AF0245FB6}"/>
              </a:ext>
            </a:extLst>
          </p:cNvPr>
          <p:cNvPicPr>
            <a:picLocks noChangeAspect="1"/>
          </p:cNvPicPr>
          <p:nvPr/>
        </p:nvPicPr>
        <p:blipFill>
          <a:blip r:embed="rId3"/>
          <a:stretch>
            <a:fillRect/>
          </a:stretch>
        </p:blipFill>
        <p:spPr>
          <a:xfrm>
            <a:off x="272143" y="2371829"/>
            <a:ext cx="11658599" cy="4291482"/>
          </a:xfrm>
          <a:prstGeom prst="rect">
            <a:avLst/>
          </a:prstGeom>
          <a:ln>
            <a:solidFill>
              <a:schemeClr val="accent1">
                <a:lumMod val="40000"/>
                <a:lumOff val="60000"/>
              </a:schemeClr>
            </a:solidFill>
          </a:ln>
        </p:spPr>
      </p:pic>
      <p:pic>
        <p:nvPicPr>
          <p:cNvPr id="4" name="Image 3" descr="Une image contenant texte, Police, guide, conception&#10;&#10;Description générée automatiquement">
            <a:extLst>
              <a:ext uri="{FF2B5EF4-FFF2-40B4-BE49-F238E27FC236}">
                <a16:creationId xmlns:a16="http://schemas.microsoft.com/office/drawing/2014/main" id="{AADBD5F6-31A3-F7E3-1B66-19290579BB69}"/>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0086135" y="-1061"/>
            <a:ext cx="2110040" cy="8543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180">
          <a:extLst>
            <a:ext uri="{FF2B5EF4-FFF2-40B4-BE49-F238E27FC236}">
              <a16:creationId xmlns:a16="http://schemas.microsoft.com/office/drawing/2014/main" id="{73FF7070-FEFD-1C82-AF54-C8870470F7E4}"/>
            </a:ext>
          </a:extLst>
        </p:cNvPr>
        <p:cNvGrpSpPr/>
        <p:nvPr/>
      </p:nvGrpSpPr>
      <p:grpSpPr>
        <a:xfrm>
          <a:off x="0" y="0"/>
          <a:ext cx="0" cy="0"/>
          <a:chOff x="0" y="0"/>
          <a:chExt cx="0" cy="0"/>
        </a:xfrm>
      </p:grpSpPr>
      <p:sp>
        <p:nvSpPr>
          <p:cNvPr id="181" name="Google Shape;181;p9">
            <a:extLst>
              <a:ext uri="{FF2B5EF4-FFF2-40B4-BE49-F238E27FC236}">
                <a16:creationId xmlns:a16="http://schemas.microsoft.com/office/drawing/2014/main" id="{5B91DFCD-506C-CE7B-A5E2-51635A291217}"/>
              </a:ext>
            </a:extLst>
          </p:cNvPr>
          <p:cNvSpPr txBox="1">
            <a:spLocks noGrp="1"/>
          </p:cNvSpPr>
          <p:nvPr>
            <p:ph type="title"/>
          </p:nvPr>
        </p:nvSpPr>
        <p:spPr>
          <a:xfrm>
            <a:off x="810000" y="719331"/>
            <a:ext cx="9156856" cy="99222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6) Liste des 10 pays où la proportion de personnes en état de sous-nutrition est la plus forte en </a:t>
            </a:r>
            <a:r>
              <a:rPr lang="fr-FR" sz="3200">
                <a:solidFill>
                  <a:schemeClr val="lt1"/>
                </a:solidFill>
              </a:rPr>
              <a:t>2017</a:t>
            </a:r>
            <a:endParaRPr/>
          </a:p>
        </p:txBody>
      </p:sp>
      <p:sp>
        <p:nvSpPr>
          <p:cNvPr id="183" name="Google Shape;183;p9">
            <a:extLst>
              <a:ext uri="{FF2B5EF4-FFF2-40B4-BE49-F238E27FC236}">
                <a16:creationId xmlns:a16="http://schemas.microsoft.com/office/drawing/2014/main" id="{BB57F47A-95A1-BE9A-346B-7214FCD0836E}"/>
              </a:ext>
            </a:extLst>
          </p:cNvPr>
          <p:cNvSpPr/>
          <p:nvPr/>
        </p:nvSpPr>
        <p:spPr>
          <a:xfrm>
            <a:off x="12288159" y="2938440"/>
            <a:ext cx="3432024" cy="2582431"/>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Graphique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Tableau de chiffres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À voir </a:t>
            </a:r>
            <a:endParaRPr sz="1400" b="0" i="0" u="none" strike="noStrike" cap="none">
              <a:solidFill>
                <a:srgbClr val="000000"/>
              </a:solidFill>
              <a:latin typeface="Arial"/>
              <a:ea typeface="Arial"/>
              <a:cs typeface="Arial"/>
              <a:sym typeface="Arial"/>
            </a:endParaRPr>
          </a:p>
        </p:txBody>
      </p:sp>
      <p:pic>
        <p:nvPicPr>
          <p:cNvPr id="4" name="Image 3" descr="Une image contenant texte, capture d’écran, diagramme, Caractère coloré&#10;&#10;Description générée automatiquement">
            <a:extLst>
              <a:ext uri="{FF2B5EF4-FFF2-40B4-BE49-F238E27FC236}">
                <a16:creationId xmlns:a16="http://schemas.microsoft.com/office/drawing/2014/main" id="{454FAF0A-97AD-835D-36D7-A7A7C8F84224}"/>
              </a:ext>
            </a:extLst>
          </p:cNvPr>
          <p:cNvPicPr>
            <a:picLocks noChangeAspect="1"/>
          </p:cNvPicPr>
          <p:nvPr/>
        </p:nvPicPr>
        <p:blipFill rotWithShape="1">
          <a:blip r:embed="rId3"/>
          <a:srcRect l="4054" t="8949" r="541" b="6711"/>
          <a:stretch/>
        </p:blipFill>
        <p:spPr>
          <a:xfrm>
            <a:off x="76201" y="2365854"/>
            <a:ext cx="12025741" cy="4309328"/>
          </a:xfrm>
          <a:prstGeom prst="rect">
            <a:avLst/>
          </a:prstGeom>
          <a:ln w="28575">
            <a:solidFill>
              <a:schemeClr val="accent1">
                <a:lumMod val="40000"/>
                <a:lumOff val="60000"/>
              </a:schemeClr>
            </a:solidFill>
          </a:ln>
        </p:spPr>
      </p:pic>
      <p:pic>
        <p:nvPicPr>
          <p:cNvPr id="3" name="Image 2" descr="Une image contenant texte, Police, guide, conception&#10;&#10;Description générée automatiquement">
            <a:extLst>
              <a:ext uri="{FF2B5EF4-FFF2-40B4-BE49-F238E27FC236}">
                <a16:creationId xmlns:a16="http://schemas.microsoft.com/office/drawing/2014/main" id="{6715C52B-C47A-8D9D-A826-AEDE7C267273}"/>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0086135" y="-1061"/>
            <a:ext cx="2110040" cy="854340"/>
          </a:xfrm>
          <a:prstGeom prst="rect">
            <a:avLst/>
          </a:prstGeom>
        </p:spPr>
      </p:pic>
    </p:spTree>
    <p:extLst>
      <p:ext uri="{BB962C8B-B14F-4D97-AF65-F5344CB8AC3E}">
        <p14:creationId xmlns:p14="http://schemas.microsoft.com/office/powerpoint/2010/main" val="3818405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187"/>
        <p:cNvGrpSpPr/>
        <p:nvPr/>
      </p:nvGrpSpPr>
      <p:grpSpPr>
        <a:xfrm>
          <a:off x="0" y="0"/>
          <a:ext cx="0" cy="0"/>
          <a:chOff x="0" y="0"/>
          <a:chExt cx="0" cy="0"/>
        </a:xfrm>
      </p:grpSpPr>
      <p:sp>
        <p:nvSpPr>
          <p:cNvPr id="188" name="Google Shape;188;p10"/>
          <p:cNvSpPr txBox="1">
            <a:spLocks noGrp="1"/>
          </p:cNvSpPr>
          <p:nvPr>
            <p:ph type="title"/>
          </p:nvPr>
        </p:nvSpPr>
        <p:spPr>
          <a:xfrm>
            <a:off x="810000" y="425417"/>
            <a:ext cx="9037113" cy="99222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7) Liste des 10 pays qui ont le plus bénéficié de l’aide alimentaire entre 2013 et 2016</a:t>
            </a:r>
            <a:endParaRPr/>
          </a:p>
        </p:txBody>
      </p:sp>
      <p:sp>
        <p:nvSpPr>
          <p:cNvPr id="190" name="Google Shape;190;p10"/>
          <p:cNvSpPr/>
          <p:nvPr/>
        </p:nvSpPr>
        <p:spPr>
          <a:xfrm>
            <a:off x="12299044" y="2666298"/>
            <a:ext cx="3432024" cy="2582431"/>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Tableau de chiffres ?</a:t>
            </a: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entury Gothic"/>
                <a:ea typeface="Century Gothic"/>
                <a:cs typeface="Century Gothic"/>
                <a:sym typeface="Century Gothic"/>
              </a:rPr>
              <a:t>Podium ? </a:t>
            </a:r>
            <a:r>
              <a:rPr lang="fr-FR" sz="1800" b="0" i="0" u="none" strike="noStrike" cap="none">
                <a:solidFill>
                  <a:srgbClr val="000000"/>
                </a:solidFill>
                <a:latin typeface="Century Gothic"/>
                <a:ea typeface="Century Gothic"/>
                <a:cs typeface="Century Gothic"/>
                <a:sym typeface="Century Gothic"/>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À voir </a:t>
            </a:r>
            <a:endParaRPr sz="1400" b="0" i="0" u="none" strike="noStrike" cap="none">
              <a:solidFill>
                <a:srgbClr val="000000"/>
              </a:solidFill>
              <a:latin typeface="Arial"/>
              <a:ea typeface="Arial"/>
              <a:cs typeface="Arial"/>
              <a:sym typeface="Arial"/>
            </a:endParaRPr>
          </a:p>
        </p:txBody>
      </p:sp>
      <p:pic>
        <p:nvPicPr>
          <p:cNvPr id="3" name="Image 2" descr="Une image contenant texte, capture d’écran, diagramme, Tracé&#10;&#10;Description générée automatiquement">
            <a:extLst>
              <a:ext uri="{FF2B5EF4-FFF2-40B4-BE49-F238E27FC236}">
                <a16:creationId xmlns:a16="http://schemas.microsoft.com/office/drawing/2014/main" id="{53C4632F-ABC3-0F52-E49F-3C63CA8EF1F1}"/>
              </a:ext>
            </a:extLst>
          </p:cNvPr>
          <p:cNvPicPr>
            <a:picLocks noChangeAspect="1"/>
          </p:cNvPicPr>
          <p:nvPr/>
        </p:nvPicPr>
        <p:blipFill>
          <a:blip r:embed="rId3"/>
          <a:stretch>
            <a:fillRect/>
          </a:stretch>
        </p:blipFill>
        <p:spPr>
          <a:xfrm>
            <a:off x="61912" y="2304370"/>
            <a:ext cx="12068175" cy="4448175"/>
          </a:xfrm>
          <a:prstGeom prst="rect">
            <a:avLst/>
          </a:prstGeom>
        </p:spPr>
      </p:pic>
      <p:pic>
        <p:nvPicPr>
          <p:cNvPr id="4" name="Image 3" descr="Une image contenant texte, Police, guide, conception&#10;&#10;Description générée automatiquement">
            <a:extLst>
              <a:ext uri="{FF2B5EF4-FFF2-40B4-BE49-F238E27FC236}">
                <a16:creationId xmlns:a16="http://schemas.microsoft.com/office/drawing/2014/main" id="{F60F27C5-489D-DFC2-BB24-8CA396375B44}"/>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0086135" y="-1061"/>
            <a:ext cx="2110040" cy="8543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194"/>
        <p:cNvGrpSpPr/>
        <p:nvPr/>
      </p:nvGrpSpPr>
      <p:grpSpPr>
        <a:xfrm>
          <a:off x="0" y="0"/>
          <a:ext cx="0" cy="0"/>
          <a:chOff x="0" y="0"/>
          <a:chExt cx="0" cy="0"/>
        </a:xfrm>
      </p:grpSpPr>
      <p:sp>
        <p:nvSpPr>
          <p:cNvPr id="195" name="Google Shape;195;g2233f607d43_0_0"/>
          <p:cNvSpPr txBox="1">
            <a:spLocks noGrp="1"/>
          </p:cNvSpPr>
          <p:nvPr>
            <p:ph type="title"/>
          </p:nvPr>
        </p:nvSpPr>
        <p:spPr>
          <a:xfrm>
            <a:off x="777343" y="719331"/>
            <a:ext cx="9091543" cy="99227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8) Évolution de l’aide alimentaire pour les 5 pays qui en ont le plus bénéficié entre 2013 et 2016</a:t>
            </a:r>
            <a:endParaRPr/>
          </a:p>
        </p:txBody>
      </p:sp>
      <p:sp>
        <p:nvSpPr>
          <p:cNvPr id="197" name="Google Shape;197;g2233f607d43_0_0"/>
          <p:cNvSpPr/>
          <p:nvPr/>
        </p:nvSpPr>
        <p:spPr>
          <a:xfrm>
            <a:off x="12353473" y="2786041"/>
            <a:ext cx="3432000" cy="2582400"/>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Graphique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Tableau de chiffres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À voir </a:t>
            </a:r>
            <a:endParaRPr sz="1400" b="0" i="0" u="none" strike="noStrike" cap="none">
              <a:solidFill>
                <a:srgbClr val="000000"/>
              </a:solidFill>
              <a:latin typeface="Arial"/>
              <a:ea typeface="Arial"/>
              <a:cs typeface="Arial"/>
              <a:sym typeface="Arial"/>
            </a:endParaRPr>
          </a:p>
        </p:txBody>
      </p:sp>
      <p:pic>
        <p:nvPicPr>
          <p:cNvPr id="2" name="Image 1" descr="Une image contenant texte, capture d’écran, Caractère coloré, diagramme&#10;&#10;Description générée automatiquement">
            <a:extLst>
              <a:ext uri="{FF2B5EF4-FFF2-40B4-BE49-F238E27FC236}">
                <a16:creationId xmlns:a16="http://schemas.microsoft.com/office/drawing/2014/main" id="{AE1B364E-9298-D15A-5729-7F85E9944802}"/>
              </a:ext>
            </a:extLst>
          </p:cNvPr>
          <p:cNvPicPr>
            <a:picLocks noChangeAspect="1"/>
          </p:cNvPicPr>
          <p:nvPr/>
        </p:nvPicPr>
        <p:blipFill rotWithShape="1">
          <a:blip r:embed="rId3"/>
          <a:srcRect l="3333" t="9912" r="-90" b="11105"/>
          <a:stretch/>
        </p:blipFill>
        <p:spPr>
          <a:xfrm>
            <a:off x="87086" y="2463823"/>
            <a:ext cx="12028365" cy="4131689"/>
          </a:xfrm>
          <a:prstGeom prst="rect">
            <a:avLst/>
          </a:prstGeom>
          <a:ln w="28575">
            <a:solidFill>
              <a:schemeClr val="accent1">
                <a:lumMod val="40000"/>
                <a:lumOff val="60000"/>
              </a:schemeClr>
            </a:solidFill>
          </a:ln>
        </p:spPr>
      </p:pic>
      <p:pic>
        <p:nvPicPr>
          <p:cNvPr id="4" name="Image 3" descr="Une image contenant texte, Police, guide, conception&#10;&#10;Description générée automatiquement">
            <a:extLst>
              <a:ext uri="{FF2B5EF4-FFF2-40B4-BE49-F238E27FC236}">
                <a16:creationId xmlns:a16="http://schemas.microsoft.com/office/drawing/2014/main" id="{53FE285F-09EB-D648-F339-AE2E4623CF98}"/>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0086135" y="-1061"/>
            <a:ext cx="2110040" cy="8543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201"/>
        <p:cNvGrpSpPr/>
        <p:nvPr/>
      </p:nvGrpSpPr>
      <p:grpSpPr>
        <a:xfrm>
          <a:off x="0" y="0"/>
          <a:ext cx="0" cy="0"/>
          <a:chOff x="0" y="0"/>
          <a:chExt cx="0" cy="0"/>
        </a:xfrm>
      </p:grpSpPr>
      <p:sp>
        <p:nvSpPr>
          <p:cNvPr id="202" name="Google Shape;202;p11"/>
          <p:cNvSpPr txBox="1">
            <a:spLocks noGrp="1"/>
          </p:cNvSpPr>
          <p:nvPr>
            <p:ph type="title"/>
          </p:nvPr>
        </p:nvSpPr>
        <p:spPr>
          <a:xfrm>
            <a:off x="810000" y="425417"/>
            <a:ext cx="9004456" cy="99222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9) Liste des 10 pays qui ont la plus forte disponibilité alimentaire par habitant</a:t>
            </a:r>
            <a:endParaRPr sz="3200"/>
          </a:p>
        </p:txBody>
      </p:sp>
      <p:sp>
        <p:nvSpPr>
          <p:cNvPr id="204" name="Google Shape;204;p11"/>
          <p:cNvSpPr/>
          <p:nvPr/>
        </p:nvSpPr>
        <p:spPr>
          <a:xfrm>
            <a:off x="12410695" y="2835171"/>
            <a:ext cx="3432024" cy="2582431"/>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Graphique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Tableau de chiffres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Podium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À voir </a:t>
            </a:r>
            <a:endParaRPr sz="1400" b="0" i="0" u="none" strike="noStrike" cap="none">
              <a:solidFill>
                <a:srgbClr val="000000"/>
              </a:solidFill>
              <a:latin typeface="Arial"/>
              <a:ea typeface="Arial"/>
              <a:cs typeface="Arial"/>
              <a:sym typeface="Arial"/>
            </a:endParaRPr>
          </a:p>
        </p:txBody>
      </p:sp>
      <p:pic>
        <p:nvPicPr>
          <p:cNvPr id="2" name="Image 1" descr="Une image contenant texte, capture d’écran, Caractère coloré, diagramme&#10;&#10;Description générée automatiquement">
            <a:extLst>
              <a:ext uri="{FF2B5EF4-FFF2-40B4-BE49-F238E27FC236}">
                <a16:creationId xmlns:a16="http://schemas.microsoft.com/office/drawing/2014/main" id="{1460B8FD-55D0-E0E2-1290-84F2D8A9AD96}"/>
              </a:ext>
            </a:extLst>
          </p:cNvPr>
          <p:cNvPicPr>
            <a:picLocks noChangeAspect="1"/>
          </p:cNvPicPr>
          <p:nvPr/>
        </p:nvPicPr>
        <p:blipFill rotWithShape="1">
          <a:blip r:embed="rId3"/>
          <a:srcRect l="2319" t="7075" b="10377"/>
          <a:stretch/>
        </p:blipFill>
        <p:spPr>
          <a:xfrm>
            <a:off x="108856" y="2300538"/>
            <a:ext cx="11974291" cy="4444335"/>
          </a:xfrm>
          <a:prstGeom prst="rect">
            <a:avLst/>
          </a:prstGeom>
          <a:ln w="28575">
            <a:solidFill>
              <a:schemeClr val="accent1">
                <a:lumMod val="40000"/>
                <a:lumOff val="60000"/>
              </a:schemeClr>
            </a:solidFill>
          </a:ln>
        </p:spPr>
      </p:pic>
      <p:pic>
        <p:nvPicPr>
          <p:cNvPr id="4" name="Image 3" descr="Une image contenant texte, Police, guide, conception&#10;&#10;Description générée automatiquement">
            <a:extLst>
              <a:ext uri="{FF2B5EF4-FFF2-40B4-BE49-F238E27FC236}">
                <a16:creationId xmlns:a16="http://schemas.microsoft.com/office/drawing/2014/main" id="{B5065A7A-EE89-95A5-81F7-7DF05E4386C9}"/>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0086135" y="-1061"/>
            <a:ext cx="2110040" cy="8543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208"/>
        <p:cNvGrpSpPr/>
        <p:nvPr/>
      </p:nvGrpSpPr>
      <p:grpSpPr>
        <a:xfrm>
          <a:off x="0" y="0"/>
          <a:ext cx="0" cy="0"/>
          <a:chOff x="0" y="0"/>
          <a:chExt cx="0" cy="0"/>
        </a:xfrm>
      </p:grpSpPr>
      <p:sp>
        <p:nvSpPr>
          <p:cNvPr id="209" name="Google Shape;209;p12"/>
          <p:cNvSpPr txBox="1">
            <a:spLocks noGrp="1"/>
          </p:cNvSpPr>
          <p:nvPr>
            <p:ph type="title"/>
          </p:nvPr>
        </p:nvSpPr>
        <p:spPr>
          <a:xfrm>
            <a:off x="810000" y="425417"/>
            <a:ext cx="9015341" cy="99222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9) Liste des 10 pays qui ont la plus faible disponibilité alimentaire par habitant</a:t>
            </a:r>
            <a:endParaRPr/>
          </a:p>
        </p:txBody>
      </p:sp>
      <p:sp>
        <p:nvSpPr>
          <p:cNvPr id="211" name="Google Shape;211;p12"/>
          <p:cNvSpPr/>
          <p:nvPr/>
        </p:nvSpPr>
        <p:spPr>
          <a:xfrm>
            <a:off x="12331701" y="2720726"/>
            <a:ext cx="3432024" cy="2582431"/>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Graphique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Tableau de chiffres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Podium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À voir </a:t>
            </a:r>
            <a:endParaRPr sz="1400" b="0" i="0" u="none" strike="noStrike" cap="none">
              <a:solidFill>
                <a:srgbClr val="000000"/>
              </a:solidFill>
              <a:latin typeface="Arial"/>
              <a:ea typeface="Arial"/>
              <a:cs typeface="Arial"/>
              <a:sym typeface="Arial"/>
            </a:endParaRPr>
          </a:p>
        </p:txBody>
      </p:sp>
      <p:pic>
        <p:nvPicPr>
          <p:cNvPr id="2" name="Image 1" descr="Une image contenant texte, capture d’écran, diagramme, Caractère coloré&#10;&#10;Description générée automatiquement">
            <a:extLst>
              <a:ext uri="{FF2B5EF4-FFF2-40B4-BE49-F238E27FC236}">
                <a16:creationId xmlns:a16="http://schemas.microsoft.com/office/drawing/2014/main" id="{F4317407-BA29-34CE-29FF-48CD8CD01C68}"/>
              </a:ext>
            </a:extLst>
          </p:cNvPr>
          <p:cNvPicPr>
            <a:picLocks noChangeAspect="1"/>
          </p:cNvPicPr>
          <p:nvPr/>
        </p:nvPicPr>
        <p:blipFill rotWithShape="1">
          <a:blip r:embed="rId3"/>
          <a:srcRect l="2401" t="8899" b="6323"/>
          <a:stretch/>
        </p:blipFill>
        <p:spPr>
          <a:xfrm>
            <a:off x="65314" y="2300538"/>
            <a:ext cx="12061375" cy="4433531"/>
          </a:xfrm>
          <a:prstGeom prst="rect">
            <a:avLst/>
          </a:prstGeom>
          <a:ln w="28575">
            <a:solidFill>
              <a:schemeClr val="accent1">
                <a:lumMod val="40000"/>
                <a:lumOff val="60000"/>
              </a:schemeClr>
            </a:solidFill>
          </a:ln>
        </p:spPr>
      </p:pic>
      <p:pic>
        <p:nvPicPr>
          <p:cNvPr id="4" name="Image 3" descr="Une image contenant texte, Police, guide, conception&#10;&#10;Description générée automatiquement">
            <a:extLst>
              <a:ext uri="{FF2B5EF4-FFF2-40B4-BE49-F238E27FC236}">
                <a16:creationId xmlns:a16="http://schemas.microsoft.com/office/drawing/2014/main" id="{90467D68-BE29-A998-90CD-A66C6323E9E9}"/>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0086135" y="-1061"/>
            <a:ext cx="2110040" cy="8543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215"/>
        <p:cNvGrpSpPr/>
        <p:nvPr/>
      </p:nvGrpSpPr>
      <p:grpSpPr>
        <a:xfrm>
          <a:off x="0" y="0"/>
          <a:ext cx="0" cy="0"/>
          <a:chOff x="0" y="0"/>
          <a:chExt cx="0" cy="0"/>
        </a:xfrm>
      </p:grpSpPr>
      <p:sp>
        <p:nvSpPr>
          <p:cNvPr id="216" name="Google Shape;216;p13"/>
          <p:cNvSpPr txBox="1">
            <a:spLocks noGrp="1"/>
          </p:cNvSpPr>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a:buSzPts val="3200"/>
            </a:pPr>
            <a:r>
              <a:rPr lang="fr-FR" sz="3200" dirty="0"/>
              <a:t>10) Étude sur le manioc en Thaïlande | 2017</a:t>
            </a:r>
            <a:endParaRPr dirty="0"/>
          </a:p>
        </p:txBody>
      </p:sp>
      <p:sp>
        <p:nvSpPr>
          <p:cNvPr id="217" name="Google Shape;217;p13"/>
          <p:cNvSpPr txBox="1">
            <a:spLocks noGrp="1"/>
          </p:cNvSpPr>
          <p:nvPr>
            <p:ph type="body" idx="1"/>
          </p:nvPr>
        </p:nvSpPr>
        <p:spPr>
          <a:xfrm>
            <a:off x="4487198" y="3016943"/>
            <a:ext cx="7561001" cy="827997"/>
          </a:xfrm>
          <a:prstGeom prst="rect">
            <a:avLst/>
          </a:prstGeom>
          <a:solidFill>
            <a:schemeClr val="tx1"/>
          </a:solidFill>
          <a:ln>
            <a:solidFill>
              <a:schemeClr val="accent1">
                <a:lumMod val="40000"/>
                <a:lumOff val="60000"/>
              </a:schemeClr>
            </a:solidFill>
          </a:ln>
          <a:effectLst>
            <a:outerShdw blurRad="50800">
              <a:srgbClr val="000000">
                <a:alpha val="40000"/>
              </a:srgbClr>
            </a:outerShdw>
          </a:effectLst>
        </p:spPr>
        <p:txBody>
          <a:bodyPr spcFirstLastPara="1" wrap="square" lIns="91425" tIns="45700" rIns="91425" bIns="45700" anchor="ctr" anchorCtr="0">
            <a:normAutofit fontScale="92500" lnSpcReduction="20000"/>
          </a:bodyPr>
          <a:lstStyle/>
          <a:p>
            <a:pPr marL="0" indent="0" algn="ctr">
              <a:spcBef>
                <a:spcPts val="0"/>
              </a:spcBef>
              <a:buNone/>
            </a:pPr>
            <a:r>
              <a:rPr lang="fr-FR" sz="1600" b="1" i="1" dirty="0">
                <a:solidFill>
                  <a:schemeClr val="bg1"/>
                </a:solidFill>
                <a:highlight>
                  <a:srgbClr val="000000"/>
                </a:highlight>
                <a:latin typeface="Arial"/>
                <a:cs typeface="Arial"/>
              </a:rPr>
              <a:t>La proportion de personnes en état de sous-nutrition en Thaïlande est de 9.0 % </a:t>
            </a:r>
            <a:endParaRPr lang="fr-FR" sz="1600" b="1" i="1">
              <a:solidFill>
                <a:schemeClr val="bg1"/>
              </a:solidFill>
              <a:latin typeface="Arial"/>
              <a:cs typeface="Arial"/>
            </a:endParaRPr>
          </a:p>
          <a:p>
            <a:pPr marL="0" indent="0" algn="ctr">
              <a:spcBef>
                <a:spcPts val="0"/>
              </a:spcBef>
              <a:buNone/>
            </a:pPr>
            <a:endParaRPr lang="fr-FR" sz="1600" b="1" i="1" dirty="0">
              <a:solidFill>
                <a:schemeClr val="bg1"/>
              </a:solidFill>
              <a:highlight>
                <a:srgbClr val="000000"/>
              </a:highlight>
              <a:latin typeface="Arial"/>
              <a:cs typeface="Arial"/>
            </a:endParaRPr>
          </a:p>
          <a:p>
            <a:pPr marL="0" indent="0" algn="ctr">
              <a:spcBef>
                <a:spcPts val="0"/>
              </a:spcBef>
              <a:buNone/>
            </a:pPr>
            <a:r>
              <a:rPr lang="fr-FR" sz="1600" b="1" i="1" dirty="0">
                <a:solidFill>
                  <a:schemeClr val="bg1"/>
                </a:solidFill>
                <a:highlight>
                  <a:srgbClr val="000000"/>
                </a:highlight>
                <a:latin typeface="Arial"/>
                <a:cs typeface="Arial"/>
              </a:rPr>
              <a:t>Soit 6.2 millions de personnes en état de sous-nutrition pour une population total de 69.210 millions de personnes</a:t>
            </a:r>
            <a:endParaRPr lang="fr-FR">
              <a:solidFill>
                <a:schemeClr val="bg1"/>
              </a:solidFill>
              <a:cs typeface="Arial"/>
            </a:endParaRPr>
          </a:p>
        </p:txBody>
      </p:sp>
      <p:sp>
        <p:nvSpPr>
          <p:cNvPr id="218" name="Google Shape;218;p13"/>
          <p:cNvSpPr/>
          <p:nvPr/>
        </p:nvSpPr>
        <p:spPr>
          <a:xfrm>
            <a:off x="12723586" y="2274413"/>
            <a:ext cx="3432024" cy="3742364"/>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285750" marR="0" lvl="0" indent="-285750" algn="ctr" rtl="0">
              <a:lnSpc>
                <a:spcPct val="100000"/>
              </a:lnSpc>
              <a:spcBef>
                <a:spcPts val="0"/>
              </a:spcBef>
              <a:spcAft>
                <a:spcPts val="0"/>
              </a:spcAft>
              <a:buClr>
                <a:srgbClr val="000000"/>
              </a:buClr>
              <a:buSzPts val="1800"/>
              <a:buFont typeface="Noto Sans Symbols"/>
              <a:buChar char="⇒"/>
            </a:pPr>
            <a:r>
              <a:rPr lang="fr-FR" sz="1800" b="0" i="0" u="none" strike="noStrike" cap="none">
                <a:solidFill>
                  <a:srgbClr val="000000"/>
                </a:solidFill>
                <a:latin typeface="Century Gothic"/>
                <a:ea typeface="Century Gothic"/>
                <a:cs typeface="Century Gothic"/>
                <a:sym typeface="Century Gothic"/>
              </a:rPr>
              <a:t>Donner la part de personnes en état de sous- nutrition pour ce pays</a:t>
            </a:r>
            <a:endParaRPr sz="1400" b="0" i="0" u="none" strike="noStrike" cap="none">
              <a:solidFill>
                <a:srgbClr val="000000"/>
              </a:solidFill>
              <a:latin typeface="Arial"/>
              <a:ea typeface="Arial"/>
              <a:cs typeface="Arial"/>
              <a:sym typeface="Arial"/>
            </a:endParaRPr>
          </a:p>
          <a:p>
            <a:pPr marL="285750" marR="0" lvl="0" indent="-285750" algn="ctr" rtl="0">
              <a:lnSpc>
                <a:spcPct val="100000"/>
              </a:lnSpc>
              <a:spcBef>
                <a:spcPts val="0"/>
              </a:spcBef>
              <a:spcAft>
                <a:spcPts val="0"/>
              </a:spcAft>
              <a:buClr>
                <a:srgbClr val="000000"/>
              </a:buClr>
              <a:buSzPts val="1800"/>
              <a:buFont typeface="Noto Sans Symbols"/>
              <a:buChar char="⇒"/>
            </a:pPr>
            <a:r>
              <a:rPr lang="fr-FR" sz="1800" b="0" i="0" u="none" strike="noStrike" cap="none">
                <a:solidFill>
                  <a:srgbClr val="000000"/>
                </a:solidFill>
                <a:latin typeface="Century Gothic"/>
                <a:ea typeface="Century Gothic"/>
                <a:cs typeface="Century Gothic"/>
                <a:sym typeface="Century Gothic"/>
              </a:rPr>
              <a:t>Regarder les exportations et la production de Manioc</a:t>
            </a:r>
            <a:endParaRPr sz="1400" b="0" i="0" u="none" strike="noStrike" cap="none">
              <a:solidFill>
                <a:srgbClr val="000000"/>
              </a:solidFill>
              <a:latin typeface="Arial"/>
              <a:ea typeface="Arial"/>
              <a:cs typeface="Arial"/>
              <a:sym typeface="Arial"/>
            </a:endParaRPr>
          </a:p>
          <a:p>
            <a:pPr marL="285750" marR="0" lvl="0" indent="-285750" algn="ctr" rtl="0">
              <a:lnSpc>
                <a:spcPct val="100000"/>
              </a:lnSpc>
              <a:spcBef>
                <a:spcPts val="0"/>
              </a:spcBef>
              <a:spcAft>
                <a:spcPts val="0"/>
              </a:spcAft>
              <a:buClr>
                <a:srgbClr val="000000"/>
              </a:buClr>
              <a:buSzPts val="1800"/>
              <a:buFont typeface="Noto Sans Symbols"/>
              <a:buChar char="⇒"/>
            </a:pPr>
            <a:r>
              <a:rPr lang="fr-FR" sz="1800" b="0" i="0" u="none" strike="noStrike" cap="none">
                <a:solidFill>
                  <a:srgbClr val="000000"/>
                </a:solidFill>
                <a:latin typeface="Century Gothic"/>
                <a:ea typeface="Century Gothic"/>
                <a:cs typeface="Century Gothic"/>
                <a:sym typeface="Century Gothic"/>
              </a:rPr>
              <a:t>Est-ce que c’est logique ? </a:t>
            </a:r>
            <a:endParaRPr sz="1400" b="0" i="0" u="none" strike="noStrike" cap="none">
              <a:solidFill>
                <a:srgbClr val="000000"/>
              </a:solidFill>
              <a:latin typeface="Arial"/>
              <a:ea typeface="Arial"/>
              <a:cs typeface="Arial"/>
              <a:sym typeface="Arial"/>
            </a:endParaRPr>
          </a:p>
          <a:p>
            <a:pPr marL="285750" marR="0" lvl="0" indent="-285750" algn="ctr" rtl="0">
              <a:lnSpc>
                <a:spcPct val="100000"/>
              </a:lnSpc>
              <a:spcBef>
                <a:spcPts val="0"/>
              </a:spcBef>
              <a:spcAft>
                <a:spcPts val="0"/>
              </a:spcAft>
              <a:buClr>
                <a:srgbClr val="000000"/>
              </a:buClr>
              <a:buSzPts val="1800"/>
              <a:buFont typeface="Noto Sans Symbols"/>
              <a:buChar char="⇒"/>
            </a:pPr>
            <a:r>
              <a:rPr lang="fr-FR" sz="1800" b="0" i="0" u="none" strike="noStrike" cap="none">
                <a:solidFill>
                  <a:srgbClr val="000000"/>
                </a:solidFill>
                <a:latin typeface="Century Gothic"/>
                <a:ea typeface="Century Gothic"/>
                <a:cs typeface="Century Gothic"/>
                <a:sym typeface="Century Gothic"/>
              </a:rPr>
              <a:t>Quelle est la disponibilité par habitant pour la Thaïlande ? </a:t>
            </a:r>
            <a:endParaRPr sz="1400" b="0" i="0" u="none" strike="noStrike" cap="none">
              <a:solidFill>
                <a:srgbClr val="000000"/>
              </a:solidFill>
              <a:latin typeface="Arial"/>
              <a:ea typeface="Arial"/>
              <a:cs typeface="Arial"/>
              <a:sym typeface="Arial"/>
            </a:endParaRPr>
          </a:p>
        </p:txBody>
      </p:sp>
      <p:sp>
        <p:nvSpPr>
          <p:cNvPr id="3" name="Google Shape;217;p13">
            <a:extLst>
              <a:ext uri="{FF2B5EF4-FFF2-40B4-BE49-F238E27FC236}">
                <a16:creationId xmlns:a16="http://schemas.microsoft.com/office/drawing/2014/main" id="{B2061EDC-7170-6B99-35F9-96422655EAFC}"/>
              </a:ext>
            </a:extLst>
          </p:cNvPr>
          <p:cNvSpPr txBox="1">
            <a:spLocks/>
          </p:cNvSpPr>
          <p:nvPr/>
        </p:nvSpPr>
        <p:spPr>
          <a:xfrm>
            <a:off x="4552511" y="4660686"/>
            <a:ext cx="7430374" cy="446997"/>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chemeClr val="accent1"/>
              </a:buClr>
              <a:buSzPts val="18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100000"/>
              </a:lnSpc>
              <a:spcBef>
                <a:spcPts val="600"/>
              </a:spcBef>
              <a:spcAft>
                <a:spcPts val="60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pPr marL="0" indent="0" algn="ctr">
              <a:spcBef>
                <a:spcPts val="0"/>
              </a:spcBef>
              <a:buNone/>
            </a:pPr>
            <a:r>
              <a:rPr lang="fr-FR" sz="1600" b="1" i="1" dirty="0">
                <a:solidFill>
                  <a:schemeClr val="bg1"/>
                </a:solidFill>
                <a:highlight>
                  <a:srgbClr val="000000"/>
                </a:highlight>
                <a:latin typeface="Arial"/>
                <a:cs typeface="Arial"/>
              </a:rPr>
              <a:t>La disponibilité intérieur thaïlandaise de manioc est de 6264000.0 tonnes </a:t>
            </a:r>
            <a:endParaRPr lang="fr-FR" sz="1600" dirty="0">
              <a:solidFill>
                <a:schemeClr val="bg1"/>
              </a:solidFill>
            </a:endParaRPr>
          </a:p>
        </p:txBody>
      </p:sp>
      <p:sp>
        <p:nvSpPr>
          <p:cNvPr id="2" name="ZoneTexte 1">
            <a:extLst>
              <a:ext uri="{FF2B5EF4-FFF2-40B4-BE49-F238E27FC236}">
                <a16:creationId xmlns:a16="http://schemas.microsoft.com/office/drawing/2014/main" id="{E09FCF56-A94A-0FD7-A72D-A6CBBB7CD293}"/>
              </a:ext>
            </a:extLst>
          </p:cNvPr>
          <p:cNvSpPr txBox="1"/>
          <p:nvPr/>
        </p:nvSpPr>
        <p:spPr>
          <a:xfrm>
            <a:off x="5214257" y="5638800"/>
            <a:ext cx="6172200" cy="338554"/>
          </a:xfrm>
          <a:prstGeom prst="rect">
            <a:avLst/>
          </a:prstGeom>
          <a:solidFill>
            <a:schemeClr val="tx1"/>
          </a:solidFill>
          <a:ln>
            <a:solidFill>
              <a:schemeClr val="accent1">
                <a:lumMod val="40000"/>
                <a:lumOff val="6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1600" b="1" i="1" dirty="0">
                <a:solidFill>
                  <a:schemeClr val="bg1"/>
                </a:solidFill>
                <a:highlight>
                  <a:srgbClr val="000000"/>
                </a:highlight>
              </a:rPr>
              <a:t>80.10 % de la production thaïlandaise de manioc est exporté</a:t>
            </a:r>
            <a:endParaRPr lang="fr-FR"/>
          </a:p>
        </p:txBody>
      </p:sp>
      <p:pic>
        <p:nvPicPr>
          <p:cNvPr id="4" name="Image 3" descr="Une image contenant texte, capture d’écran, Police, diagramme&#10;&#10;Description générée automatiquement">
            <a:extLst>
              <a:ext uri="{FF2B5EF4-FFF2-40B4-BE49-F238E27FC236}">
                <a16:creationId xmlns:a16="http://schemas.microsoft.com/office/drawing/2014/main" id="{CC065230-E906-5EE9-B78E-F0170BF2FEF4}"/>
              </a:ext>
            </a:extLst>
          </p:cNvPr>
          <p:cNvPicPr>
            <a:picLocks noChangeAspect="1"/>
          </p:cNvPicPr>
          <p:nvPr/>
        </p:nvPicPr>
        <p:blipFill rotWithShape="1">
          <a:blip r:embed="rId3"/>
          <a:srcRect l="52" t="6565" r="5707" b="10042"/>
          <a:stretch/>
        </p:blipFill>
        <p:spPr>
          <a:xfrm>
            <a:off x="100255" y="2342030"/>
            <a:ext cx="4144553" cy="2170427"/>
          </a:xfrm>
          <a:prstGeom prst="rect">
            <a:avLst/>
          </a:prstGeom>
          <a:ln>
            <a:solidFill>
              <a:schemeClr val="accent1">
                <a:lumMod val="40000"/>
                <a:lumOff val="60000"/>
              </a:schemeClr>
            </a:solidFill>
          </a:ln>
        </p:spPr>
      </p:pic>
      <p:pic>
        <p:nvPicPr>
          <p:cNvPr id="5" name="Image 4" descr="Une image contenant texte, capture d’écran, Police, cercle&#10;&#10;Description générée automatiquement">
            <a:extLst>
              <a:ext uri="{FF2B5EF4-FFF2-40B4-BE49-F238E27FC236}">
                <a16:creationId xmlns:a16="http://schemas.microsoft.com/office/drawing/2014/main" id="{1A891322-AD37-E616-F897-A072FA04D3D9}"/>
              </a:ext>
            </a:extLst>
          </p:cNvPr>
          <p:cNvPicPr>
            <a:picLocks noChangeAspect="1"/>
          </p:cNvPicPr>
          <p:nvPr/>
        </p:nvPicPr>
        <p:blipFill rotWithShape="1">
          <a:blip r:embed="rId4"/>
          <a:srcRect t="8955" r="5512" b="9950"/>
          <a:stretch/>
        </p:blipFill>
        <p:spPr>
          <a:xfrm>
            <a:off x="97971" y="4599845"/>
            <a:ext cx="4147459" cy="2187008"/>
          </a:xfrm>
          <a:prstGeom prst="rect">
            <a:avLst/>
          </a:prstGeom>
          <a:ln>
            <a:solidFill>
              <a:schemeClr val="accent1">
                <a:lumMod val="40000"/>
                <a:lumOff val="60000"/>
              </a:schemeClr>
            </a:solidFill>
          </a:ln>
        </p:spPr>
      </p:pic>
      <p:pic>
        <p:nvPicPr>
          <p:cNvPr id="7" name="Image 6" descr="Une image contenant texte, Police, guide, conception&#10;&#10;Description générée automatiquement">
            <a:extLst>
              <a:ext uri="{FF2B5EF4-FFF2-40B4-BE49-F238E27FC236}">
                <a16:creationId xmlns:a16="http://schemas.microsoft.com/office/drawing/2014/main" id="{304C894C-C6F9-8F8E-C278-CDE6DD041583}"/>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10086135" y="-1061"/>
            <a:ext cx="2110040" cy="8543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222">
          <a:extLst>
            <a:ext uri="{FF2B5EF4-FFF2-40B4-BE49-F238E27FC236}">
              <a16:creationId xmlns:a16="http://schemas.microsoft.com/office/drawing/2014/main" id="{D6477BF2-4085-0E6F-5CAB-2C0189A331BF}"/>
            </a:ext>
          </a:extLst>
        </p:cNvPr>
        <p:cNvGrpSpPr/>
        <p:nvPr/>
      </p:nvGrpSpPr>
      <p:grpSpPr>
        <a:xfrm>
          <a:off x="0" y="0"/>
          <a:ext cx="0" cy="0"/>
          <a:chOff x="0" y="0"/>
          <a:chExt cx="0" cy="0"/>
        </a:xfrm>
      </p:grpSpPr>
      <p:sp>
        <p:nvSpPr>
          <p:cNvPr id="223" name="Google Shape;223;p14">
            <a:extLst>
              <a:ext uri="{FF2B5EF4-FFF2-40B4-BE49-F238E27FC236}">
                <a16:creationId xmlns:a16="http://schemas.microsoft.com/office/drawing/2014/main" id="{806A215F-C261-0276-E2BF-A9AB795B179C}"/>
              </a:ext>
            </a:extLst>
          </p:cNvPr>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a:t>11) Analyses complémentaires</a:t>
            </a:r>
            <a:endParaRPr sz="3200"/>
          </a:p>
        </p:txBody>
      </p:sp>
      <p:sp>
        <p:nvSpPr>
          <p:cNvPr id="225" name="Google Shape;225;p14">
            <a:extLst>
              <a:ext uri="{FF2B5EF4-FFF2-40B4-BE49-F238E27FC236}">
                <a16:creationId xmlns:a16="http://schemas.microsoft.com/office/drawing/2014/main" id="{7F9E251B-C173-79F6-9DA0-92D38C4F8E5A}"/>
              </a:ext>
            </a:extLst>
          </p:cNvPr>
          <p:cNvSpPr/>
          <p:nvPr/>
        </p:nvSpPr>
        <p:spPr>
          <a:xfrm>
            <a:off x="12505872" y="2165555"/>
            <a:ext cx="3432024" cy="3742364"/>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285750" marR="0" lvl="0" indent="-285750" algn="ctr" rtl="0">
              <a:lnSpc>
                <a:spcPct val="100000"/>
              </a:lnSpc>
              <a:spcBef>
                <a:spcPts val="0"/>
              </a:spcBef>
              <a:spcAft>
                <a:spcPts val="0"/>
              </a:spcAft>
              <a:buClr>
                <a:srgbClr val="000000"/>
              </a:buClr>
              <a:buSzPts val="1800"/>
              <a:buFont typeface="Noto Sans Symbols"/>
              <a:buChar char="⇒"/>
            </a:pPr>
            <a:r>
              <a:rPr lang="fr-FR" sz="1800" b="0" i="0" u="none" strike="noStrike" cap="none">
                <a:solidFill>
                  <a:srgbClr val="000000"/>
                </a:solidFill>
                <a:latin typeface="Century Gothic"/>
                <a:ea typeface="Century Gothic"/>
                <a:cs typeface="Century Gothic"/>
                <a:sym typeface="Century Gothic"/>
              </a:rPr>
              <a:t>Je vais peut-être trouver des choses supplémentaires pendant l’analyse.</a:t>
            </a:r>
            <a:endParaRPr sz="1400" b="0" i="0" u="none" strike="noStrike" cap="none">
              <a:solidFill>
                <a:srgbClr val="000000"/>
              </a:solidFill>
              <a:latin typeface="Arial"/>
              <a:ea typeface="Arial"/>
              <a:cs typeface="Arial"/>
              <a:sym typeface="Arial"/>
            </a:endParaRPr>
          </a:p>
        </p:txBody>
      </p:sp>
      <p:sp>
        <p:nvSpPr>
          <p:cNvPr id="3" name="Google Shape;217;p13">
            <a:extLst>
              <a:ext uri="{FF2B5EF4-FFF2-40B4-BE49-F238E27FC236}">
                <a16:creationId xmlns:a16="http://schemas.microsoft.com/office/drawing/2014/main" id="{89C8FA99-D50D-0BAC-5AD7-1A420B9B698B}"/>
              </a:ext>
            </a:extLst>
          </p:cNvPr>
          <p:cNvSpPr txBox="1">
            <a:spLocks/>
          </p:cNvSpPr>
          <p:nvPr/>
        </p:nvSpPr>
        <p:spPr>
          <a:xfrm>
            <a:off x="535682" y="2320257"/>
            <a:ext cx="10968231" cy="817112"/>
          </a:xfrm>
          <a:prstGeom prst="rect">
            <a:avLst/>
          </a:prstGeom>
          <a:solidFill>
            <a:schemeClr val="tx1"/>
          </a:solidFill>
          <a:ln>
            <a:solidFill>
              <a:schemeClr val="accent1">
                <a:lumMod val="40000"/>
                <a:lumOff val="60000"/>
              </a:schemeClr>
            </a:solidFill>
          </a:ln>
          <a:effectLst>
            <a:outerShdw blurRad="50800">
              <a:srgbClr val="000000">
                <a:alpha val="40000"/>
              </a:srgbClr>
            </a:outerShdw>
          </a:effectLst>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chemeClr val="accent1"/>
              </a:buClr>
              <a:buSzPts val="18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100000"/>
              </a:lnSpc>
              <a:spcBef>
                <a:spcPts val="600"/>
              </a:spcBef>
              <a:spcAft>
                <a:spcPts val="60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pPr marL="0" indent="0" algn="ctr">
              <a:buNone/>
            </a:pPr>
            <a:r>
              <a:rPr lang="fr-FR" sz="1600" b="1" i="1" dirty="0">
                <a:solidFill>
                  <a:schemeClr val="bg1"/>
                </a:solidFill>
                <a:highlight>
                  <a:srgbClr val="000000"/>
                </a:highlight>
                <a:latin typeface="Arial"/>
                <a:cs typeface="Arial"/>
              </a:rPr>
              <a:t>Les études précédentes mettent en avant une différence entre les pays ayant bénéficié du plus d'aide alimentaire et les pays ayant le plus grand nombre de personnes en état de sous-nutrition.</a:t>
            </a:r>
            <a:endParaRPr lang="fr-FR" dirty="0">
              <a:solidFill>
                <a:schemeClr val="bg1"/>
              </a:solidFill>
            </a:endParaRPr>
          </a:p>
        </p:txBody>
      </p:sp>
      <p:sp>
        <p:nvSpPr>
          <p:cNvPr id="5" name="Google Shape;217;p13">
            <a:extLst>
              <a:ext uri="{FF2B5EF4-FFF2-40B4-BE49-F238E27FC236}">
                <a16:creationId xmlns:a16="http://schemas.microsoft.com/office/drawing/2014/main" id="{BAE34091-E6DD-BD36-D450-C3929D096CE3}"/>
              </a:ext>
            </a:extLst>
          </p:cNvPr>
          <p:cNvSpPr txBox="1">
            <a:spLocks/>
          </p:cNvSpPr>
          <p:nvPr/>
        </p:nvSpPr>
        <p:spPr>
          <a:xfrm>
            <a:off x="535683" y="3561230"/>
            <a:ext cx="4872231" cy="523197"/>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chemeClr val="accent1"/>
              </a:buClr>
              <a:buSzPts val="18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100000"/>
              </a:lnSpc>
              <a:spcBef>
                <a:spcPts val="600"/>
              </a:spcBef>
              <a:spcAft>
                <a:spcPts val="60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pPr>
              <a:buNone/>
            </a:pPr>
            <a:r>
              <a:rPr lang="fr-FR" sz="1400" b="1" dirty="0">
                <a:solidFill>
                  <a:srgbClr val="FEFEFE"/>
                </a:solidFill>
                <a:highlight>
                  <a:srgbClr val="000000"/>
                </a:highlight>
                <a:cs typeface="Arial"/>
              </a:rPr>
              <a:t>Liste des 10 pays où la proportion de personnes en état de sous-nutrition est la plus forte en </a:t>
            </a:r>
            <a:r>
              <a:rPr lang="fr-FR" sz="1400" b="1" dirty="0">
                <a:highlight>
                  <a:srgbClr val="000000"/>
                </a:highlight>
                <a:cs typeface="Arial"/>
              </a:rPr>
              <a:t>2017</a:t>
            </a:r>
            <a:endParaRPr lang="fr-FR" sz="1400" dirty="0">
              <a:solidFill>
                <a:schemeClr val="bg1"/>
              </a:solidFill>
              <a:highlight>
                <a:srgbClr val="000000"/>
              </a:highlight>
              <a:cs typeface="Arial"/>
            </a:endParaRPr>
          </a:p>
          <a:p>
            <a:pPr marL="0" indent="0" algn="ctr">
              <a:spcBef>
                <a:spcPts val="0"/>
              </a:spcBef>
              <a:buNone/>
            </a:pPr>
            <a:endParaRPr lang="fr-FR" sz="1600" b="1" i="1" dirty="0">
              <a:solidFill>
                <a:schemeClr val="bg1"/>
              </a:solidFill>
              <a:highlight>
                <a:srgbClr val="000000"/>
              </a:highlight>
              <a:latin typeface="Arial"/>
              <a:cs typeface="Arial"/>
            </a:endParaRPr>
          </a:p>
        </p:txBody>
      </p:sp>
      <p:pic>
        <p:nvPicPr>
          <p:cNvPr id="7" name="Image 6" descr="Une image contenant texte, capture d’écran, diagramme, Caractère coloré&#10;&#10;Description générée automatiquement">
            <a:extLst>
              <a:ext uri="{FF2B5EF4-FFF2-40B4-BE49-F238E27FC236}">
                <a16:creationId xmlns:a16="http://schemas.microsoft.com/office/drawing/2014/main" id="{9C4B6CBA-6D74-3A18-8992-8DE1EB211508}"/>
              </a:ext>
            </a:extLst>
          </p:cNvPr>
          <p:cNvPicPr>
            <a:picLocks noChangeAspect="1"/>
          </p:cNvPicPr>
          <p:nvPr/>
        </p:nvPicPr>
        <p:blipFill rotWithShape="1">
          <a:blip r:embed="rId3"/>
          <a:srcRect l="73443" t="8955" r="432" b="44136"/>
          <a:stretch/>
        </p:blipFill>
        <p:spPr>
          <a:xfrm>
            <a:off x="1328059" y="4085797"/>
            <a:ext cx="3292990" cy="2396772"/>
          </a:xfrm>
          <a:prstGeom prst="rect">
            <a:avLst/>
          </a:prstGeom>
          <a:ln w="28575">
            <a:solidFill>
              <a:schemeClr val="accent1">
                <a:lumMod val="40000"/>
                <a:lumOff val="60000"/>
              </a:schemeClr>
            </a:solidFill>
          </a:ln>
        </p:spPr>
      </p:pic>
      <p:sp>
        <p:nvSpPr>
          <p:cNvPr id="8" name="Google Shape;217;p13">
            <a:extLst>
              <a:ext uri="{FF2B5EF4-FFF2-40B4-BE49-F238E27FC236}">
                <a16:creationId xmlns:a16="http://schemas.microsoft.com/office/drawing/2014/main" id="{E839C4A5-41AA-F2AA-6DA0-F03BC84E1AD5}"/>
              </a:ext>
            </a:extLst>
          </p:cNvPr>
          <p:cNvSpPr txBox="1">
            <a:spLocks/>
          </p:cNvSpPr>
          <p:nvPr/>
        </p:nvSpPr>
        <p:spPr>
          <a:xfrm>
            <a:off x="6337768" y="3561230"/>
            <a:ext cx="4872231" cy="523197"/>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chemeClr val="accent1"/>
              </a:buClr>
              <a:buSzPts val="18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100000"/>
              </a:lnSpc>
              <a:spcBef>
                <a:spcPts val="600"/>
              </a:spcBef>
              <a:spcAft>
                <a:spcPts val="60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pPr>
              <a:buNone/>
            </a:pPr>
            <a:r>
              <a:rPr lang="fr-FR" sz="1400" b="1" dirty="0">
                <a:solidFill>
                  <a:srgbClr val="FEFEFE"/>
                </a:solidFill>
                <a:highlight>
                  <a:srgbClr val="000000"/>
                </a:highlight>
                <a:cs typeface="Arial"/>
              </a:rPr>
              <a:t>Liste des 10 pays où la proportion de personnes en état de sous-nutrition est la plus forte en </a:t>
            </a:r>
            <a:r>
              <a:rPr lang="fr-FR" sz="1400" b="1" dirty="0">
                <a:highlight>
                  <a:srgbClr val="000000"/>
                </a:highlight>
                <a:cs typeface="Arial"/>
              </a:rPr>
              <a:t>2017</a:t>
            </a:r>
            <a:endParaRPr lang="fr-FR" sz="1400" dirty="0">
              <a:solidFill>
                <a:schemeClr val="bg1"/>
              </a:solidFill>
              <a:highlight>
                <a:srgbClr val="000000"/>
              </a:highlight>
              <a:cs typeface="Arial"/>
            </a:endParaRPr>
          </a:p>
          <a:p>
            <a:pPr marL="0" indent="0" algn="ctr">
              <a:spcBef>
                <a:spcPts val="0"/>
              </a:spcBef>
              <a:buNone/>
            </a:pPr>
            <a:endParaRPr lang="fr-FR" sz="1600" b="1" i="1" dirty="0">
              <a:solidFill>
                <a:schemeClr val="bg1"/>
              </a:solidFill>
              <a:highlight>
                <a:srgbClr val="000000"/>
              </a:highlight>
              <a:latin typeface="Arial"/>
              <a:cs typeface="Arial"/>
            </a:endParaRPr>
          </a:p>
        </p:txBody>
      </p:sp>
      <p:pic>
        <p:nvPicPr>
          <p:cNvPr id="10" name="Image 9" descr="Une image contenant texte, capture d’écran, diagramme, Tracé&#10;&#10;Description générée automatiquement">
            <a:extLst>
              <a:ext uri="{FF2B5EF4-FFF2-40B4-BE49-F238E27FC236}">
                <a16:creationId xmlns:a16="http://schemas.microsoft.com/office/drawing/2014/main" id="{8E8C2B5E-7F08-77AB-C4C6-BA37C4894B25}"/>
              </a:ext>
            </a:extLst>
          </p:cNvPr>
          <p:cNvPicPr>
            <a:picLocks noChangeAspect="1"/>
          </p:cNvPicPr>
          <p:nvPr/>
        </p:nvPicPr>
        <p:blipFill rotWithShape="1">
          <a:blip r:embed="rId4"/>
          <a:srcRect l="76285" t="357" r="90" b="47188"/>
          <a:stretch/>
        </p:blipFill>
        <p:spPr>
          <a:xfrm>
            <a:off x="7431540" y="4040200"/>
            <a:ext cx="3025278" cy="2453033"/>
          </a:xfrm>
          <a:prstGeom prst="rect">
            <a:avLst/>
          </a:prstGeom>
        </p:spPr>
      </p:pic>
      <p:pic>
        <p:nvPicPr>
          <p:cNvPr id="12" name="Image 11" descr="Une image contenant texte, Police, guide, conception&#10;&#10;Description générée automatiquement">
            <a:extLst>
              <a:ext uri="{FF2B5EF4-FFF2-40B4-BE49-F238E27FC236}">
                <a16:creationId xmlns:a16="http://schemas.microsoft.com/office/drawing/2014/main" id="{38446DF4-433D-BCEF-9144-5DB5D8F691D2}"/>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10086135" y="-1061"/>
            <a:ext cx="2110040" cy="854340"/>
          </a:xfrm>
          <a:prstGeom prst="rect">
            <a:avLst/>
          </a:prstGeom>
        </p:spPr>
      </p:pic>
    </p:spTree>
    <p:extLst>
      <p:ext uri="{BB962C8B-B14F-4D97-AF65-F5344CB8AC3E}">
        <p14:creationId xmlns:p14="http://schemas.microsoft.com/office/powerpoint/2010/main" val="1586967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222"/>
        <p:cNvGrpSpPr/>
        <p:nvPr/>
      </p:nvGrpSpPr>
      <p:grpSpPr>
        <a:xfrm>
          <a:off x="0" y="0"/>
          <a:ext cx="0" cy="0"/>
          <a:chOff x="0" y="0"/>
          <a:chExt cx="0" cy="0"/>
        </a:xfrm>
      </p:grpSpPr>
      <p:sp>
        <p:nvSpPr>
          <p:cNvPr id="225" name="Google Shape;225;p14"/>
          <p:cNvSpPr/>
          <p:nvPr/>
        </p:nvSpPr>
        <p:spPr>
          <a:xfrm>
            <a:off x="12505872" y="2165555"/>
            <a:ext cx="3432024" cy="3742364"/>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285750" marR="0" lvl="0" indent="-285750" algn="ctr" rtl="0">
              <a:lnSpc>
                <a:spcPct val="100000"/>
              </a:lnSpc>
              <a:spcBef>
                <a:spcPts val="0"/>
              </a:spcBef>
              <a:spcAft>
                <a:spcPts val="0"/>
              </a:spcAft>
              <a:buClr>
                <a:srgbClr val="000000"/>
              </a:buClr>
              <a:buSzPts val="1800"/>
              <a:buFont typeface="Noto Sans Symbols"/>
              <a:buChar char="⇒"/>
            </a:pPr>
            <a:r>
              <a:rPr lang="fr-FR" sz="1800" b="0" i="0" u="none" strike="noStrike" cap="none">
                <a:solidFill>
                  <a:srgbClr val="000000"/>
                </a:solidFill>
                <a:latin typeface="Century Gothic"/>
                <a:ea typeface="Century Gothic"/>
                <a:cs typeface="Century Gothic"/>
                <a:sym typeface="Century Gothic"/>
              </a:rPr>
              <a:t>Je vais peut-être trouver des choses supplémentaires pendant l’analyse.</a:t>
            </a:r>
            <a:endParaRPr sz="1400" b="0" i="0" u="none" strike="noStrike" cap="none">
              <a:solidFill>
                <a:srgbClr val="000000"/>
              </a:solidFill>
              <a:latin typeface="Arial"/>
              <a:ea typeface="Arial"/>
              <a:cs typeface="Arial"/>
              <a:sym typeface="Arial"/>
            </a:endParaRPr>
          </a:p>
        </p:txBody>
      </p:sp>
      <p:sp>
        <p:nvSpPr>
          <p:cNvPr id="3" name="Google Shape;217;p13">
            <a:extLst>
              <a:ext uri="{FF2B5EF4-FFF2-40B4-BE49-F238E27FC236}">
                <a16:creationId xmlns:a16="http://schemas.microsoft.com/office/drawing/2014/main" id="{904D1E70-DA03-89DB-C71F-70926E3F0782}"/>
              </a:ext>
            </a:extLst>
          </p:cNvPr>
          <p:cNvSpPr txBox="1">
            <a:spLocks/>
          </p:cNvSpPr>
          <p:nvPr/>
        </p:nvSpPr>
        <p:spPr>
          <a:xfrm>
            <a:off x="1624253" y="132228"/>
            <a:ext cx="8943487" cy="446997"/>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fontScale="92500"/>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chemeClr val="accent1"/>
              </a:buClr>
              <a:buSzPts val="18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100000"/>
              </a:lnSpc>
              <a:spcBef>
                <a:spcPts val="600"/>
              </a:spcBef>
              <a:spcAft>
                <a:spcPts val="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100000"/>
              </a:lnSpc>
              <a:spcBef>
                <a:spcPts val="600"/>
              </a:spcBef>
              <a:spcAft>
                <a:spcPts val="600"/>
              </a:spcAft>
              <a:buClr>
                <a:schemeClr val="accent1"/>
              </a:buClr>
              <a:buSzPts val="18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pPr marL="0" indent="0" algn="ctr">
              <a:spcBef>
                <a:spcPts val="0"/>
              </a:spcBef>
              <a:buNone/>
            </a:pPr>
            <a:r>
              <a:rPr lang="fr-FR" sz="1600" b="1" i="1" dirty="0">
                <a:solidFill>
                  <a:schemeClr val="bg1"/>
                </a:solidFill>
                <a:highlight>
                  <a:srgbClr val="000000"/>
                </a:highlight>
                <a:latin typeface="Arial"/>
                <a:cs typeface="Arial"/>
              </a:rPr>
              <a:t>Proportion de personnes en état de sous-nutrition en fonction de l'aide alimentaire en 2017</a:t>
            </a:r>
            <a:endParaRPr lang="fr-FR" dirty="0">
              <a:solidFill>
                <a:schemeClr val="bg1"/>
              </a:solidFill>
            </a:endParaRPr>
          </a:p>
        </p:txBody>
      </p:sp>
      <p:pic>
        <p:nvPicPr>
          <p:cNvPr id="4" name="Image 3" descr="Une image contenant texte, capture d’écran, Caractère coloré, diagramme&#10;&#10;Description générée automatiquement">
            <a:extLst>
              <a:ext uri="{FF2B5EF4-FFF2-40B4-BE49-F238E27FC236}">
                <a16:creationId xmlns:a16="http://schemas.microsoft.com/office/drawing/2014/main" id="{6644F2FD-7B59-43AD-DAD1-27B00933AB2F}"/>
              </a:ext>
            </a:extLst>
          </p:cNvPr>
          <p:cNvPicPr>
            <a:picLocks noChangeAspect="1"/>
          </p:cNvPicPr>
          <p:nvPr/>
        </p:nvPicPr>
        <p:blipFill rotWithShape="1">
          <a:blip r:embed="rId3"/>
          <a:srcRect l="790" t="9565" r="1006" b="6956"/>
          <a:stretch/>
        </p:blipFill>
        <p:spPr>
          <a:xfrm>
            <a:off x="-2" y="721427"/>
            <a:ext cx="12188716" cy="5043791"/>
          </a:xfrm>
          <a:prstGeom prst="rect">
            <a:avLst/>
          </a:prstGeom>
        </p:spPr>
      </p:pic>
      <p:sp>
        <p:nvSpPr>
          <p:cNvPr id="7" name="ZoneTexte 6">
            <a:extLst>
              <a:ext uri="{FF2B5EF4-FFF2-40B4-BE49-F238E27FC236}">
                <a16:creationId xmlns:a16="http://schemas.microsoft.com/office/drawing/2014/main" id="{1712BEB2-39A5-63C0-EB44-952E1FFA16A2}"/>
              </a:ext>
            </a:extLst>
          </p:cNvPr>
          <p:cNvSpPr txBox="1"/>
          <p:nvPr/>
        </p:nvSpPr>
        <p:spPr>
          <a:xfrm>
            <a:off x="97971" y="6106885"/>
            <a:ext cx="12006942" cy="338554"/>
          </a:xfrm>
          <a:prstGeom prst="rect">
            <a:avLst/>
          </a:prstGeom>
          <a:solidFill>
            <a:schemeClr val="tx1"/>
          </a:solidFill>
          <a:ln>
            <a:solidFill>
              <a:schemeClr val="accent1">
                <a:lumMod val="40000"/>
                <a:lumOff val="6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b="1" i="1" dirty="0">
                <a:solidFill>
                  <a:schemeClr val="bg1"/>
                </a:solidFill>
                <a:highlight>
                  <a:srgbClr val="000000"/>
                </a:highlight>
              </a:rPr>
              <a:t>Nous pouvons remarquer une grande disparité de l'aide alimentaire fournie en fonction des populations en sous-nutrition.</a:t>
            </a:r>
            <a:endParaRPr lang="fr-FR"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222">
          <a:extLst>
            <a:ext uri="{FF2B5EF4-FFF2-40B4-BE49-F238E27FC236}">
              <a16:creationId xmlns:a16="http://schemas.microsoft.com/office/drawing/2014/main" id="{6A2E614C-CAF0-249D-9694-80EE42890D0A}"/>
            </a:ext>
          </a:extLst>
        </p:cNvPr>
        <p:cNvGrpSpPr/>
        <p:nvPr/>
      </p:nvGrpSpPr>
      <p:grpSpPr>
        <a:xfrm>
          <a:off x="0" y="0"/>
          <a:ext cx="0" cy="0"/>
          <a:chOff x="0" y="0"/>
          <a:chExt cx="0" cy="0"/>
        </a:xfrm>
      </p:grpSpPr>
      <p:sp>
        <p:nvSpPr>
          <p:cNvPr id="225" name="Google Shape;225;p14">
            <a:extLst>
              <a:ext uri="{FF2B5EF4-FFF2-40B4-BE49-F238E27FC236}">
                <a16:creationId xmlns:a16="http://schemas.microsoft.com/office/drawing/2014/main" id="{22204669-7A5A-38EC-78D8-C5AC6FD5687E}"/>
              </a:ext>
            </a:extLst>
          </p:cNvPr>
          <p:cNvSpPr/>
          <p:nvPr/>
        </p:nvSpPr>
        <p:spPr>
          <a:xfrm>
            <a:off x="12505872" y="2165555"/>
            <a:ext cx="3432024" cy="3742364"/>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285750" marR="0" lvl="0" indent="-285750" algn="ctr" rtl="0">
              <a:lnSpc>
                <a:spcPct val="100000"/>
              </a:lnSpc>
              <a:spcBef>
                <a:spcPts val="0"/>
              </a:spcBef>
              <a:spcAft>
                <a:spcPts val="0"/>
              </a:spcAft>
              <a:buClr>
                <a:srgbClr val="000000"/>
              </a:buClr>
              <a:buSzPts val="1800"/>
              <a:buFont typeface="Noto Sans Symbols"/>
              <a:buChar char="⇒"/>
            </a:pPr>
            <a:r>
              <a:rPr lang="fr-FR" sz="1800" b="0" i="0" u="none" strike="noStrike" cap="none">
                <a:solidFill>
                  <a:srgbClr val="000000"/>
                </a:solidFill>
                <a:latin typeface="Century Gothic"/>
                <a:ea typeface="Century Gothic"/>
                <a:cs typeface="Century Gothic"/>
                <a:sym typeface="Century Gothic"/>
              </a:rPr>
              <a:t>Je vais peut-être trouver des choses supplémentaires pendant l’analyse.</a:t>
            </a:r>
            <a:endParaRPr sz="1400" b="0" i="0" u="none" strike="noStrike" cap="none">
              <a:solidFill>
                <a:srgbClr val="000000"/>
              </a:solidFill>
              <a:latin typeface="Arial"/>
              <a:ea typeface="Arial"/>
              <a:cs typeface="Arial"/>
              <a:sym typeface="Arial"/>
            </a:endParaRPr>
          </a:p>
        </p:txBody>
      </p:sp>
      <p:pic>
        <p:nvPicPr>
          <p:cNvPr id="4" name="Image 3" descr="Une image contenant texte, capture d’écran, diagramme, Tracé&#10;&#10;Description générée automatiquement">
            <a:extLst>
              <a:ext uri="{FF2B5EF4-FFF2-40B4-BE49-F238E27FC236}">
                <a16:creationId xmlns:a16="http://schemas.microsoft.com/office/drawing/2014/main" id="{49277740-0B37-0D59-4006-ABE8732BA244}"/>
              </a:ext>
            </a:extLst>
          </p:cNvPr>
          <p:cNvPicPr>
            <a:picLocks noChangeAspect="1"/>
          </p:cNvPicPr>
          <p:nvPr/>
        </p:nvPicPr>
        <p:blipFill rotWithShape="1">
          <a:blip r:embed="rId3"/>
          <a:srcRect l="2713" t="3727" r="775" b="6832"/>
          <a:stretch/>
        </p:blipFill>
        <p:spPr>
          <a:xfrm>
            <a:off x="206828" y="111829"/>
            <a:ext cx="11789275" cy="6633834"/>
          </a:xfrm>
          <a:prstGeom prst="rect">
            <a:avLst/>
          </a:prstGeom>
          <a:ln w="28575">
            <a:solidFill>
              <a:schemeClr val="accent1">
                <a:lumMod val="40000"/>
                <a:lumOff val="60000"/>
              </a:schemeClr>
            </a:solidFill>
          </a:ln>
        </p:spPr>
      </p:pic>
    </p:spTree>
    <p:extLst>
      <p:ext uri="{BB962C8B-B14F-4D97-AF65-F5344CB8AC3E}">
        <p14:creationId xmlns:p14="http://schemas.microsoft.com/office/powerpoint/2010/main" val="1569137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222">
          <a:extLst>
            <a:ext uri="{FF2B5EF4-FFF2-40B4-BE49-F238E27FC236}">
              <a16:creationId xmlns:a16="http://schemas.microsoft.com/office/drawing/2014/main" id="{B5D8667B-E57B-4E52-2990-617A0CD4B482}"/>
            </a:ext>
          </a:extLst>
        </p:cNvPr>
        <p:cNvGrpSpPr/>
        <p:nvPr/>
      </p:nvGrpSpPr>
      <p:grpSpPr>
        <a:xfrm>
          <a:off x="0" y="0"/>
          <a:ext cx="0" cy="0"/>
          <a:chOff x="0" y="0"/>
          <a:chExt cx="0" cy="0"/>
        </a:xfrm>
      </p:grpSpPr>
      <p:sp>
        <p:nvSpPr>
          <p:cNvPr id="225" name="Google Shape;225;p14">
            <a:extLst>
              <a:ext uri="{FF2B5EF4-FFF2-40B4-BE49-F238E27FC236}">
                <a16:creationId xmlns:a16="http://schemas.microsoft.com/office/drawing/2014/main" id="{6835138B-A66B-55D3-C9D3-4294B833A1BC}"/>
              </a:ext>
            </a:extLst>
          </p:cNvPr>
          <p:cNvSpPr/>
          <p:nvPr/>
        </p:nvSpPr>
        <p:spPr>
          <a:xfrm>
            <a:off x="12505872" y="2165555"/>
            <a:ext cx="3432024" cy="3742364"/>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entury Gothic"/>
                <a:ea typeface="Century Gothic"/>
                <a:cs typeface="Century Gothic"/>
                <a:sym typeface="Century Gothic"/>
              </a:rPr>
              <a:t>MEMO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entury Gothic"/>
              <a:ea typeface="Century Gothic"/>
              <a:cs typeface="Century Gothic"/>
              <a:sym typeface="Century Gothic"/>
            </a:endParaRPr>
          </a:p>
          <a:p>
            <a:pPr marL="285750" marR="0" lvl="0" indent="-285750" algn="ctr" rtl="0">
              <a:lnSpc>
                <a:spcPct val="100000"/>
              </a:lnSpc>
              <a:spcBef>
                <a:spcPts val="0"/>
              </a:spcBef>
              <a:spcAft>
                <a:spcPts val="0"/>
              </a:spcAft>
              <a:buClr>
                <a:srgbClr val="000000"/>
              </a:buClr>
              <a:buSzPts val="1800"/>
              <a:buFont typeface="Noto Sans Symbols"/>
              <a:buChar char="⇒"/>
            </a:pPr>
            <a:r>
              <a:rPr lang="fr-FR" sz="1800" b="0" i="0" u="none" strike="noStrike" cap="none">
                <a:solidFill>
                  <a:srgbClr val="000000"/>
                </a:solidFill>
                <a:latin typeface="Century Gothic"/>
                <a:ea typeface="Century Gothic"/>
                <a:cs typeface="Century Gothic"/>
                <a:sym typeface="Century Gothic"/>
              </a:rPr>
              <a:t>Je vais peut-être trouver des choses supplémentaires pendant l’analyse.</a:t>
            </a:r>
            <a:endParaRPr sz="1400" b="0" i="0" u="none" strike="noStrike" cap="none">
              <a:solidFill>
                <a:srgbClr val="000000"/>
              </a:solidFill>
              <a:latin typeface="Arial"/>
              <a:ea typeface="Arial"/>
              <a:cs typeface="Arial"/>
              <a:sym typeface="Arial"/>
            </a:endParaRPr>
          </a:p>
        </p:txBody>
      </p:sp>
      <p:pic>
        <p:nvPicPr>
          <p:cNvPr id="2" name="Image 1" descr="Une image contenant texte, ligne, Tracé, diagramme&#10;&#10;Description générée automatiquement">
            <a:extLst>
              <a:ext uri="{FF2B5EF4-FFF2-40B4-BE49-F238E27FC236}">
                <a16:creationId xmlns:a16="http://schemas.microsoft.com/office/drawing/2014/main" id="{45A50D7A-0049-F2BD-1BF2-A20CEDAA722E}"/>
              </a:ext>
            </a:extLst>
          </p:cNvPr>
          <p:cNvPicPr>
            <a:picLocks noChangeAspect="1"/>
          </p:cNvPicPr>
          <p:nvPr/>
        </p:nvPicPr>
        <p:blipFill rotWithShape="1">
          <a:blip r:embed="rId3"/>
          <a:srcRect t="5263" r="8075" b="10526"/>
          <a:stretch/>
        </p:blipFill>
        <p:spPr>
          <a:xfrm>
            <a:off x="2068285" y="145164"/>
            <a:ext cx="8360233" cy="3148990"/>
          </a:xfrm>
          <a:prstGeom prst="rect">
            <a:avLst/>
          </a:prstGeom>
        </p:spPr>
      </p:pic>
      <p:pic>
        <p:nvPicPr>
          <p:cNvPr id="3" name="Image 2" descr="Une image contenant texte, capture d’écran, ligne, diagramme&#10;&#10;Description générée automatiquement">
            <a:extLst>
              <a:ext uri="{FF2B5EF4-FFF2-40B4-BE49-F238E27FC236}">
                <a16:creationId xmlns:a16="http://schemas.microsoft.com/office/drawing/2014/main" id="{C7C1E42A-8B00-7658-BFD8-6F02F3B6027C}"/>
              </a:ext>
            </a:extLst>
          </p:cNvPr>
          <p:cNvPicPr>
            <a:picLocks noChangeAspect="1"/>
          </p:cNvPicPr>
          <p:nvPr/>
        </p:nvPicPr>
        <p:blipFill rotWithShape="1">
          <a:blip r:embed="rId4"/>
          <a:srcRect t="4824" r="9152" b="9868"/>
          <a:stretch/>
        </p:blipFill>
        <p:spPr>
          <a:xfrm>
            <a:off x="2035628" y="3461657"/>
            <a:ext cx="8392892" cy="3228883"/>
          </a:xfrm>
          <a:prstGeom prst="rect">
            <a:avLst/>
          </a:prstGeom>
        </p:spPr>
      </p:pic>
    </p:spTree>
    <p:extLst>
      <p:ext uri="{BB962C8B-B14F-4D97-AF65-F5344CB8AC3E}">
        <p14:creationId xmlns:p14="http://schemas.microsoft.com/office/powerpoint/2010/main" val="727289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73736"/>
        </a:solidFill>
        <a:effectLst/>
      </p:bgPr>
    </p:bg>
    <p:spTree>
      <p:nvGrpSpPr>
        <p:cNvPr id="1" name="Shape 229"/>
        <p:cNvGrpSpPr/>
        <p:nvPr/>
      </p:nvGrpSpPr>
      <p:grpSpPr>
        <a:xfrm>
          <a:off x="0" y="0"/>
          <a:ext cx="0" cy="0"/>
          <a:chOff x="0" y="0"/>
          <a:chExt cx="0" cy="0"/>
        </a:xfrm>
      </p:grpSpPr>
      <p:sp>
        <p:nvSpPr>
          <p:cNvPr id="230" name="Google Shape;230;p15"/>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a:t>Conclusion</a:t>
            </a:r>
            <a:endParaRPr/>
          </a:p>
        </p:txBody>
      </p:sp>
      <p:sp>
        <p:nvSpPr>
          <p:cNvPr id="231" name="Google Shape;231;p15"/>
          <p:cNvSpPr txBox="1">
            <a:spLocks noGrp="1"/>
          </p:cNvSpPr>
          <p:nvPr>
            <p:ph type="body" idx="1"/>
          </p:nvPr>
        </p:nvSpPr>
        <p:spPr>
          <a:xfrm>
            <a:off x="807826" y="2603287"/>
            <a:ext cx="10554574" cy="3636511"/>
          </a:xfrm>
          <a:prstGeom prst="rect">
            <a:avLst/>
          </a:prstGeom>
          <a:solidFill>
            <a:schemeClr val="tx1"/>
          </a:solidFill>
          <a:ln>
            <a:solidFill>
              <a:schemeClr val="accent1">
                <a:lumMod val="40000"/>
                <a:lumOff val="60000"/>
              </a:schemeClr>
            </a:solidFill>
          </a:ln>
          <a:effectLst>
            <a:outerShdw blurRad="50800">
              <a:srgbClr val="000000">
                <a:alpha val="40000"/>
              </a:srgbClr>
            </a:outerShdw>
          </a:effectLst>
        </p:spPr>
        <p:txBody>
          <a:bodyPr spcFirstLastPara="1" wrap="square" lIns="91425" tIns="45700" rIns="91425" bIns="45700" anchor="ctr" anchorCtr="0">
            <a:normAutofit/>
          </a:bodyPr>
          <a:lstStyle/>
          <a:p>
            <a:pPr algn="ctr">
              <a:buNone/>
            </a:pPr>
            <a:r>
              <a:rPr lang="fr-FR" b="1" i="1" dirty="0">
                <a:solidFill>
                  <a:schemeClr val="bg1"/>
                </a:solidFill>
                <a:highlight>
                  <a:srgbClr val="000000"/>
                </a:highlight>
                <a:latin typeface="Arial"/>
              </a:rPr>
              <a:t>En ce début de 2024, à l'ère de l'intelligence artificielle et des nouvelles technologies de production agricole, des milliers de personnes ne disposent pas de suffisamment de nourriture pour satisfaire leurs besoins alimentaires.</a:t>
            </a:r>
          </a:p>
          <a:p>
            <a:pPr algn="ctr">
              <a:buNone/>
            </a:pPr>
            <a:endParaRPr lang="fr-FR" b="1" i="1" dirty="0">
              <a:solidFill>
                <a:schemeClr val="bg1"/>
              </a:solidFill>
              <a:highlight>
                <a:srgbClr val="000000"/>
              </a:highlight>
              <a:latin typeface="Arial"/>
            </a:endParaRPr>
          </a:p>
          <a:p>
            <a:pPr algn="ctr">
              <a:buNone/>
            </a:pPr>
            <a:r>
              <a:rPr lang="fr-FR" b="1" i="1" dirty="0">
                <a:solidFill>
                  <a:schemeClr val="bg1"/>
                </a:solidFill>
                <a:highlight>
                  <a:srgbClr val="000000"/>
                </a:highlight>
                <a:latin typeface="Arial"/>
              </a:rPr>
              <a:t>Pourtant, la production alimentaire mondiale est en mesure de répondre aux besoins de l'ensemble de la population de la planète.</a:t>
            </a:r>
            <a:endParaRPr lang="fr-FR" b="1" i="1" dirty="0">
              <a:solidFill>
                <a:schemeClr val="bg1"/>
              </a:solidFill>
              <a:latin typeface="Arial"/>
            </a:endParaRPr>
          </a:p>
          <a:p>
            <a:pPr algn="ctr">
              <a:buNone/>
            </a:pPr>
            <a:endParaRPr lang="fr-FR" b="1" i="1" dirty="0">
              <a:solidFill>
                <a:schemeClr val="bg1"/>
              </a:solidFill>
              <a:highlight>
                <a:srgbClr val="000000"/>
              </a:highlight>
              <a:latin typeface="Arial"/>
            </a:endParaRPr>
          </a:p>
          <a:p>
            <a:pPr algn="ctr">
              <a:buNone/>
            </a:pPr>
            <a:r>
              <a:rPr lang="fr-FR" b="1" i="1" dirty="0">
                <a:solidFill>
                  <a:schemeClr val="bg1"/>
                </a:solidFill>
                <a:highlight>
                  <a:srgbClr val="000000"/>
                </a:highlight>
                <a:latin typeface="Arial"/>
              </a:rPr>
              <a:t>Par exemple</a:t>
            </a:r>
            <a:r>
              <a:rPr lang="fr-FR" b="1" i="1" dirty="0">
                <a:solidFill>
                  <a:schemeClr val="bg1"/>
                </a:solidFill>
                <a:highlight>
                  <a:srgbClr val="000000"/>
                </a:highlight>
                <a:latin typeface="Arial"/>
                <a:cs typeface="Arial"/>
              </a:rPr>
              <a:t>,</a:t>
            </a:r>
            <a:r>
              <a:rPr lang="fr-FR" b="1" i="1" dirty="0">
                <a:solidFill>
                  <a:schemeClr val="bg1"/>
                </a:solidFill>
                <a:highlight>
                  <a:srgbClr val="000000"/>
                </a:highlight>
                <a:latin typeface="Arial"/>
              </a:rPr>
              <a:t> en 2017</a:t>
            </a:r>
            <a:r>
              <a:rPr lang="fr-FR" b="1" i="1" dirty="0">
                <a:solidFill>
                  <a:schemeClr val="bg1"/>
                </a:solidFill>
                <a:highlight>
                  <a:srgbClr val="000000"/>
                </a:highlight>
                <a:latin typeface="Arial"/>
                <a:cs typeface="Arial"/>
              </a:rPr>
              <a:t>, nous aurions théoriquement pu nourrir 110,92 % de la population mondiale. </a:t>
            </a:r>
            <a:endParaRPr lang="fr-FR" b="1" i="1" dirty="0">
              <a:solidFill>
                <a:schemeClr val="bg1"/>
              </a:solidFill>
              <a:latin typeface="Arial"/>
              <a:cs typeface="Arial"/>
            </a:endParaRPr>
          </a:p>
          <a:p>
            <a:pPr algn="ctr">
              <a:buNone/>
            </a:pPr>
            <a:endParaRPr lang="fr-FR" b="1" i="1" dirty="0">
              <a:solidFill>
                <a:schemeClr val="bg1"/>
              </a:solidFill>
              <a:highlight>
                <a:srgbClr val="000000"/>
              </a:highlight>
              <a:latin typeface="Arial"/>
              <a:cs typeface="Arial"/>
            </a:endParaRPr>
          </a:p>
          <a:p>
            <a:pPr algn="ctr">
              <a:buNone/>
            </a:pPr>
            <a:r>
              <a:rPr lang="fr-FR" b="1" i="1" dirty="0">
                <a:solidFill>
                  <a:schemeClr val="bg1"/>
                </a:solidFill>
                <a:highlight>
                  <a:srgbClr val="000000"/>
                </a:highlight>
                <a:latin typeface="Arial"/>
                <a:cs typeface="Arial"/>
              </a:rPr>
              <a:t>Malheureusement, la lutte contre la faim demeure </a:t>
            </a:r>
            <a:r>
              <a:rPr lang="fr-FR" b="1" i="1" dirty="0">
                <a:solidFill>
                  <a:schemeClr val="bg1"/>
                </a:solidFill>
                <a:highlight>
                  <a:srgbClr val="000000"/>
                </a:highlight>
                <a:latin typeface="Arial"/>
              </a:rPr>
              <a:t>une problématique actuelle.</a:t>
            </a:r>
            <a:endParaRPr lang="fr-FR" b="1" i="1" dirty="0">
              <a:solidFill>
                <a:schemeClr val="bg1"/>
              </a:solidFill>
              <a:latin typeface="Arial"/>
            </a:endParaRPr>
          </a:p>
        </p:txBody>
      </p:sp>
      <p:pic>
        <p:nvPicPr>
          <p:cNvPr id="3" name="Image 2" descr="Une image contenant texte, Police, guide, conception&#10;&#10;Description générée automatiquement">
            <a:extLst>
              <a:ext uri="{FF2B5EF4-FFF2-40B4-BE49-F238E27FC236}">
                <a16:creationId xmlns:a16="http://schemas.microsoft.com/office/drawing/2014/main" id="{8F3DE9C3-B78B-CE0F-7AE3-A9B2C9BFC49C}"/>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086135" y="-1061"/>
            <a:ext cx="2110040" cy="854340"/>
          </a:xfrm>
          <a:prstGeom prst="rect">
            <a:avLst/>
          </a:prstGeom>
        </p:spPr>
      </p:pic>
    </p:spTree>
  </p:cSld>
  <p:clrMapOvr>
    <a:masterClrMapping/>
  </p:clrMapOvr>
</p:sld>
</file>

<file path=ppt/theme/theme1.xml><?xml version="1.0" encoding="utf-8"?>
<a:theme xmlns:a="http://schemas.openxmlformats.org/drawingml/2006/main" name="Entre guillemets">
  <a:themeElements>
    <a:clrScheme name="Quotable">
      <a:dk1>
        <a:srgbClr val="000000"/>
      </a:dk1>
      <a:lt1>
        <a:srgbClr val="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Grand écran</PresentationFormat>
  <Slides>20</Slides>
  <Notes>20</Notes>
  <HiddenSlides>0</HiddenSlides>
  <ScaleCrop>false</ScaleCrop>
  <HeadingPairs>
    <vt:vector size="4" baseType="variant">
      <vt:variant>
        <vt:lpstr>Thème</vt:lpstr>
      </vt:variant>
      <vt:variant>
        <vt:i4>1</vt:i4>
      </vt:variant>
      <vt:variant>
        <vt:lpstr>Titres des diapositives</vt:lpstr>
      </vt:variant>
      <vt:variant>
        <vt:i4>20</vt:i4>
      </vt:variant>
    </vt:vector>
  </HeadingPairs>
  <TitlesOfParts>
    <vt:vector size="21" baseType="lpstr">
      <vt:lpstr>Entre guillemets</vt:lpstr>
      <vt:lpstr>Étude sur l’alimentation dans le monde</vt:lpstr>
      <vt:lpstr>Contexte et spécification des données</vt:lpstr>
      <vt:lpstr>Méthodologie de l’analyse</vt:lpstr>
      <vt:lpstr>1) Proportion de personnes en état de sous-nutrition en 2017</vt:lpstr>
      <vt:lpstr>2) Nombre théorique de personnes qui pourraient être nourries en 2017</vt:lpstr>
      <vt:lpstr>3) Nombre théorique de personnes qui pourraient être nourries uniquement avec les végétaux en 2017</vt:lpstr>
      <vt:lpstr>4) Répartition de la disponibilité alimentaire</vt:lpstr>
      <vt:lpstr>5) Part de l’utilisation des principales céréales entre l’alimentation humaine et animale</vt:lpstr>
      <vt:lpstr>6) Liste des 10 pays où la proportion de personnes en état de sous-nutrition est la plus forte en 2017</vt:lpstr>
      <vt:lpstr>6) Liste des 10 pays où la proportion de personnes en état de sous-nutrition est la plus forte en 2017</vt:lpstr>
      <vt:lpstr>7) Liste des 10 pays qui ont le plus bénéficié de l’aide alimentaire entre 2013 et 2016</vt:lpstr>
      <vt:lpstr>8) Évolution de l’aide alimentaire pour les 5 pays qui en ont le plus bénéficié entre 2013 et 2016</vt:lpstr>
      <vt:lpstr>9) Liste des 10 pays qui ont la plus forte disponibilité alimentaire par habitant</vt:lpstr>
      <vt:lpstr>9) Liste des 10 pays qui ont la plus faible disponibilité alimentaire par habitant</vt:lpstr>
      <vt:lpstr>10) Étude sur le manioc en Thaïlande | 2017</vt:lpstr>
      <vt:lpstr>11) Analyses complémentaires</vt:lpstr>
      <vt:lpstr>Présentation PowerPoint</vt:lpstr>
      <vt:lpstr>Présentation PowerPoint</vt:lpstr>
      <vt:lpstr>Présentation PowerPoint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Étude sur l’alimentation dans le monde</dc:title>
  <dc:creator>JeY jEy</dc:creator>
  <cp:revision>1953</cp:revision>
  <dcterms:created xsi:type="dcterms:W3CDTF">2023-03-17T20:58:30Z</dcterms:created>
  <dcterms:modified xsi:type="dcterms:W3CDTF">2024-01-18T14:50:54Z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