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39"/>
  </p:notesMasterIdLst>
  <p:sldIdLst>
    <p:sldId id="256" r:id="rId3"/>
    <p:sldId id="257" r:id="rId4"/>
    <p:sldId id="262" r:id="rId5"/>
    <p:sldId id="259" r:id="rId6"/>
    <p:sldId id="314" r:id="rId7"/>
    <p:sldId id="315" r:id="rId8"/>
    <p:sldId id="312" r:id="rId9"/>
    <p:sldId id="313" r:id="rId10"/>
    <p:sldId id="293" r:id="rId11"/>
    <p:sldId id="292" r:id="rId12"/>
    <p:sldId id="291" r:id="rId13"/>
    <p:sldId id="264" r:id="rId14"/>
    <p:sldId id="295" r:id="rId15"/>
    <p:sldId id="296" r:id="rId16"/>
    <p:sldId id="267" r:id="rId17"/>
    <p:sldId id="297" r:id="rId18"/>
    <p:sldId id="299" r:id="rId19"/>
    <p:sldId id="298" r:id="rId20"/>
    <p:sldId id="316" r:id="rId21"/>
    <p:sldId id="268" r:id="rId22"/>
    <p:sldId id="258" r:id="rId23"/>
    <p:sldId id="271" r:id="rId24"/>
    <p:sldId id="272" r:id="rId25"/>
    <p:sldId id="300" r:id="rId26"/>
    <p:sldId id="301" r:id="rId27"/>
    <p:sldId id="302" r:id="rId28"/>
    <p:sldId id="303" r:id="rId29"/>
    <p:sldId id="304" r:id="rId30"/>
    <p:sldId id="305" r:id="rId31"/>
    <p:sldId id="306" r:id="rId32"/>
    <p:sldId id="307" r:id="rId33"/>
    <p:sldId id="310" r:id="rId34"/>
    <p:sldId id="308" r:id="rId35"/>
    <p:sldId id="309" r:id="rId36"/>
    <p:sldId id="311" r:id="rId37"/>
    <p:sldId id="288" r:id="rId38"/>
  </p:sldIdLst>
  <p:sldSz cx="9144000" cy="5143500" type="screen16x9"/>
  <p:notesSz cx="6858000" cy="9144000"/>
  <p:embeddedFontLst>
    <p:embeddedFont>
      <p:font typeface="Arial Black" panose="020B0A04020102020204" pitchFamily="34" charset="0"/>
      <p:regular r:id="rId40"/>
      <p:bold r:id="rId41"/>
    </p:embeddedFont>
    <p:embeddedFont>
      <p:font typeface="Bebas Neue" panose="020B0606020202050201" pitchFamily="34" charset="0"/>
      <p:regular r:id="rId42"/>
    </p:embeddedFont>
    <p:embeddedFont>
      <p:font typeface="Inter" panose="020B0502030000000004" pitchFamily="34" charset="0"/>
      <p:regular r:id="rId43"/>
      <p:bold r:id="rId44"/>
    </p:embeddedFont>
    <p:embeddedFont>
      <p:font typeface="Lexend" panose="020B0604020202020204" charset="0"/>
      <p:regular r:id="rId45"/>
      <p:bold r:id="rId46"/>
    </p:embeddedFont>
    <p:embeddedFont>
      <p:font typeface="Lexend SemiBold" panose="020B0604020202020204" charset="0"/>
      <p:regular r:id="rId47"/>
      <p:bold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504" y="12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5.fntdata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7.fntdata"/><Relationship Id="rId20" Type="http://schemas.openxmlformats.org/officeDocument/2006/relationships/slide" Target="slides/slide18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5c099360e7_3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5c099360e7_3_1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5c099360e7_3_1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5c099360e7_3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g25c099360e7_3_2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g25c099360e7_3_2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5c099360e7_3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g25c099360e7_3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2" name="Google Shape;302;g25c099360e7_3_2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5c099360e7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g25c099360e7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Les sites insee.fr, data.gouv.fr présente une politique de protection des données personnelles.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 qui signifie que ces organismes atteste que les données ont été </a:t>
            </a:r>
            <a:r>
              <a:rPr lang="fr-F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requei</a:t>
            </a: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 accord avec les </a:t>
            </a:r>
            <a:r>
              <a:rPr lang="fr-F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regles</a:t>
            </a: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du RGPD.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Afin de respecté la licence ouverte 2.0 nous devons mentionné la source des données , la date de dernière mise a jours et ne pas altérer les données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finalité : Dans notre cas la réutilisation de données publics pour la création d’une base données immobilière respecte le RGPD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7" name="Google Shape;277;g25c099360e7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>
          <a:extLst>
            <a:ext uri="{FF2B5EF4-FFF2-40B4-BE49-F238E27FC236}">
              <a16:creationId xmlns:a16="http://schemas.microsoft.com/office/drawing/2014/main" id="{23C7D9A5-4FC3-1396-465E-04CC3B14C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5c099360e7_3_227:notes">
            <a:extLst>
              <a:ext uri="{FF2B5EF4-FFF2-40B4-BE49-F238E27FC236}">
                <a16:creationId xmlns:a16="http://schemas.microsoft.com/office/drawing/2014/main" id="{92A5272F-93CF-E3DF-50D6-44DF54283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g25c099360e7_3_227:notes">
            <a:extLst>
              <a:ext uri="{FF2B5EF4-FFF2-40B4-BE49-F238E27FC236}">
                <a16:creationId xmlns:a16="http://schemas.microsoft.com/office/drawing/2014/main" id="{6A875DD9-1B25-A49F-2524-4904FFC420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g25c099360e7_3_227:notes">
            <a:extLst>
              <a:ext uri="{FF2B5EF4-FFF2-40B4-BE49-F238E27FC236}">
                <a16:creationId xmlns:a16="http://schemas.microsoft.com/office/drawing/2014/main" id="{41FE9641-38A8-5323-E7F9-53CB4677B5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7118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>
          <a:extLst>
            <a:ext uri="{FF2B5EF4-FFF2-40B4-BE49-F238E27FC236}">
              <a16:creationId xmlns:a16="http://schemas.microsoft.com/office/drawing/2014/main" id="{972B0C40-1334-7C2A-713C-43E5F950B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5c099360e7_3_227:notes">
            <a:extLst>
              <a:ext uri="{FF2B5EF4-FFF2-40B4-BE49-F238E27FC236}">
                <a16:creationId xmlns:a16="http://schemas.microsoft.com/office/drawing/2014/main" id="{784ADC82-A73C-2D2E-005D-47BFFD5C48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g25c099360e7_3_227:notes">
            <a:extLst>
              <a:ext uri="{FF2B5EF4-FFF2-40B4-BE49-F238E27FC236}">
                <a16:creationId xmlns:a16="http://schemas.microsoft.com/office/drawing/2014/main" id="{E56984FB-8133-91D3-2BBB-82BA6A9A05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g25c099360e7_3_227:notes">
            <a:extLst>
              <a:ext uri="{FF2B5EF4-FFF2-40B4-BE49-F238E27FC236}">
                <a16:creationId xmlns:a16="http://schemas.microsoft.com/office/drawing/2014/main" id="{05C63259-C02C-0EE8-CDF6-FE507B219F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8910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>
          <a:extLst>
            <a:ext uri="{FF2B5EF4-FFF2-40B4-BE49-F238E27FC236}">
              <a16:creationId xmlns:a16="http://schemas.microsoft.com/office/drawing/2014/main" id="{48AE9330-1778-F0AD-8185-6DC6F3E06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5c099360e7_3_227:notes">
            <a:extLst>
              <a:ext uri="{FF2B5EF4-FFF2-40B4-BE49-F238E27FC236}">
                <a16:creationId xmlns:a16="http://schemas.microsoft.com/office/drawing/2014/main" id="{972BACD2-1341-CBB3-DE0E-72A97BE3C5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g25c099360e7_3_227:notes">
            <a:extLst>
              <a:ext uri="{FF2B5EF4-FFF2-40B4-BE49-F238E27FC236}">
                <a16:creationId xmlns:a16="http://schemas.microsoft.com/office/drawing/2014/main" id="{247DC9E7-EBE3-18B2-2800-872D545829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g25c099360e7_3_227:notes">
            <a:extLst>
              <a:ext uri="{FF2B5EF4-FFF2-40B4-BE49-F238E27FC236}">
                <a16:creationId xmlns:a16="http://schemas.microsoft.com/office/drawing/2014/main" id="{FF1A0437-30C5-0FA8-B0A9-DF10CC40E0E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5532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>
          <a:extLst>
            <a:ext uri="{FF2B5EF4-FFF2-40B4-BE49-F238E27FC236}">
              <a16:creationId xmlns:a16="http://schemas.microsoft.com/office/drawing/2014/main" id="{FD79F509-160B-390A-D3B7-C7C816082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5c099360e7_3_227:notes">
            <a:extLst>
              <a:ext uri="{FF2B5EF4-FFF2-40B4-BE49-F238E27FC236}">
                <a16:creationId xmlns:a16="http://schemas.microsoft.com/office/drawing/2014/main" id="{98A6C4FB-01A9-D77C-3F86-F1AFA27157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g25c099360e7_3_227:notes">
            <a:extLst>
              <a:ext uri="{FF2B5EF4-FFF2-40B4-BE49-F238E27FC236}">
                <a16:creationId xmlns:a16="http://schemas.microsoft.com/office/drawing/2014/main" id="{F4B72696-3C79-6F06-2FC5-425F19B527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g25c099360e7_3_227:notes">
            <a:extLst>
              <a:ext uri="{FF2B5EF4-FFF2-40B4-BE49-F238E27FC236}">
                <a16:creationId xmlns:a16="http://schemas.microsoft.com/office/drawing/2014/main" id="{BDE42D15-E541-6213-B261-4211C1182B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28261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>
          <a:extLst>
            <a:ext uri="{FF2B5EF4-FFF2-40B4-BE49-F238E27FC236}">
              <a16:creationId xmlns:a16="http://schemas.microsoft.com/office/drawing/2014/main" id="{5667F427-33BF-57DD-EFF1-05ADC29C6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5c099360e7_3_227:notes">
            <a:extLst>
              <a:ext uri="{FF2B5EF4-FFF2-40B4-BE49-F238E27FC236}">
                <a16:creationId xmlns:a16="http://schemas.microsoft.com/office/drawing/2014/main" id="{5E2E8AFF-0141-70DB-7E75-8FDBFCE2D3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g25c099360e7_3_227:notes">
            <a:extLst>
              <a:ext uri="{FF2B5EF4-FFF2-40B4-BE49-F238E27FC236}">
                <a16:creationId xmlns:a16="http://schemas.microsoft.com/office/drawing/2014/main" id="{FF0DFB49-9A7F-05A8-DE09-EA339132EE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g25c099360e7_3_227:notes">
            <a:extLst>
              <a:ext uri="{FF2B5EF4-FFF2-40B4-BE49-F238E27FC236}">
                <a16:creationId xmlns:a16="http://schemas.microsoft.com/office/drawing/2014/main" id="{B007135E-6CCC-68D1-ECF6-3E838D5FCC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6627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>
          <a:extLst>
            <a:ext uri="{FF2B5EF4-FFF2-40B4-BE49-F238E27FC236}">
              <a16:creationId xmlns:a16="http://schemas.microsoft.com/office/drawing/2014/main" id="{667CA41C-B2DD-4D29-AC48-AE7C3A608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5c099360e7_3_227:notes">
            <a:extLst>
              <a:ext uri="{FF2B5EF4-FFF2-40B4-BE49-F238E27FC236}">
                <a16:creationId xmlns:a16="http://schemas.microsoft.com/office/drawing/2014/main" id="{232725B5-72AB-49EF-38AC-5620B777AB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g25c099360e7_3_227:notes">
            <a:extLst>
              <a:ext uri="{FF2B5EF4-FFF2-40B4-BE49-F238E27FC236}">
                <a16:creationId xmlns:a16="http://schemas.microsoft.com/office/drawing/2014/main" id="{46477BE5-8109-F5B0-4D66-676EB66F9A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g25c099360e7_3_227:notes">
            <a:extLst>
              <a:ext uri="{FF2B5EF4-FFF2-40B4-BE49-F238E27FC236}">
                <a16:creationId xmlns:a16="http://schemas.microsoft.com/office/drawing/2014/main" id="{C14B3CC7-2D5E-8005-D8B3-929951D3319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41163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>
          <a:extLst>
            <a:ext uri="{FF2B5EF4-FFF2-40B4-BE49-F238E27FC236}">
              <a16:creationId xmlns:a16="http://schemas.microsoft.com/office/drawing/2014/main" id="{4EC28D00-3CF2-60A3-2EDC-9801BB4C9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5c099360e7_3_227:notes">
            <a:extLst>
              <a:ext uri="{FF2B5EF4-FFF2-40B4-BE49-F238E27FC236}">
                <a16:creationId xmlns:a16="http://schemas.microsoft.com/office/drawing/2014/main" id="{00D13D29-AC51-CBF3-1382-2FFE5DD646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g25c099360e7_3_227:notes">
            <a:extLst>
              <a:ext uri="{FF2B5EF4-FFF2-40B4-BE49-F238E27FC236}">
                <a16:creationId xmlns:a16="http://schemas.microsoft.com/office/drawing/2014/main" id="{67FD5D78-CC7F-F381-C47F-F46A8A05A4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g25c099360e7_3_227:notes">
            <a:extLst>
              <a:ext uri="{FF2B5EF4-FFF2-40B4-BE49-F238E27FC236}">
                <a16:creationId xmlns:a16="http://schemas.microsoft.com/office/drawing/2014/main" id="{4AF00124-C3C9-B83D-D10A-A4B36B71BE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40292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b5852eaced_0_6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g2b5852eaced_0_6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2b5852eaced_0_6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>
          <a:extLst>
            <a:ext uri="{FF2B5EF4-FFF2-40B4-BE49-F238E27FC236}">
              <a16:creationId xmlns:a16="http://schemas.microsoft.com/office/drawing/2014/main" id="{70174151-BB75-2AEC-1E31-663B1412F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b5852eaced_0_657:notes">
            <a:extLst>
              <a:ext uri="{FF2B5EF4-FFF2-40B4-BE49-F238E27FC236}">
                <a16:creationId xmlns:a16="http://schemas.microsoft.com/office/drawing/2014/main" id="{111F798D-A607-0730-C70C-48259369D9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g2b5852eaced_0_657:notes">
            <a:extLst>
              <a:ext uri="{FF2B5EF4-FFF2-40B4-BE49-F238E27FC236}">
                <a16:creationId xmlns:a16="http://schemas.microsoft.com/office/drawing/2014/main" id="{52222026-914E-5B8D-C372-2B213996E4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2b5852eaced_0_657:notes">
            <a:extLst>
              <a:ext uri="{FF2B5EF4-FFF2-40B4-BE49-F238E27FC236}">
                <a16:creationId xmlns:a16="http://schemas.microsoft.com/office/drawing/2014/main" id="{4390A2DE-761B-73A4-E4D2-6804316E0A0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03537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>
          <a:extLst>
            <a:ext uri="{FF2B5EF4-FFF2-40B4-BE49-F238E27FC236}">
              <a16:creationId xmlns:a16="http://schemas.microsoft.com/office/drawing/2014/main" id="{424C78E2-2BE1-5430-0B7B-475DDC410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b5852eaced_0_657:notes">
            <a:extLst>
              <a:ext uri="{FF2B5EF4-FFF2-40B4-BE49-F238E27FC236}">
                <a16:creationId xmlns:a16="http://schemas.microsoft.com/office/drawing/2014/main" id="{8E990CBF-78F9-5FB3-4957-8DDD15831A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g2b5852eaced_0_657:notes">
            <a:extLst>
              <a:ext uri="{FF2B5EF4-FFF2-40B4-BE49-F238E27FC236}">
                <a16:creationId xmlns:a16="http://schemas.microsoft.com/office/drawing/2014/main" id="{E02F1B7C-C23E-EF26-912F-E4D2071C0E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2b5852eaced_0_657:notes">
            <a:extLst>
              <a:ext uri="{FF2B5EF4-FFF2-40B4-BE49-F238E27FC236}">
                <a16:creationId xmlns:a16="http://schemas.microsoft.com/office/drawing/2014/main" id="{C4D3777C-47DA-119C-73ED-5F5681336A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4189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b5852eaced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b5852eaced_0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73305729-4EF7-DB05-4484-FBD58F6E0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b5852eaced_0_319:notes">
            <a:extLst>
              <a:ext uri="{FF2B5EF4-FFF2-40B4-BE49-F238E27FC236}">
                <a16:creationId xmlns:a16="http://schemas.microsoft.com/office/drawing/2014/main" id="{685B0931-FFCA-6BD3-D20A-53BAFC1B36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b5852eaced_0_319:notes">
            <a:extLst>
              <a:ext uri="{FF2B5EF4-FFF2-40B4-BE49-F238E27FC236}">
                <a16:creationId xmlns:a16="http://schemas.microsoft.com/office/drawing/2014/main" id="{D6017850-4851-9235-3AA4-CFFFB04EFC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72230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D521FEB9-987D-CFF3-72D8-E16EA4A93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b5852eaced_0_319:notes">
            <a:extLst>
              <a:ext uri="{FF2B5EF4-FFF2-40B4-BE49-F238E27FC236}">
                <a16:creationId xmlns:a16="http://schemas.microsoft.com/office/drawing/2014/main" id="{D0CED83F-3249-EAB7-952F-A4E784030C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b5852eaced_0_319:notes">
            <a:extLst>
              <a:ext uri="{FF2B5EF4-FFF2-40B4-BE49-F238E27FC236}">
                <a16:creationId xmlns:a16="http://schemas.microsoft.com/office/drawing/2014/main" id="{4406AB5E-5F7C-4724-40FC-E13E6D70E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01357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8FAC309D-45A3-1D9C-6D24-B1A8A1DFB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b5852eaced_0_319:notes">
            <a:extLst>
              <a:ext uri="{FF2B5EF4-FFF2-40B4-BE49-F238E27FC236}">
                <a16:creationId xmlns:a16="http://schemas.microsoft.com/office/drawing/2014/main" id="{C4AE77AC-D3FA-A5C0-4016-868ACDACF1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b5852eaced_0_319:notes">
            <a:extLst>
              <a:ext uri="{FF2B5EF4-FFF2-40B4-BE49-F238E27FC236}">
                <a16:creationId xmlns:a16="http://schemas.microsoft.com/office/drawing/2014/main" id="{36883E34-CBE6-055C-754E-E363463140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87414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32E4B2F5-20EA-32A4-5B8D-232FBEDB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b5852eaced_0_319:notes">
            <a:extLst>
              <a:ext uri="{FF2B5EF4-FFF2-40B4-BE49-F238E27FC236}">
                <a16:creationId xmlns:a16="http://schemas.microsoft.com/office/drawing/2014/main" id="{EFE7970D-D37E-8E05-40C4-E4C21C2197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b5852eaced_0_319:notes">
            <a:extLst>
              <a:ext uri="{FF2B5EF4-FFF2-40B4-BE49-F238E27FC236}">
                <a16:creationId xmlns:a16="http://schemas.microsoft.com/office/drawing/2014/main" id="{ADFA7D1F-294B-F635-836D-D978884784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89862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b5852eaced_0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b5852eaced_0_3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b5852eaced_0_6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b5852eaced_0_6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5c099360e7_3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5" name="Google Shape;365;g25c099360e7_3_2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g25c099360e7_3_2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>
          <a:extLst>
            <a:ext uri="{FF2B5EF4-FFF2-40B4-BE49-F238E27FC236}">
              <a16:creationId xmlns:a16="http://schemas.microsoft.com/office/drawing/2014/main" id="{E73572B5-763D-15A3-E818-4F8E0EF43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5c099360e7_3_277:notes">
            <a:extLst>
              <a:ext uri="{FF2B5EF4-FFF2-40B4-BE49-F238E27FC236}">
                <a16:creationId xmlns:a16="http://schemas.microsoft.com/office/drawing/2014/main" id="{09327068-7A84-384A-40F7-1CCF6A801D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25c099360e7_3_277:notes">
            <a:extLst>
              <a:ext uri="{FF2B5EF4-FFF2-40B4-BE49-F238E27FC236}">
                <a16:creationId xmlns:a16="http://schemas.microsoft.com/office/drawing/2014/main" id="{0242642C-4B3A-B0DB-170D-4468E158C6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g25c099360e7_3_277:notes">
            <a:extLst>
              <a:ext uri="{FF2B5EF4-FFF2-40B4-BE49-F238E27FC236}">
                <a16:creationId xmlns:a16="http://schemas.microsoft.com/office/drawing/2014/main" id="{F41F4314-4B68-D7D5-B344-660B24E71E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43010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>
          <a:extLst>
            <a:ext uri="{FF2B5EF4-FFF2-40B4-BE49-F238E27FC236}">
              <a16:creationId xmlns:a16="http://schemas.microsoft.com/office/drawing/2014/main" id="{E72DC896-E26A-1031-DE1A-6F1030660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5c099360e7_3_277:notes">
            <a:extLst>
              <a:ext uri="{FF2B5EF4-FFF2-40B4-BE49-F238E27FC236}">
                <a16:creationId xmlns:a16="http://schemas.microsoft.com/office/drawing/2014/main" id="{2A2D8450-82F4-59E8-05AE-D0E2E5F310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25c099360e7_3_277:notes">
            <a:extLst>
              <a:ext uri="{FF2B5EF4-FFF2-40B4-BE49-F238E27FC236}">
                <a16:creationId xmlns:a16="http://schemas.microsoft.com/office/drawing/2014/main" id="{55E8323B-85EC-33BD-B726-21DAB1F150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g25c099360e7_3_277:notes">
            <a:extLst>
              <a:ext uri="{FF2B5EF4-FFF2-40B4-BE49-F238E27FC236}">
                <a16:creationId xmlns:a16="http://schemas.microsoft.com/office/drawing/2014/main" id="{653579C3-C57B-0CED-7B9B-353ABD25D0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61755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>
          <a:extLst>
            <a:ext uri="{FF2B5EF4-FFF2-40B4-BE49-F238E27FC236}">
              <a16:creationId xmlns:a16="http://schemas.microsoft.com/office/drawing/2014/main" id="{A4ADD0FE-9C58-E9D9-8910-710C8020C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5c099360e7_3_277:notes">
            <a:extLst>
              <a:ext uri="{FF2B5EF4-FFF2-40B4-BE49-F238E27FC236}">
                <a16:creationId xmlns:a16="http://schemas.microsoft.com/office/drawing/2014/main" id="{836C7B91-D6AE-20CE-8C4A-DD35F166C6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25c099360e7_3_277:notes">
            <a:extLst>
              <a:ext uri="{FF2B5EF4-FFF2-40B4-BE49-F238E27FC236}">
                <a16:creationId xmlns:a16="http://schemas.microsoft.com/office/drawing/2014/main" id="{0428CDFC-B261-535C-48EB-6B6D399000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g25c099360e7_3_277:notes">
            <a:extLst>
              <a:ext uri="{FF2B5EF4-FFF2-40B4-BE49-F238E27FC236}">
                <a16:creationId xmlns:a16="http://schemas.microsoft.com/office/drawing/2014/main" id="{0F0DD23C-FB28-026D-C431-53F53B7768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10058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>
          <a:extLst>
            <a:ext uri="{FF2B5EF4-FFF2-40B4-BE49-F238E27FC236}">
              <a16:creationId xmlns:a16="http://schemas.microsoft.com/office/drawing/2014/main" id="{2A7BFA1F-9717-E328-DE7B-BD210B6E9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5c099360e7_3_277:notes">
            <a:extLst>
              <a:ext uri="{FF2B5EF4-FFF2-40B4-BE49-F238E27FC236}">
                <a16:creationId xmlns:a16="http://schemas.microsoft.com/office/drawing/2014/main" id="{7AD36064-244C-F056-A1FF-49D0BDABEF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25c099360e7_3_277:notes">
            <a:extLst>
              <a:ext uri="{FF2B5EF4-FFF2-40B4-BE49-F238E27FC236}">
                <a16:creationId xmlns:a16="http://schemas.microsoft.com/office/drawing/2014/main" id="{20D77D80-04D4-ADC9-FAEA-64AF1E3FF0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g25c099360e7_3_277:notes">
            <a:extLst>
              <a:ext uri="{FF2B5EF4-FFF2-40B4-BE49-F238E27FC236}">
                <a16:creationId xmlns:a16="http://schemas.microsoft.com/office/drawing/2014/main" id="{B6C99061-F3B9-72C6-5E36-243223C89A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22668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>
          <a:extLst>
            <a:ext uri="{FF2B5EF4-FFF2-40B4-BE49-F238E27FC236}">
              <a16:creationId xmlns:a16="http://schemas.microsoft.com/office/drawing/2014/main" id="{9504C591-C0E0-2A45-C376-47D221317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5c099360e7_3_277:notes">
            <a:extLst>
              <a:ext uri="{FF2B5EF4-FFF2-40B4-BE49-F238E27FC236}">
                <a16:creationId xmlns:a16="http://schemas.microsoft.com/office/drawing/2014/main" id="{3199A720-12DB-984B-B5F5-6AD65EA952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25c099360e7_3_277:notes">
            <a:extLst>
              <a:ext uri="{FF2B5EF4-FFF2-40B4-BE49-F238E27FC236}">
                <a16:creationId xmlns:a16="http://schemas.microsoft.com/office/drawing/2014/main" id="{34A9BC70-0DF3-B630-59E5-5697A77160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g25c099360e7_3_277:notes">
            <a:extLst>
              <a:ext uri="{FF2B5EF4-FFF2-40B4-BE49-F238E27FC236}">
                <a16:creationId xmlns:a16="http://schemas.microsoft.com/office/drawing/2014/main" id="{D639E4F5-50E1-3FE8-E3A2-AED32514602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87973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>
          <a:extLst>
            <a:ext uri="{FF2B5EF4-FFF2-40B4-BE49-F238E27FC236}">
              <a16:creationId xmlns:a16="http://schemas.microsoft.com/office/drawing/2014/main" id="{F21ECCC4-743A-0C86-F39B-155034FF9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5c099360e7_3_277:notes">
            <a:extLst>
              <a:ext uri="{FF2B5EF4-FFF2-40B4-BE49-F238E27FC236}">
                <a16:creationId xmlns:a16="http://schemas.microsoft.com/office/drawing/2014/main" id="{AF00C419-7AE9-6216-D247-5120F942EF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25c099360e7_3_277:notes">
            <a:extLst>
              <a:ext uri="{FF2B5EF4-FFF2-40B4-BE49-F238E27FC236}">
                <a16:creationId xmlns:a16="http://schemas.microsoft.com/office/drawing/2014/main" id="{2CC20282-2822-E466-A0A8-BC5967E624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g25c099360e7_3_277:notes">
            <a:extLst>
              <a:ext uri="{FF2B5EF4-FFF2-40B4-BE49-F238E27FC236}">
                <a16:creationId xmlns:a16="http://schemas.microsoft.com/office/drawing/2014/main" id="{62C7158A-7289-2CD3-DBD6-9B86E44B6A9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02683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>
          <a:extLst>
            <a:ext uri="{FF2B5EF4-FFF2-40B4-BE49-F238E27FC236}">
              <a16:creationId xmlns:a16="http://schemas.microsoft.com/office/drawing/2014/main" id="{68BC98AB-EAA7-AC40-9006-B8D223BC4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5c099360e7_3_277:notes">
            <a:extLst>
              <a:ext uri="{FF2B5EF4-FFF2-40B4-BE49-F238E27FC236}">
                <a16:creationId xmlns:a16="http://schemas.microsoft.com/office/drawing/2014/main" id="{12AE95F9-46F1-939B-C983-6E6899AA8D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25c099360e7_3_277:notes">
            <a:extLst>
              <a:ext uri="{FF2B5EF4-FFF2-40B4-BE49-F238E27FC236}">
                <a16:creationId xmlns:a16="http://schemas.microsoft.com/office/drawing/2014/main" id="{8BA85395-B0C5-808D-6218-424394CA0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g25c099360e7_3_277:notes">
            <a:extLst>
              <a:ext uri="{FF2B5EF4-FFF2-40B4-BE49-F238E27FC236}">
                <a16:creationId xmlns:a16="http://schemas.microsoft.com/office/drawing/2014/main" id="{FE847BC0-05BC-08C8-CEB7-B7970FCA16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46347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>
          <a:extLst>
            <a:ext uri="{FF2B5EF4-FFF2-40B4-BE49-F238E27FC236}">
              <a16:creationId xmlns:a16="http://schemas.microsoft.com/office/drawing/2014/main" id="{3CBDFC61-828D-7D20-EABF-37DA70574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5c099360e7_3_277:notes">
            <a:extLst>
              <a:ext uri="{FF2B5EF4-FFF2-40B4-BE49-F238E27FC236}">
                <a16:creationId xmlns:a16="http://schemas.microsoft.com/office/drawing/2014/main" id="{47ACBF7F-21E5-D132-A18D-72B6237971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25c099360e7_3_277:notes">
            <a:extLst>
              <a:ext uri="{FF2B5EF4-FFF2-40B4-BE49-F238E27FC236}">
                <a16:creationId xmlns:a16="http://schemas.microsoft.com/office/drawing/2014/main" id="{BAD58199-1D7C-EECA-170D-B3E7E1B171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g25c099360e7_3_277:notes">
            <a:extLst>
              <a:ext uri="{FF2B5EF4-FFF2-40B4-BE49-F238E27FC236}">
                <a16:creationId xmlns:a16="http://schemas.microsoft.com/office/drawing/2014/main" id="{376FAA3C-EC88-64EE-1458-ED257472F5D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797934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>
          <a:extLst>
            <a:ext uri="{FF2B5EF4-FFF2-40B4-BE49-F238E27FC236}">
              <a16:creationId xmlns:a16="http://schemas.microsoft.com/office/drawing/2014/main" id="{04A36D3B-524D-A817-6595-E0C7231F4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5c099360e7_3_277:notes">
            <a:extLst>
              <a:ext uri="{FF2B5EF4-FFF2-40B4-BE49-F238E27FC236}">
                <a16:creationId xmlns:a16="http://schemas.microsoft.com/office/drawing/2014/main" id="{E72EA938-4C72-FCCE-7353-2E20F1373B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25c099360e7_3_277:notes">
            <a:extLst>
              <a:ext uri="{FF2B5EF4-FFF2-40B4-BE49-F238E27FC236}">
                <a16:creationId xmlns:a16="http://schemas.microsoft.com/office/drawing/2014/main" id="{B409102A-78F0-8D68-744F-9758215B74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g25c099360e7_3_277:notes">
            <a:extLst>
              <a:ext uri="{FF2B5EF4-FFF2-40B4-BE49-F238E27FC236}">
                <a16:creationId xmlns:a16="http://schemas.microsoft.com/office/drawing/2014/main" id="{9DF9CE89-ABE4-06F0-BED1-B9DFADD89C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73408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>
          <a:extLst>
            <a:ext uri="{FF2B5EF4-FFF2-40B4-BE49-F238E27FC236}">
              <a16:creationId xmlns:a16="http://schemas.microsoft.com/office/drawing/2014/main" id="{CE6FDF62-3A80-52EC-F319-4A5BE105E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5c099360e7_3_277:notes">
            <a:extLst>
              <a:ext uri="{FF2B5EF4-FFF2-40B4-BE49-F238E27FC236}">
                <a16:creationId xmlns:a16="http://schemas.microsoft.com/office/drawing/2014/main" id="{C5DCF4CD-C056-3ED6-C35C-2178B4D830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25c099360e7_3_277:notes">
            <a:extLst>
              <a:ext uri="{FF2B5EF4-FFF2-40B4-BE49-F238E27FC236}">
                <a16:creationId xmlns:a16="http://schemas.microsoft.com/office/drawing/2014/main" id="{77330B4A-43ED-B2AC-656D-990DB03AE8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g25c099360e7_3_277:notes">
            <a:extLst>
              <a:ext uri="{FF2B5EF4-FFF2-40B4-BE49-F238E27FC236}">
                <a16:creationId xmlns:a16="http://schemas.microsoft.com/office/drawing/2014/main" id="{8561897D-27EB-8A9E-9015-FBE9005334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96771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>
          <a:extLst>
            <a:ext uri="{FF2B5EF4-FFF2-40B4-BE49-F238E27FC236}">
              <a16:creationId xmlns:a16="http://schemas.microsoft.com/office/drawing/2014/main" id="{762AFE3F-E4EE-AD91-569F-A7AC741CC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5c099360e7_3_277:notes">
            <a:extLst>
              <a:ext uri="{FF2B5EF4-FFF2-40B4-BE49-F238E27FC236}">
                <a16:creationId xmlns:a16="http://schemas.microsoft.com/office/drawing/2014/main" id="{65EE8797-127D-7C4F-ED85-B364E80A0C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25c099360e7_3_277:notes">
            <a:extLst>
              <a:ext uri="{FF2B5EF4-FFF2-40B4-BE49-F238E27FC236}">
                <a16:creationId xmlns:a16="http://schemas.microsoft.com/office/drawing/2014/main" id="{F5BBB298-A84A-B265-9A32-2E9FB2B477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g25c099360e7_3_277:notes">
            <a:extLst>
              <a:ext uri="{FF2B5EF4-FFF2-40B4-BE49-F238E27FC236}">
                <a16:creationId xmlns:a16="http://schemas.microsoft.com/office/drawing/2014/main" id="{E08179F5-7751-D483-230F-454AF0FE54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79233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>
          <a:extLst>
            <a:ext uri="{FF2B5EF4-FFF2-40B4-BE49-F238E27FC236}">
              <a16:creationId xmlns:a16="http://schemas.microsoft.com/office/drawing/2014/main" id="{28D99549-EFC4-4FDF-6881-A1764B55F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5c099360e7_3_277:notes">
            <a:extLst>
              <a:ext uri="{FF2B5EF4-FFF2-40B4-BE49-F238E27FC236}">
                <a16:creationId xmlns:a16="http://schemas.microsoft.com/office/drawing/2014/main" id="{0F67C68C-9364-F86B-9E9F-B0F12A9C8B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25c099360e7_3_277:notes">
            <a:extLst>
              <a:ext uri="{FF2B5EF4-FFF2-40B4-BE49-F238E27FC236}">
                <a16:creationId xmlns:a16="http://schemas.microsoft.com/office/drawing/2014/main" id="{D2FB734F-6889-E270-C5E5-AA8D4AF4DE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g25c099360e7_3_277:notes">
            <a:extLst>
              <a:ext uri="{FF2B5EF4-FFF2-40B4-BE49-F238E27FC236}">
                <a16:creationId xmlns:a16="http://schemas.microsoft.com/office/drawing/2014/main" id="{BFF7B997-7017-C0E1-C167-1A4CA251C7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154409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25c099360e7_3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6" name="Google Shape;536;g25c099360e7_3_2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g25c099360e7_3_2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 avec image">
  <p:cSld name="Diapositive de titre avec imag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4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58" name="Google Shape;58;p1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14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61" name="Google Shape;61;p14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rgbClr val="E2606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 01">
  <p:cSld name="DISPOSITION DU TEXTE 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15"/>
          <p:cNvCxnSpPr/>
          <p:nvPr/>
        </p:nvCxnSpPr>
        <p:spPr>
          <a:xfrm rot="10800000" flipH="1">
            <a:off x="4781550" y="3785308"/>
            <a:ext cx="1143431" cy="1352550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5" title="Sous-titre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5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>
            <a:spLocks noGrp="1"/>
          </p:cNvSpPr>
          <p:nvPr>
            <p:ph type="pic" idx="3"/>
          </p:nvPr>
        </p:nvSpPr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 avec sous-titre">
  <p:cSld name="Comparaison avec sous-titr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4" name="Google Shape;74;p1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75" name="Google Shape;75;p1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" name="Google Shape;76;p1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7" name="Google Shape;77;p1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90524" y="1578666"/>
            <a:ext cx="4106468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6" title="Puces"/>
          <p:cNvSpPr txBox="1">
            <a:spLocks noGrp="1"/>
          </p:cNvSpPr>
          <p:nvPr>
            <p:ph type="body" idx="2"/>
          </p:nvPr>
        </p:nvSpPr>
        <p:spPr>
          <a:xfrm>
            <a:off x="390524" y="2164557"/>
            <a:ext cx="4106468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3"/>
          </p:nvPr>
        </p:nvSpPr>
        <p:spPr>
          <a:xfrm>
            <a:off x="4640035" y="1578666"/>
            <a:ext cx="4106700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6" title="Puces"/>
          <p:cNvSpPr txBox="1">
            <a:spLocks noGrp="1"/>
          </p:cNvSpPr>
          <p:nvPr>
            <p:ph type="body" idx="4"/>
          </p:nvPr>
        </p:nvSpPr>
        <p:spPr>
          <a:xfrm>
            <a:off x="4640035" y="2164557"/>
            <a:ext cx="4106700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6" title="Sous-titre"/>
          <p:cNvSpPr txBox="1">
            <a:spLocks noGrp="1"/>
          </p:cNvSpPr>
          <p:nvPr>
            <p:ph type="body" idx="5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86" name="Google Shape;86;p1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 avec image">
  <p:cSld name="En-tête de section avec imag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rgbClr val="EE957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7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p17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93" name="Google Shape;93;p17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4" name="Google Shape;94;p17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7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17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7" name="Google Shape;97;p17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" name="Google Shape;98;p17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que">
  <p:cSld name="Graphiqu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8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01" name="Google Shape;101;p18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" name="Google Shape;102;p18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3" name="Google Shape;103;p18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18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08" name="Google Shape;108;p18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2"/>
          </p:nvPr>
        </p:nvSpPr>
        <p:spPr>
          <a:xfrm>
            <a:off x="398860" y="1504321"/>
            <a:ext cx="3919323" cy="30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8" title="Graphique"/>
          <p:cNvSpPr>
            <a:spLocks noGrp="1"/>
          </p:cNvSpPr>
          <p:nvPr>
            <p:ph type="chart" idx="3"/>
          </p:nvPr>
        </p:nvSpPr>
        <p:spPr>
          <a:xfrm>
            <a:off x="4347086" y="1504322"/>
            <a:ext cx="4289548" cy="30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 02">
  <p:cSld name="Disposition du texte 02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>
            <a:spLocks noGrp="1"/>
          </p:cNvSpPr>
          <p:nvPr>
            <p:ph type="pic" idx="2"/>
          </p:nvPr>
        </p:nvSpPr>
        <p:spPr>
          <a:xfrm>
            <a:off x="4627633" y="1076325"/>
            <a:ext cx="4516366" cy="406717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4" name="Google Shape;114;p19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19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19"/>
          <p:cNvCxnSpPr/>
          <p:nvPr/>
        </p:nvCxnSpPr>
        <p:spPr>
          <a:xfrm rot="10800000" flipH="1">
            <a:off x="7764236" y="889089"/>
            <a:ext cx="1379764" cy="1225461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19" title="Sous-titre"/>
          <p:cNvSpPr txBox="1">
            <a:spLocks noGrp="1"/>
          </p:cNvSpPr>
          <p:nvPr>
            <p:ph type="body" idx="3"/>
          </p:nvPr>
        </p:nvSpPr>
        <p:spPr>
          <a:xfrm>
            <a:off x="398534" y="1922608"/>
            <a:ext cx="5506966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/>
          <p:nvPr/>
        </p:nvSpPr>
        <p:spPr>
          <a:xfrm>
            <a:off x="8305038" y="178308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19" name="Google Shape;119;p19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au">
  <p:cSld name="Tableau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 title="Tableau"/>
          <p:cNvSpPr>
            <a:spLocks noGrp="1"/>
          </p:cNvSpPr>
          <p:nvPr>
            <p:ph type="tbl" idx="2"/>
          </p:nvPr>
        </p:nvSpPr>
        <p:spPr>
          <a:xfrm>
            <a:off x="398533" y="1998602"/>
            <a:ext cx="8245031" cy="257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4" name="Google Shape;124;p2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25" name="Google Shape;125;p2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6" name="Google Shape;126;p2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7" name="Google Shape;127;p2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2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0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32" name="Google Shape;132;p20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nde photo">
  <p:cSld name="Grande photo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/>
        </p:nvSpPr>
        <p:spPr>
          <a:xfrm rot="10800000" flipH="1">
            <a:off x="0" y="-4"/>
            <a:ext cx="8810625" cy="472440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 title="Image"/>
          <p:cNvSpPr>
            <a:spLocks noGrp="1"/>
          </p:cNvSpPr>
          <p:nvPr>
            <p:ph type="pic" idx="2"/>
          </p:nvPr>
        </p:nvSpPr>
        <p:spPr>
          <a:xfrm>
            <a:off x="269422" y="244928"/>
            <a:ext cx="8605156" cy="4653644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36" name="Google Shape;136;p21"/>
          <p:cNvCxnSpPr/>
          <p:nvPr/>
        </p:nvCxnSpPr>
        <p:spPr>
          <a:xfrm rot="10800000" flipH="1">
            <a:off x="0" y="4008665"/>
            <a:ext cx="1771650" cy="930729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7" name="Google Shape;137;p21" title="Titre "/>
          <p:cNvSpPr txBox="1">
            <a:spLocks noGrp="1"/>
          </p:cNvSpPr>
          <p:nvPr>
            <p:ph type="title"/>
          </p:nvPr>
        </p:nvSpPr>
        <p:spPr>
          <a:xfrm>
            <a:off x="269422" y="419101"/>
            <a:ext cx="6249917" cy="704849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216000" tIns="34275" rIns="68575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rci">
  <p:cSld name="Merci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5117197" y="2595872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2"/>
          </p:nvPr>
        </p:nvSpPr>
        <p:spPr>
          <a:xfrm>
            <a:off x="5117197" y="287958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3"/>
          </p:nvPr>
        </p:nvSpPr>
        <p:spPr>
          <a:xfrm>
            <a:off x="5117196" y="3162502"/>
            <a:ext cx="2584337" cy="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4"/>
          </p:nvPr>
        </p:nvSpPr>
        <p:spPr>
          <a:xfrm>
            <a:off x="5117197" y="344621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4844204" y="2628935"/>
            <a:ext cx="194156" cy="19415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4880717" y="2923490"/>
            <a:ext cx="121130" cy="222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4844204" y="3245959"/>
            <a:ext cx="194156" cy="14120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4853787" y="3487561"/>
            <a:ext cx="174989" cy="17498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22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" name="Google Shape;149;p22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" name="Google Shape;150;p22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1" name="Google Shape;151;p22"/>
          <p:cNvSpPr>
            <a:spLocks noGrp="1"/>
          </p:cNvSpPr>
          <p:nvPr>
            <p:ph type="pic" idx="5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2" title="Titre"/>
          <p:cNvSpPr txBox="1">
            <a:spLocks noGrp="1"/>
          </p:cNvSpPr>
          <p:nvPr>
            <p:ph type="ctrTitle"/>
          </p:nvPr>
        </p:nvSpPr>
        <p:spPr>
          <a:xfrm>
            <a:off x="4781791" y="1365767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>
  <p:cSld name="Diapositive de titre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23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6" name="Google Shape;156;p23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7" name="Google Shape;157;p23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3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59" name="Google Shape;159;p23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>
  <p:cSld name="En-tête de section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24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4" name="Google Shape;164;p24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4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66" name="Google Shape;166;p2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" name="Google Shape;167;p24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24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9" name="Google Shape;169;p24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24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>
  <p:cSld name="Titre et contenu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25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73" name="Google Shape;173;p25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74" name="Google Shape;174;p25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" name="Google Shape;175;p25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76" name="Google Shape;176;p25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25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78" name="Google Shape;178;p25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81" name="Google Shape;181;p25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389008" y="1253943"/>
            <a:ext cx="8126342" cy="337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>
  <p:cSld name="Deux contenu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2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85" name="Google Shape;185;p2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86" name="Google Shape;186;p2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7" name="Google Shape;187;p2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88" name="Google Shape;188;p2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26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90" name="Google Shape;190;p2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93" name="Google Shape;193;p2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body" idx="1"/>
          </p:nvPr>
        </p:nvSpPr>
        <p:spPr>
          <a:xfrm>
            <a:off x="397265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5" name="Google Shape;195;p26"/>
          <p:cNvSpPr txBox="1">
            <a:spLocks noGrp="1"/>
          </p:cNvSpPr>
          <p:nvPr>
            <p:ph type="body" idx="2"/>
          </p:nvPr>
        </p:nvSpPr>
        <p:spPr>
          <a:xfrm>
            <a:off x="4629150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>
  <p:cSld name="Comparaison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p27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98" name="Google Shape;198;p27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99" name="Google Shape;199;p27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0" name="Google Shape;200;p27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01" name="Google Shape;201;p27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27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203" name="Google Shape;203;p27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06" name="Google Shape;206;p27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1"/>
          </p:nvPr>
        </p:nvSpPr>
        <p:spPr>
          <a:xfrm>
            <a:off x="389008" y="1260872"/>
            <a:ext cx="4036876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body" idx="2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3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body" idx="4"/>
          </p:nvPr>
        </p:nvSpPr>
        <p:spPr>
          <a:xfrm>
            <a:off x="389008" y="1878806"/>
            <a:ext cx="4043812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>
  <p:cSld name="Contenu avec légende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28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4" name="Google Shape;214;p28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5" name="Google Shape;215;p28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16" name="Google Shape;216;p28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7" name="Google Shape;217;p28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body" idx="2"/>
          </p:nvPr>
        </p:nvSpPr>
        <p:spPr>
          <a:xfrm>
            <a:off x="4620987" y="1718035"/>
            <a:ext cx="4352754" cy="325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>
  <p:cSld name="Image avec légend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29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2" name="Google Shape;222;p29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3" name="Google Shape;223;p29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24" name="Google Shape;224;p29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5" name="Google Shape;225;p29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6" name="Google Shape;226;p29"/>
          <p:cNvSpPr>
            <a:spLocks noGrp="1"/>
          </p:cNvSpPr>
          <p:nvPr>
            <p:ph type="pic" idx="2"/>
          </p:nvPr>
        </p:nvSpPr>
        <p:spPr>
          <a:xfrm>
            <a:off x="4687477" y="1703895"/>
            <a:ext cx="4286263" cy="327053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>
  <p:cSld name="Vi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29" name="Google Shape;229;p3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0" name="Google Shape;230;p3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1" name="Google Shape;231;p3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32" name="Google Shape;232;p3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3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>
  <p:cSld name="Titre uniquemen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38" name="Google Shape;238;p31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9" name="Google Shape;239;p31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0" name="Google Shape;240;p31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41" name="Google Shape;241;p31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31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1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personnalisée">
  <p:cSld name="Disposition personnalisée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target.com/searchdatabackup/definition/3-2-1-Backup-Strategy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3"/>
          <p:cNvSpPr txBox="1">
            <a:spLocks noGrp="1"/>
          </p:cNvSpPr>
          <p:nvPr>
            <p:ph type="ctrTitle"/>
          </p:nvPr>
        </p:nvSpPr>
        <p:spPr>
          <a:xfrm>
            <a:off x="4781800" y="1504575"/>
            <a:ext cx="3321300" cy="12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fr" b="0">
                <a:latin typeface="Bebas Neue"/>
                <a:ea typeface="Bebas Neue"/>
                <a:cs typeface="Bebas Neue"/>
                <a:sym typeface="Bebas Neue"/>
              </a:rPr>
              <a:t>Création et utilisation de la base de données</a:t>
            </a:r>
            <a:endParaRPr b="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256" name="Google Shape;256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0217" y="3713672"/>
            <a:ext cx="4303784" cy="1429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5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4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>
                <a:latin typeface="Bebas Neue"/>
                <a:ea typeface="Bebas Neue"/>
                <a:cs typeface="Bebas Neue"/>
                <a:sym typeface="Bebas Neue"/>
              </a:rPr>
              <a:t>Contexte du projet</a:t>
            </a:r>
            <a:endParaRPr b="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4" name="Google Shape;264;p34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 dirty="0">
                <a:solidFill>
                  <a:srgbClr val="271A38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But : création d’un modèle permettant une </a:t>
            </a:r>
            <a:r>
              <a:rPr lang="fr" sz="1300" dirty="0">
                <a:latin typeface="Lexend"/>
                <a:ea typeface="Lexend"/>
                <a:cs typeface="Lexend"/>
                <a:sym typeface="Lexend"/>
              </a:rPr>
              <a:t>meilleure prévision des prix de </a:t>
            </a:r>
            <a:endParaRPr sz="1300" dirty="0"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 dirty="0">
                <a:latin typeface="Lexend"/>
                <a:ea typeface="Lexend"/>
                <a:cs typeface="Lexend"/>
                <a:sym typeface="Lexend"/>
              </a:rPr>
              <a:t>vente des biens immobiliers </a:t>
            </a:r>
            <a:endParaRPr sz="1300" dirty="0"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 dirty="0">
                <a:solidFill>
                  <a:srgbClr val="271A38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Modification de la base de données permettant de collecter les transactions immobilières et foncières en France.</a:t>
            </a:r>
            <a:endParaRPr sz="1300" dirty="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5" name="Google Shape;265;p34" title="Horizon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23312" r="23313"/>
          <a:stretch/>
        </p:blipFill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267" name="Google Shape;267;p34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>
                <a:latin typeface="Bebas Neue"/>
                <a:ea typeface="Bebas Neue"/>
                <a:cs typeface="Bebas Neue"/>
                <a:sym typeface="Bebas Neue"/>
              </a:rPr>
              <a:t>Les données initiales</a:t>
            </a:r>
            <a:endParaRPr b="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07" name="Google Shape;307;p3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7E4462E-89CB-F6E4-3A86-D3D7A0004F6E}"/>
              </a:ext>
            </a:extLst>
          </p:cNvPr>
          <p:cNvSpPr txBox="1"/>
          <p:nvPr/>
        </p:nvSpPr>
        <p:spPr>
          <a:xfrm>
            <a:off x="1011059" y="4046821"/>
            <a:ext cx="2185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donnees_communes.xlsx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3A117E7-0871-E55A-521B-9BC5201BE21A}"/>
              </a:ext>
            </a:extLst>
          </p:cNvPr>
          <p:cNvSpPr txBox="1"/>
          <p:nvPr/>
        </p:nvSpPr>
        <p:spPr>
          <a:xfrm>
            <a:off x="646975" y="2673062"/>
            <a:ext cx="3086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fr-esr-referentiel-geographique.xlsx 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3F659B5-B71D-EA6F-3BEE-2B8CCFB6E46C}"/>
              </a:ext>
            </a:extLst>
          </p:cNvPr>
          <p:cNvSpPr txBox="1"/>
          <p:nvPr/>
        </p:nvSpPr>
        <p:spPr>
          <a:xfrm>
            <a:off x="1098684" y="1537627"/>
            <a:ext cx="2010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Valeurs-foncières.xlsx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FC392FA-13C6-8E81-27BF-168E26E300E7}"/>
              </a:ext>
            </a:extLst>
          </p:cNvPr>
          <p:cNvSpPr txBox="1"/>
          <p:nvPr/>
        </p:nvSpPr>
        <p:spPr>
          <a:xfrm>
            <a:off x="3339997" y="1980103"/>
            <a:ext cx="1559085" cy="2486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172B249D-2B58-FA76-EF7B-9F11FF60F227}"/>
              </a:ext>
            </a:extLst>
          </p:cNvPr>
          <p:cNvSpPr txBox="1"/>
          <p:nvPr/>
        </p:nvSpPr>
        <p:spPr>
          <a:xfrm>
            <a:off x="3555326" y="1436990"/>
            <a:ext cx="49628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-Demandes de valeurs foncières (DVF)</a:t>
            </a:r>
          </a:p>
          <a:p>
            <a:r>
              <a:rPr lang="fr-FR" dirty="0">
                <a:solidFill>
                  <a:srgbClr val="271A38"/>
                </a:solidFill>
                <a:latin typeface="Inter" panose="020B0502030000000004" pitchFamily="34" charset="0"/>
              </a:rPr>
              <a:t>-D</a:t>
            </a:r>
            <a:r>
              <a:rPr lang="fr-FR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onnées extraites du site open data</a:t>
            </a:r>
            <a:endParaRPr lang="fr-FR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CCDEDDB-0F92-9261-32C8-EA9F0ACC1E39}"/>
              </a:ext>
            </a:extLst>
          </p:cNvPr>
          <p:cNvSpPr txBox="1"/>
          <p:nvPr/>
        </p:nvSpPr>
        <p:spPr>
          <a:xfrm>
            <a:off x="3550501" y="3846764"/>
            <a:ext cx="52298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271A38"/>
                </a:solidFill>
                <a:latin typeface="Inter" panose="020B0502030000000004" pitchFamily="34" charset="0"/>
              </a:rPr>
              <a:t>- L</a:t>
            </a:r>
            <a:r>
              <a:rPr lang="fr-FR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es résultats des recensements de la population par communes</a:t>
            </a:r>
          </a:p>
          <a:p>
            <a:r>
              <a:rPr lang="fr-FR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- </a:t>
            </a:r>
            <a:r>
              <a:rPr lang="fr-FR" dirty="0">
                <a:solidFill>
                  <a:srgbClr val="271A38"/>
                </a:solidFill>
                <a:latin typeface="Inter" panose="020B0502030000000004" pitchFamily="34" charset="0"/>
              </a:rPr>
              <a:t>D</a:t>
            </a:r>
            <a:r>
              <a:rPr lang="fr-FR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onnées extraites du site l’INSEE Institut national de la statistique et des études économiques</a:t>
            </a:r>
            <a:endParaRPr lang="fr-FR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D916218-4CFC-5968-193B-5B01262FF156}"/>
              </a:ext>
            </a:extLst>
          </p:cNvPr>
          <p:cNvSpPr txBox="1"/>
          <p:nvPr/>
        </p:nvSpPr>
        <p:spPr>
          <a:xfrm>
            <a:off x="3555326" y="2349898"/>
            <a:ext cx="54732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271A38"/>
                </a:solidFill>
                <a:latin typeface="Inter" panose="020B0502030000000004" pitchFamily="34" charset="0"/>
              </a:rPr>
              <a:t>-Le R</a:t>
            </a:r>
            <a:r>
              <a:rPr lang="fr-FR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éférentiel géographique français comportant les régions, communes, unités urbaines, aires urbaines, départements, académies, régions</a:t>
            </a:r>
          </a:p>
          <a:p>
            <a:r>
              <a:rPr lang="fr-FR" dirty="0">
                <a:solidFill>
                  <a:srgbClr val="271A38"/>
                </a:solidFill>
                <a:latin typeface="Inter" panose="020B0502030000000004" pitchFamily="34" charset="0"/>
              </a:rPr>
              <a:t>-D</a:t>
            </a:r>
            <a:r>
              <a:rPr lang="fr-FR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onnées extraites du site </a:t>
            </a:r>
            <a:r>
              <a:rPr lang="fr-FR" b="0" i="0" dirty="0" err="1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data.gouv</a:t>
            </a:r>
            <a:endParaRPr lang="fr-FR" dirty="0"/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EA00D09A-2003-0243-A966-345D9712C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89" y="1493891"/>
            <a:ext cx="430786" cy="430786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35827F21-517D-80C0-BF50-5B541FE31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89" y="2611557"/>
            <a:ext cx="430786" cy="430786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96B28ABB-30A2-7D5C-AFD3-EA6CB4E0A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89" y="3985316"/>
            <a:ext cx="430786" cy="4307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2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6"/>
          <p:cNvSpPr txBox="1"/>
          <p:nvPr/>
        </p:nvSpPr>
        <p:spPr>
          <a:xfrm>
            <a:off x="253900" y="1466986"/>
            <a:ext cx="8488800" cy="662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latin typeface="Lexend"/>
                <a:ea typeface="Lexend"/>
                <a:cs typeface="Lexend"/>
                <a:sym typeface="Lexend"/>
              </a:rPr>
              <a:t>Les sites insee.fr, data.gouv.fr utilisés dans notre étude présente une politique de protection des données personnelles.</a:t>
            </a:r>
            <a:endParaRPr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Lexend"/>
              <a:ea typeface="Lexend"/>
              <a:cs typeface="Lexend"/>
              <a:sym typeface="Lexend"/>
            </a:endParaRPr>
          </a:p>
          <a:p>
            <a:endParaRPr lang="fr-FR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36"/>
          <p:cNvSpPr txBox="1"/>
          <p:nvPr/>
        </p:nvSpPr>
        <p:spPr>
          <a:xfrm>
            <a:off x="381000" y="0"/>
            <a:ext cx="4269300" cy="10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>
              <a:solidFill>
                <a:schemeClr val="accent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3300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rPr>
              <a:t>la conformité RGPD</a:t>
            </a:r>
            <a:endParaRPr sz="3300">
              <a:solidFill>
                <a:schemeClr val="accen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8AA1AEE-0B41-C9C8-4658-72C06813B006}"/>
              </a:ext>
            </a:extLst>
          </p:cNvPr>
          <p:cNvSpPr txBox="1"/>
          <p:nvPr/>
        </p:nvSpPr>
        <p:spPr>
          <a:xfrm>
            <a:off x="253900" y="2278748"/>
            <a:ext cx="849816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latin typeface="Lexend"/>
                <a:ea typeface="Lexend"/>
                <a:cs typeface="Lexend"/>
                <a:sym typeface="Lexend"/>
              </a:rPr>
              <a:t>Les données en rapport avec les valeurs foncières sont rendues ouvertes au grand public depuis 2019. </a:t>
            </a:r>
          </a:p>
          <a:p>
            <a:endParaRPr lang="fr-FR" dirty="0">
              <a:latin typeface="Lexend"/>
              <a:ea typeface="Lexend"/>
              <a:cs typeface="Lexend"/>
              <a:sym typeface="Lexend"/>
            </a:endParaRPr>
          </a:p>
          <a:p>
            <a:r>
              <a:rPr lang="fr-FR" dirty="0">
                <a:latin typeface="Lexend"/>
                <a:ea typeface="Lexend"/>
                <a:cs typeface="Lexend"/>
                <a:sym typeface="Lexend"/>
              </a:rPr>
              <a:t>Dans notre base de données les colonnes comportant les noms des acquéreurs et les adresses des biens ne seront pas conserver.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6F3481F-CD35-A026-3229-FEA064604662}"/>
              </a:ext>
            </a:extLst>
          </p:cNvPr>
          <p:cNvSpPr txBox="1"/>
          <p:nvPr/>
        </p:nvSpPr>
        <p:spPr>
          <a:xfrm>
            <a:off x="381000" y="3843038"/>
            <a:ext cx="8361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Lexend"/>
                <a:ea typeface="Lexend"/>
                <a:cs typeface="Lexend"/>
                <a:sym typeface="Lexend"/>
              </a:rPr>
              <a:t>La finalité de notre étude et en conformité avec le RGPD  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>
          <a:extLst>
            <a:ext uri="{FF2B5EF4-FFF2-40B4-BE49-F238E27FC236}">
              <a16:creationId xmlns:a16="http://schemas.microsoft.com/office/drawing/2014/main" id="{2F1A3042-DAFB-1551-FB7F-3A64A807E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>
            <a:extLst>
              <a:ext uri="{FF2B5EF4-FFF2-40B4-BE49-F238E27FC236}">
                <a16:creationId xmlns:a16="http://schemas.microsoft.com/office/drawing/2014/main" id="{5378A5E1-B7E4-751F-7B0A-0D4C109373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>
                <a:latin typeface="Bebas Neue"/>
                <a:ea typeface="Bebas Neue"/>
                <a:cs typeface="Bebas Neue"/>
                <a:sym typeface="Bebas Neue"/>
              </a:rPr>
              <a:t>Les données a conserver</a:t>
            </a:r>
            <a:endParaRPr b="0" dirty="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07" name="Google Shape;307;p39">
            <a:extLst>
              <a:ext uri="{FF2B5EF4-FFF2-40B4-BE49-F238E27FC236}">
                <a16:creationId xmlns:a16="http://schemas.microsoft.com/office/drawing/2014/main" id="{8890E822-135E-FFF3-07DD-E3B0DDD957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949645C-B8A4-5842-733F-9CC3FB440FA0}"/>
              </a:ext>
            </a:extLst>
          </p:cNvPr>
          <p:cNvSpPr txBox="1"/>
          <p:nvPr/>
        </p:nvSpPr>
        <p:spPr>
          <a:xfrm>
            <a:off x="648508" y="1082498"/>
            <a:ext cx="6526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fr-esr-referentiel-geographique.xlsx : Table Departements.CSV et Regions.CSV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8B17904D-F5C7-4EEE-96F4-016821AF9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2" y="1020993"/>
            <a:ext cx="430786" cy="43078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A65229E7-876E-196F-F953-D1243146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632" y="1552046"/>
            <a:ext cx="430786" cy="430786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2537AB5C-503B-DB0E-3699-2DEDD2DB1919}"/>
              </a:ext>
            </a:extLst>
          </p:cNvPr>
          <p:cNvSpPr txBox="1"/>
          <p:nvPr/>
        </p:nvSpPr>
        <p:spPr>
          <a:xfrm>
            <a:off x="1333418" y="1624775"/>
            <a:ext cx="4962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Regions.csv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9B88A7C-D643-63EC-9A94-5BB345830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498" y="2093126"/>
            <a:ext cx="8223206" cy="281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58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>
          <a:extLst>
            <a:ext uri="{FF2B5EF4-FFF2-40B4-BE49-F238E27FC236}">
              <a16:creationId xmlns:a16="http://schemas.microsoft.com/office/drawing/2014/main" id="{520FA827-629D-8484-EDF3-B0451F720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>
            <a:extLst>
              <a:ext uri="{FF2B5EF4-FFF2-40B4-BE49-F238E27FC236}">
                <a16:creationId xmlns:a16="http://schemas.microsoft.com/office/drawing/2014/main" id="{01E1CDF4-5E97-653B-B987-510EBE5DEB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>
                <a:latin typeface="Bebas Neue"/>
                <a:ea typeface="Bebas Neue"/>
                <a:cs typeface="Bebas Neue"/>
                <a:sym typeface="Bebas Neue"/>
              </a:rPr>
              <a:t>Les données a conserver</a:t>
            </a:r>
            <a:endParaRPr b="0" dirty="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07" name="Google Shape;307;p39">
            <a:extLst>
              <a:ext uri="{FF2B5EF4-FFF2-40B4-BE49-F238E27FC236}">
                <a16:creationId xmlns:a16="http://schemas.microsoft.com/office/drawing/2014/main" id="{02CB6AA0-4B40-C4A7-99E9-7689DBF9AE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F792821-2AD2-3E2E-8BB9-080CB5E79CCC}"/>
              </a:ext>
            </a:extLst>
          </p:cNvPr>
          <p:cNvSpPr txBox="1"/>
          <p:nvPr/>
        </p:nvSpPr>
        <p:spPr>
          <a:xfrm>
            <a:off x="648508" y="1082498"/>
            <a:ext cx="6526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fr-esr-referentiel-geographique.xlsx : Table Departements.CSV et Regions.CSV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87F6EFB-3F87-AE6D-16E1-A6F7DAC79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2" y="1020993"/>
            <a:ext cx="430786" cy="43078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13C620EF-3003-C65A-79DE-D9FA5610D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632" y="1552046"/>
            <a:ext cx="430786" cy="430786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82B153A-C6D8-714B-45FB-F34550F863F7}"/>
              </a:ext>
            </a:extLst>
          </p:cNvPr>
          <p:cNvSpPr txBox="1"/>
          <p:nvPr/>
        </p:nvSpPr>
        <p:spPr>
          <a:xfrm>
            <a:off x="1333418" y="1624775"/>
            <a:ext cx="4962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Regions.csv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C925FA1-241C-44B4-3007-CF8C6D5EE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498" y="2103327"/>
            <a:ext cx="8165223" cy="285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020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>
          <a:extLst>
            <a:ext uri="{FF2B5EF4-FFF2-40B4-BE49-F238E27FC236}">
              <a16:creationId xmlns:a16="http://schemas.microsoft.com/office/drawing/2014/main" id="{3F2D4469-7364-D347-8453-5CB5653A1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>
            <a:extLst>
              <a:ext uri="{FF2B5EF4-FFF2-40B4-BE49-F238E27FC236}">
                <a16:creationId xmlns:a16="http://schemas.microsoft.com/office/drawing/2014/main" id="{29748CBE-B301-C479-EE2F-00107888B9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>
                <a:latin typeface="Bebas Neue"/>
                <a:ea typeface="Bebas Neue"/>
                <a:cs typeface="Bebas Neue"/>
                <a:sym typeface="Bebas Neue"/>
              </a:rPr>
              <a:t>Les données a conserver</a:t>
            </a:r>
            <a:endParaRPr b="0" dirty="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07" name="Google Shape;307;p39">
            <a:extLst>
              <a:ext uri="{FF2B5EF4-FFF2-40B4-BE49-F238E27FC236}">
                <a16:creationId xmlns:a16="http://schemas.microsoft.com/office/drawing/2014/main" id="{B5D8641A-2346-4133-5F2C-6988AF878B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D2455C5-B5F4-6AB0-95EF-973156BF74C1}"/>
              </a:ext>
            </a:extLst>
          </p:cNvPr>
          <p:cNvSpPr txBox="1"/>
          <p:nvPr/>
        </p:nvSpPr>
        <p:spPr>
          <a:xfrm>
            <a:off x="648508" y="1082498"/>
            <a:ext cx="6526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fr-esr-referentiel-geographique.xlsx : Table Departements.CSV et Regions.CSV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369CA14-8C56-EFF4-2160-D2C4D20EBD7C}"/>
              </a:ext>
            </a:extLst>
          </p:cNvPr>
          <p:cNvSpPr txBox="1"/>
          <p:nvPr/>
        </p:nvSpPr>
        <p:spPr>
          <a:xfrm>
            <a:off x="1851255" y="3725776"/>
            <a:ext cx="49628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rgbClr val="271A38"/>
                </a:solidFill>
                <a:latin typeface="Inter" panose="020B0502030000000004" pitchFamily="34" charset="0"/>
              </a:rPr>
              <a:t>reg_code</a:t>
            </a:r>
            <a:r>
              <a:rPr lang="fr-FR" dirty="0">
                <a:solidFill>
                  <a:srgbClr val="271A38"/>
                </a:solidFill>
                <a:latin typeface="Inter" panose="020B0502030000000004" pitchFamily="34" charset="0"/>
              </a:rPr>
              <a:t> : Code de la région (Clé primaire)</a:t>
            </a:r>
          </a:p>
          <a:p>
            <a:endParaRPr lang="fr-FR" b="0" i="0" dirty="0">
              <a:solidFill>
                <a:srgbClr val="271A38"/>
              </a:solidFill>
              <a:effectLst/>
              <a:latin typeface="Inter" panose="020B0502030000000004" pitchFamily="34" charset="0"/>
            </a:endParaRPr>
          </a:p>
          <a:p>
            <a:r>
              <a:rPr lang="fr-FR" dirty="0" err="1">
                <a:solidFill>
                  <a:srgbClr val="271A38"/>
                </a:solidFill>
                <a:latin typeface="Inter" panose="020B0502030000000004" pitchFamily="34" charset="0"/>
              </a:rPr>
              <a:t>reg</a:t>
            </a:r>
            <a:r>
              <a:rPr lang="fr-FR" b="0" i="0" dirty="0" err="1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_nom</a:t>
            </a:r>
            <a:r>
              <a:rPr lang="fr-FR" dirty="0">
                <a:solidFill>
                  <a:srgbClr val="271A38"/>
                </a:solidFill>
                <a:latin typeface="Inter" panose="020B0502030000000004" pitchFamily="34" charset="0"/>
              </a:rPr>
              <a:t> : </a:t>
            </a:r>
            <a:r>
              <a:rPr lang="fr-FR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Libellé de la région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FE24E474-40CC-8DFA-2F50-BA66C3C27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2" y="1020993"/>
            <a:ext cx="430786" cy="43078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AF3276C-C759-6688-CD95-68DE2C1A5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632" y="1552046"/>
            <a:ext cx="430786" cy="430786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7AF7F202-62D0-ECEA-BC54-3112AA3A6D82}"/>
              </a:ext>
            </a:extLst>
          </p:cNvPr>
          <p:cNvSpPr txBox="1"/>
          <p:nvPr/>
        </p:nvSpPr>
        <p:spPr>
          <a:xfrm>
            <a:off x="1333418" y="1624775"/>
            <a:ext cx="4962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Regions.csv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7ACA15D-6AEA-1F9A-CDF7-4E67F02AA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5216" y="2005281"/>
            <a:ext cx="25527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717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>
          <a:extLst>
            <a:ext uri="{FF2B5EF4-FFF2-40B4-BE49-F238E27FC236}">
              <a16:creationId xmlns:a16="http://schemas.microsoft.com/office/drawing/2014/main" id="{D1BE839D-BF2E-93B4-9E70-E01A43D8F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>
            <a:extLst>
              <a:ext uri="{FF2B5EF4-FFF2-40B4-BE49-F238E27FC236}">
                <a16:creationId xmlns:a16="http://schemas.microsoft.com/office/drawing/2014/main" id="{3C9E00B9-AFE3-D809-E07C-51A8EF42DC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>
                <a:latin typeface="Bebas Neue"/>
                <a:ea typeface="Bebas Neue"/>
                <a:cs typeface="Bebas Neue"/>
                <a:sym typeface="Bebas Neue"/>
              </a:rPr>
              <a:t>Les données a conserver</a:t>
            </a:r>
            <a:endParaRPr b="0" dirty="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07" name="Google Shape;307;p39">
            <a:extLst>
              <a:ext uri="{FF2B5EF4-FFF2-40B4-BE49-F238E27FC236}">
                <a16:creationId xmlns:a16="http://schemas.microsoft.com/office/drawing/2014/main" id="{9687F6E0-EDA1-4698-F3AD-018CC3D8DF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05F0B61-F512-2DAF-0B84-57B5831D097A}"/>
              </a:ext>
            </a:extLst>
          </p:cNvPr>
          <p:cNvSpPr txBox="1"/>
          <p:nvPr/>
        </p:nvSpPr>
        <p:spPr>
          <a:xfrm>
            <a:off x="648508" y="1082498"/>
            <a:ext cx="6526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fr-esr-referentiel-geographique.xlsx : Table Departements.CSV et Regions.CSV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20524713-D787-7D95-BE7D-9FA12E67328D}"/>
              </a:ext>
            </a:extLst>
          </p:cNvPr>
          <p:cNvSpPr txBox="1"/>
          <p:nvPr/>
        </p:nvSpPr>
        <p:spPr>
          <a:xfrm>
            <a:off x="2126214" y="4229330"/>
            <a:ext cx="49628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rgbClr val="271A38"/>
                </a:solidFill>
                <a:latin typeface="Inter" panose="020B0502030000000004" pitchFamily="34" charset="0"/>
              </a:rPr>
              <a:t>dep_code</a:t>
            </a:r>
            <a:r>
              <a:rPr lang="fr-FR" dirty="0">
                <a:solidFill>
                  <a:srgbClr val="271A38"/>
                </a:solidFill>
                <a:latin typeface="Inter" panose="020B0502030000000004" pitchFamily="34" charset="0"/>
              </a:rPr>
              <a:t> : Numéro du département (Clé primaire)</a:t>
            </a:r>
          </a:p>
          <a:p>
            <a:endParaRPr lang="fr-FR" b="0" i="0" dirty="0">
              <a:solidFill>
                <a:srgbClr val="271A38"/>
              </a:solidFill>
              <a:effectLst/>
              <a:latin typeface="Inter" panose="020B0502030000000004" pitchFamily="34" charset="0"/>
            </a:endParaRPr>
          </a:p>
          <a:p>
            <a:r>
              <a:rPr lang="fr-FR" b="0" i="0" dirty="0" err="1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dep_nom</a:t>
            </a:r>
            <a:r>
              <a:rPr lang="fr-FR" dirty="0">
                <a:solidFill>
                  <a:srgbClr val="271A38"/>
                </a:solidFill>
                <a:latin typeface="Inter" panose="020B0502030000000004" pitchFamily="34" charset="0"/>
              </a:rPr>
              <a:t> : </a:t>
            </a:r>
            <a:r>
              <a:rPr lang="fr-FR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Libellé du département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B312770E-FE9D-9D8C-179F-17C29BF1F468}"/>
              </a:ext>
            </a:extLst>
          </p:cNvPr>
          <p:cNvSpPr txBox="1"/>
          <p:nvPr/>
        </p:nvSpPr>
        <p:spPr>
          <a:xfrm>
            <a:off x="-1383919" y="1957672"/>
            <a:ext cx="8235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71A38"/>
                </a:solidFill>
                <a:latin typeface="Inter" panose="020B0502030000000004" pitchFamily="34" charset="0"/>
              </a:rPr>
              <a:t>- Supprimer les doublons</a:t>
            </a:r>
            <a:endParaRPr lang="fr-FR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C7CC6ED-58AD-9EC1-E411-8AFAC0F77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2" y="1020993"/>
            <a:ext cx="430786" cy="43078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548678B0-54D1-7C3A-E45E-7F0C26752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632" y="1552046"/>
            <a:ext cx="430786" cy="430786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92B40CF6-4838-A18D-41CC-C62FE2DA4645}"/>
              </a:ext>
            </a:extLst>
          </p:cNvPr>
          <p:cNvSpPr txBox="1"/>
          <p:nvPr/>
        </p:nvSpPr>
        <p:spPr>
          <a:xfrm>
            <a:off x="1333418" y="1624775"/>
            <a:ext cx="4962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Departements.csv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CC84BAE-EE86-F4E6-DF61-F80554FB3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9179" y="2438445"/>
            <a:ext cx="2466975" cy="164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877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>
          <a:extLst>
            <a:ext uri="{FF2B5EF4-FFF2-40B4-BE49-F238E27FC236}">
              <a16:creationId xmlns:a16="http://schemas.microsoft.com/office/drawing/2014/main" id="{0C8AAD2A-6B44-95FD-044D-006F99CAE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9">
            <a:extLst>
              <a:ext uri="{FF2B5EF4-FFF2-40B4-BE49-F238E27FC236}">
                <a16:creationId xmlns:a16="http://schemas.microsoft.com/office/drawing/2014/main" id="{FF5673B5-30FE-25B1-4C3D-893276A7B4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CC884F0-F5FE-46E6-011B-19CD0098B6E6}"/>
              </a:ext>
            </a:extLst>
          </p:cNvPr>
          <p:cNvSpPr txBox="1"/>
          <p:nvPr/>
        </p:nvSpPr>
        <p:spPr>
          <a:xfrm>
            <a:off x="820284" y="1275501"/>
            <a:ext cx="42585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donnees_communes.xlsx : Table Communes.CSV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7B85F68-FF2C-94ED-AAE7-6B23D82E8603}"/>
              </a:ext>
            </a:extLst>
          </p:cNvPr>
          <p:cNvSpPr txBox="1"/>
          <p:nvPr/>
        </p:nvSpPr>
        <p:spPr>
          <a:xfrm>
            <a:off x="3339997" y="1980103"/>
            <a:ext cx="1559085" cy="2486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77CCADC-E7D3-1D0C-CCA8-06C966C00E50}"/>
              </a:ext>
            </a:extLst>
          </p:cNvPr>
          <p:cNvSpPr txBox="1"/>
          <p:nvPr/>
        </p:nvSpPr>
        <p:spPr>
          <a:xfrm>
            <a:off x="2053585" y="3390945"/>
            <a:ext cx="49628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- CODDEP	: </a:t>
            </a:r>
            <a:r>
              <a:rPr lang="fr-FR" sz="1200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Code du département (Clé étrangère)</a:t>
            </a:r>
          </a:p>
          <a:p>
            <a:r>
              <a:rPr lang="fr-FR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- CODREG	: </a:t>
            </a:r>
            <a:r>
              <a:rPr lang="fr-FR" sz="1200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Code de la région (Clé étrangère)</a:t>
            </a:r>
          </a:p>
          <a:p>
            <a:r>
              <a:rPr lang="fr-FR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- COM : </a:t>
            </a:r>
            <a:r>
              <a:rPr lang="fr-FR" sz="1200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Nom de la commune</a:t>
            </a:r>
          </a:p>
          <a:p>
            <a:r>
              <a:rPr lang="fr-FR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- PTOT : </a:t>
            </a:r>
            <a:r>
              <a:rPr lang="fr-FR" sz="1200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Population totale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40ADADC-BE65-BEAA-3AA6-ACA74B86EC71}"/>
              </a:ext>
            </a:extLst>
          </p:cNvPr>
          <p:cNvSpPr txBox="1"/>
          <p:nvPr/>
        </p:nvSpPr>
        <p:spPr>
          <a:xfrm>
            <a:off x="980908" y="4475917"/>
            <a:ext cx="68795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71A38"/>
                </a:solidFill>
                <a:latin typeface="Inter" panose="020B0502030000000004" pitchFamily="34" charset="0"/>
              </a:rPr>
              <a:t>-Création de la colonne </a:t>
            </a:r>
            <a:r>
              <a:rPr lang="fr-FR" dirty="0" err="1">
                <a:solidFill>
                  <a:srgbClr val="271A38"/>
                </a:solidFill>
                <a:latin typeface="Inter" panose="020B0502030000000004" pitchFamily="34" charset="0"/>
              </a:rPr>
              <a:t>com_code</a:t>
            </a:r>
            <a:r>
              <a:rPr lang="fr-FR" dirty="0">
                <a:solidFill>
                  <a:srgbClr val="271A38"/>
                </a:solidFill>
                <a:latin typeface="Inter" panose="020B0502030000000004" pitchFamily="34" charset="0"/>
              </a:rPr>
              <a:t> : Code unique de la commune (Clé primaire)</a:t>
            </a:r>
          </a:p>
          <a:p>
            <a:pPr algn="ctr"/>
            <a:r>
              <a:rPr lang="fr-FR" dirty="0">
                <a:solidFill>
                  <a:srgbClr val="271A38"/>
                </a:solidFill>
                <a:latin typeface="Inter" panose="020B0502030000000004" pitchFamily="34" charset="0"/>
              </a:rPr>
              <a:t>concaténation de CODDEP et CODCOM</a:t>
            </a:r>
          </a:p>
          <a:p>
            <a:endParaRPr lang="fr-FR" dirty="0"/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6CA27415-A9BC-EA82-6CB7-EAF3889CA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345" y="1213997"/>
            <a:ext cx="430786" cy="43078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F56BC63-C208-B78C-F63F-706CC7F3E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2331" y="1680373"/>
            <a:ext cx="4705350" cy="1543050"/>
          </a:xfrm>
          <a:prstGeom prst="rect">
            <a:avLst/>
          </a:prstGeom>
        </p:spPr>
      </p:pic>
      <p:sp>
        <p:nvSpPr>
          <p:cNvPr id="4" name="Google Shape;304;p39">
            <a:extLst>
              <a:ext uri="{FF2B5EF4-FFF2-40B4-BE49-F238E27FC236}">
                <a16:creationId xmlns:a16="http://schemas.microsoft.com/office/drawing/2014/main" id="{B5552594-D45C-9F7B-D2A2-616CF56FC0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>
                <a:latin typeface="Bebas Neue"/>
                <a:ea typeface="Bebas Neue"/>
                <a:cs typeface="Bebas Neue"/>
                <a:sym typeface="Bebas Neue"/>
              </a:rPr>
              <a:t>Les données a conserver</a:t>
            </a:r>
            <a:endParaRPr b="0" dirty="0">
              <a:latin typeface="Bebas Neue"/>
              <a:ea typeface="Bebas Neue"/>
              <a:cs typeface="Bebas Neue"/>
              <a:sym typeface="Bebas Neue"/>
            </a:endParaRPr>
          </a:p>
        </p:txBody>
      </p:sp>
    </p:spTree>
    <p:extLst>
      <p:ext uri="{BB962C8B-B14F-4D97-AF65-F5344CB8AC3E}">
        <p14:creationId xmlns:p14="http://schemas.microsoft.com/office/powerpoint/2010/main" val="38428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>
          <a:extLst>
            <a:ext uri="{FF2B5EF4-FFF2-40B4-BE49-F238E27FC236}">
              <a16:creationId xmlns:a16="http://schemas.microsoft.com/office/drawing/2014/main" id="{ADFD4B84-0109-F7A8-20D4-6FE8927BB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9">
            <a:extLst>
              <a:ext uri="{FF2B5EF4-FFF2-40B4-BE49-F238E27FC236}">
                <a16:creationId xmlns:a16="http://schemas.microsoft.com/office/drawing/2014/main" id="{11ADFE0B-5EE5-3CC8-3697-A284D79F00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981BD5E-9393-1EEC-0099-1FDF695B4B70}"/>
              </a:ext>
            </a:extLst>
          </p:cNvPr>
          <p:cNvSpPr txBox="1"/>
          <p:nvPr/>
        </p:nvSpPr>
        <p:spPr>
          <a:xfrm>
            <a:off x="813704" y="1110892"/>
            <a:ext cx="4962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Valeurs-foncières.xlsx : Table Biens.csv et Transactions.csv 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037F1D5-75FE-2E51-7435-7ABE24705B3D}"/>
              </a:ext>
            </a:extLst>
          </p:cNvPr>
          <p:cNvSpPr txBox="1"/>
          <p:nvPr/>
        </p:nvSpPr>
        <p:spPr>
          <a:xfrm>
            <a:off x="3339997" y="1980103"/>
            <a:ext cx="1559085" cy="2486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1994C1F1-F8D5-332C-65B6-A8CBAE5FE7B0}"/>
              </a:ext>
            </a:extLst>
          </p:cNvPr>
          <p:cNvSpPr txBox="1"/>
          <p:nvPr/>
        </p:nvSpPr>
        <p:spPr>
          <a:xfrm>
            <a:off x="2090575" y="3297193"/>
            <a:ext cx="49628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0" i="0" dirty="0" err="1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com_code</a:t>
            </a:r>
            <a:r>
              <a:rPr lang="fr-FR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 :</a:t>
            </a:r>
            <a:r>
              <a:rPr lang="fr-FR" sz="1200" dirty="0">
                <a:solidFill>
                  <a:srgbClr val="271A38"/>
                </a:solidFill>
                <a:latin typeface="Inter" panose="020B0502030000000004" pitchFamily="34" charset="0"/>
              </a:rPr>
              <a:t> </a:t>
            </a:r>
            <a:r>
              <a:rPr lang="fr-FR" sz="1200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Code unique de la commune (Clé étrangère)</a:t>
            </a:r>
          </a:p>
          <a:p>
            <a:r>
              <a:rPr lang="fr-FR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Surface Carrez du 1er lot :</a:t>
            </a:r>
            <a:r>
              <a:rPr lang="fr-FR" dirty="0">
                <a:solidFill>
                  <a:srgbClr val="271A38"/>
                </a:solidFill>
                <a:latin typeface="Inter" panose="020B0502030000000004" pitchFamily="34" charset="0"/>
              </a:rPr>
              <a:t> </a:t>
            </a:r>
            <a:r>
              <a:rPr lang="fr-FR" sz="1200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Surface carré du lot</a:t>
            </a:r>
          </a:p>
          <a:p>
            <a:r>
              <a:rPr lang="fr-FR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Type local	: </a:t>
            </a:r>
            <a:r>
              <a:rPr lang="fr-FR" sz="1200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appartement, maison</a:t>
            </a:r>
          </a:p>
          <a:p>
            <a:r>
              <a:rPr lang="fr-FR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Nombre </a:t>
            </a:r>
            <a:r>
              <a:rPr lang="fr-FR" b="0" i="0" dirty="0" err="1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pieces</a:t>
            </a:r>
            <a:r>
              <a:rPr lang="fr-FR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 principales :</a:t>
            </a:r>
            <a:r>
              <a:rPr lang="fr-FR" dirty="0">
                <a:solidFill>
                  <a:srgbClr val="271A38"/>
                </a:solidFill>
                <a:latin typeface="Inter" panose="020B0502030000000004" pitchFamily="34" charset="0"/>
              </a:rPr>
              <a:t> </a:t>
            </a:r>
            <a:r>
              <a:rPr lang="fr-FR" sz="1200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Nombre de pièces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8D7D2AA-04FD-25F6-46B1-25E617FB3815}"/>
              </a:ext>
            </a:extLst>
          </p:cNvPr>
          <p:cNvSpPr txBox="1"/>
          <p:nvPr/>
        </p:nvSpPr>
        <p:spPr>
          <a:xfrm>
            <a:off x="554866" y="4605553"/>
            <a:ext cx="80342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71A38"/>
                </a:solidFill>
                <a:latin typeface="Inter" panose="020B0502030000000004" pitchFamily="34" charset="0"/>
              </a:rPr>
              <a:t>-Création de la colonne Cadastre Id : </a:t>
            </a:r>
            <a:r>
              <a:rPr lang="fr-FR" sz="1400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Référence cadastrale de la parcelle (Clé primaire)</a:t>
            </a:r>
          </a:p>
          <a:p>
            <a:pPr algn="ctr"/>
            <a:r>
              <a:rPr lang="fr-FR" dirty="0">
                <a:solidFill>
                  <a:srgbClr val="271A38"/>
                </a:solidFill>
                <a:latin typeface="Inter" panose="020B0502030000000004" pitchFamily="34" charset="0"/>
              </a:rPr>
              <a:t>concaténation de </a:t>
            </a:r>
            <a:r>
              <a:rPr lang="fr-FR" dirty="0" err="1">
                <a:solidFill>
                  <a:srgbClr val="271A38"/>
                </a:solidFill>
                <a:latin typeface="Inter" panose="020B0502030000000004" pitchFamily="34" charset="0"/>
              </a:rPr>
              <a:t>com_code</a:t>
            </a:r>
            <a:r>
              <a:rPr lang="fr-FR" dirty="0">
                <a:solidFill>
                  <a:srgbClr val="271A38"/>
                </a:solidFill>
                <a:latin typeface="Inter" panose="020B0502030000000004" pitchFamily="34" charset="0"/>
              </a:rPr>
              <a:t> , section , No plan , 1er lot</a:t>
            </a:r>
          </a:p>
          <a:p>
            <a:pPr algn="ctr"/>
            <a:endParaRPr lang="fr-FR" dirty="0">
              <a:solidFill>
                <a:srgbClr val="271A38"/>
              </a:solidFill>
              <a:latin typeface="Inter" panose="020B0502030000000004" pitchFamily="34" charset="0"/>
            </a:endParaRP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83B30827-9EF7-D324-A9FD-FF3B65B29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66" y="1049388"/>
            <a:ext cx="430786" cy="430786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1838515A-414B-2D01-D665-A506EB58F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632" y="1552046"/>
            <a:ext cx="430786" cy="430786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2A7D2A44-1265-1B16-5002-2206F0767786}"/>
              </a:ext>
            </a:extLst>
          </p:cNvPr>
          <p:cNvSpPr txBox="1"/>
          <p:nvPr/>
        </p:nvSpPr>
        <p:spPr>
          <a:xfrm>
            <a:off x="1333418" y="1624775"/>
            <a:ext cx="4962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Biens.csv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881D694-407E-0F93-9295-E98AD68C66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3" y="2121641"/>
            <a:ext cx="7753350" cy="1152525"/>
          </a:xfrm>
          <a:prstGeom prst="rect">
            <a:avLst/>
          </a:prstGeom>
        </p:spPr>
      </p:pic>
      <p:sp>
        <p:nvSpPr>
          <p:cNvPr id="9" name="Google Shape;304;p39">
            <a:extLst>
              <a:ext uri="{FF2B5EF4-FFF2-40B4-BE49-F238E27FC236}">
                <a16:creationId xmlns:a16="http://schemas.microsoft.com/office/drawing/2014/main" id="{8C8BDAC4-C3F9-7715-1A87-1B4F862FCF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>
                <a:latin typeface="Bebas Neue"/>
                <a:ea typeface="Bebas Neue"/>
                <a:cs typeface="Bebas Neue"/>
                <a:sym typeface="Bebas Neue"/>
              </a:rPr>
              <a:t>Les données a conserver</a:t>
            </a:r>
            <a:endParaRPr b="0" dirty="0">
              <a:latin typeface="Bebas Neue"/>
              <a:ea typeface="Bebas Neue"/>
              <a:cs typeface="Bebas Neue"/>
              <a:sym typeface="Bebas Neue"/>
            </a:endParaRPr>
          </a:p>
        </p:txBody>
      </p:sp>
    </p:spTree>
    <p:extLst>
      <p:ext uri="{BB962C8B-B14F-4D97-AF65-F5344CB8AC3E}">
        <p14:creationId xmlns:p14="http://schemas.microsoft.com/office/powerpoint/2010/main" val="1037018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>
          <a:extLst>
            <a:ext uri="{FF2B5EF4-FFF2-40B4-BE49-F238E27FC236}">
              <a16:creationId xmlns:a16="http://schemas.microsoft.com/office/drawing/2014/main" id="{F1929725-2F67-CD22-45A0-BCC8C874F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9">
            <a:extLst>
              <a:ext uri="{FF2B5EF4-FFF2-40B4-BE49-F238E27FC236}">
                <a16:creationId xmlns:a16="http://schemas.microsoft.com/office/drawing/2014/main" id="{DEEE3DF2-E89B-5615-6BA1-B8DB0BA778D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99496D3-D3B6-DE5A-E342-EF6D0D443BCC}"/>
              </a:ext>
            </a:extLst>
          </p:cNvPr>
          <p:cNvSpPr txBox="1"/>
          <p:nvPr/>
        </p:nvSpPr>
        <p:spPr>
          <a:xfrm>
            <a:off x="813704" y="1110892"/>
            <a:ext cx="4962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Valeurs-foncières.xlsx : Table Biens.csv et Transactions.csv 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4642E52-6656-5F7F-DBBA-E69ABD4D82DF}"/>
              </a:ext>
            </a:extLst>
          </p:cNvPr>
          <p:cNvSpPr txBox="1"/>
          <p:nvPr/>
        </p:nvSpPr>
        <p:spPr>
          <a:xfrm>
            <a:off x="3339997" y="1980103"/>
            <a:ext cx="1559085" cy="2486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FD438117-62BD-F32A-A40E-7ABC278FD7C2}"/>
              </a:ext>
            </a:extLst>
          </p:cNvPr>
          <p:cNvSpPr txBox="1"/>
          <p:nvPr/>
        </p:nvSpPr>
        <p:spPr>
          <a:xfrm>
            <a:off x="2090578" y="3608706"/>
            <a:ext cx="49628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Cadastre Id : Référence cadastrale de la parcelle</a:t>
            </a:r>
          </a:p>
          <a:p>
            <a:r>
              <a:rPr lang="fr-FR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Date mutation : Date de la transaction</a:t>
            </a:r>
          </a:p>
          <a:p>
            <a:r>
              <a:rPr lang="fr-FR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Valeur </a:t>
            </a:r>
            <a:r>
              <a:rPr lang="fr-FR" b="0" i="0" dirty="0" err="1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fonciere</a:t>
            </a:r>
            <a:r>
              <a:rPr lang="fr-FR" dirty="0">
                <a:solidFill>
                  <a:srgbClr val="271A38"/>
                </a:solidFill>
                <a:latin typeface="Inter" panose="020B0502030000000004" pitchFamily="34" charset="0"/>
              </a:rPr>
              <a:t> : </a:t>
            </a:r>
            <a:r>
              <a:rPr lang="fr-FR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Valeur de la transaction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AC09618-EF52-2DF5-DEF0-DEBE6989AE6E}"/>
              </a:ext>
            </a:extLst>
          </p:cNvPr>
          <p:cNvSpPr txBox="1"/>
          <p:nvPr/>
        </p:nvSpPr>
        <p:spPr>
          <a:xfrm>
            <a:off x="761577" y="4538554"/>
            <a:ext cx="68795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71A38"/>
                </a:solidFill>
                <a:latin typeface="Inter" panose="020B0502030000000004" pitchFamily="34" charset="0"/>
              </a:rPr>
              <a:t>-Création de la colonne Transaction Id : </a:t>
            </a:r>
            <a:r>
              <a:rPr lang="fr-FR" b="0" i="0" dirty="0">
                <a:solidFill>
                  <a:srgbClr val="271A38"/>
                </a:solidFill>
                <a:effectLst/>
                <a:latin typeface="Inter" panose="020B0502030000000004" pitchFamily="34" charset="0"/>
              </a:rPr>
              <a:t>Identifiant de la vente</a:t>
            </a:r>
          </a:p>
          <a:p>
            <a:pPr algn="ctr"/>
            <a:r>
              <a:rPr lang="fr-FR" dirty="0">
                <a:solidFill>
                  <a:srgbClr val="271A38"/>
                </a:solidFill>
                <a:latin typeface="Inter" panose="020B0502030000000004" pitchFamily="34" charset="0"/>
              </a:rPr>
              <a:t>Index correspondant au numéro de la ligne</a:t>
            </a:r>
          </a:p>
          <a:p>
            <a:pPr algn="ctr"/>
            <a:endParaRPr lang="fr-FR" dirty="0"/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5EE307E9-C998-50E4-7D4B-724E6588F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66" y="1049388"/>
            <a:ext cx="430786" cy="430786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8E8FBD6E-EE14-A612-0D37-E20F94B73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633" y="1658682"/>
            <a:ext cx="430786" cy="430786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D99F4494-49E5-8A4F-BF57-CA8D6B800EEB}"/>
              </a:ext>
            </a:extLst>
          </p:cNvPr>
          <p:cNvSpPr txBox="1"/>
          <p:nvPr/>
        </p:nvSpPr>
        <p:spPr>
          <a:xfrm>
            <a:off x="1333419" y="1731411"/>
            <a:ext cx="4962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Transactions.csv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BD0C850-D62F-9B9F-5D2D-857FAFF23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778" y="2110998"/>
            <a:ext cx="4067175" cy="1352550"/>
          </a:xfrm>
          <a:prstGeom prst="rect">
            <a:avLst/>
          </a:prstGeom>
        </p:spPr>
      </p:pic>
      <p:sp>
        <p:nvSpPr>
          <p:cNvPr id="10" name="Google Shape;304;p39">
            <a:extLst>
              <a:ext uri="{FF2B5EF4-FFF2-40B4-BE49-F238E27FC236}">
                <a16:creationId xmlns:a16="http://schemas.microsoft.com/office/drawing/2014/main" id="{4FF08177-04B6-BDB9-AA78-4CAB6B6F57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>
                <a:latin typeface="Bebas Neue"/>
                <a:ea typeface="Bebas Neue"/>
                <a:cs typeface="Bebas Neue"/>
                <a:sym typeface="Bebas Neue"/>
              </a:rPr>
              <a:t>Les données a conserver</a:t>
            </a:r>
            <a:endParaRPr b="0" dirty="0">
              <a:latin typeface="Bebas Neue"/>
              <a:ea typeface="Bebas Neue"/>
              <a:cs typeface="Bebas Neue"/>
              <a:sym typeface="Bebas Neue"/>
            </a:endParaRPr>
          </a:p>
        </p:txBody>
      </p:sp>
    </p:spTree>
    <p:extLst>
      <p:ext uri="{BB962C8B-B14F-4D97-AF65-F5344CB8AC3E}">
        <p14:creationId xmlns:p14="http://schemas.microsoft.com/office/powerpoint/2010/main" val="1456693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C2EA551-160B-7634-DF62-A5A8CE9DD7E8}"/>
              </a:ext>
            </a:extLst>
          </p:cNvPr>
          <p:cNvSpPr/>
          <p:nvPr/>
        </p:nvSpPr>
        <p:spPr>
          <a:xfrm>
            <a:off x="0" y="1397516"/>
            <a:ext cx="9144000" cy="28968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9" name="Google Shape;319;p41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304;p39">
            <a:extLst>
              <a:ext uri="{FF2B5EF4-FFF2-40B4-BE49-F238E27FC236}">
                <a16:creationId xmlns:a16="http://schemas.microsoft.com/office/drawing/2014/main" id="{B4C1957F-3929-3253-3481-77E785006F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-FR" b="0" dirty="0">
                <a:latin typeface="Bebas Neue"/>
                <a:ea typeface="Bebas Neue"/>
                <a:cs typeface="Bebas Neue"/>
                <a:sym typeface="Bebas Neue"/>
              </a:rPr>
              <a:t>dictionnaire des données</a:t>
            </a:r>
            <a:endParaRPr b="0" dirty="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1BEE362-EB0C-CCB0-851B-D979C7A62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7517"/>
            <a:ext cx="9144000" cy="289680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>
          <a:extLst>
            <a:ext uri="{FF2B5EF4-FFF2-40B4-BE49-F238E27FC236}">
              <a16:creationId xmlns:a16="http://schemas.microsoft.com/office/drawing/2014/main" id="{CEB51AF1-6EB2-F629-5663-722F7C09F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309AC04-8625-3C9F-997C-7315F2350FD2}"/>
              </a:ext>
            </a:extLst>
          </p:cNvPr>
          <p:cNvSpPr/>
          <p:nvPr/>
        </p:nvSpPr>
        <p:spPr>
          <a:xfrm>
            <a:off x="0" y="1397517"/>
            <a:ext cx="9144000" cy="28352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9" name="Google Shape;319;p41">
            <a:extLst>
              <a:ext uri="{FF2B5EF4-FFF2-40B4-BE49-F238E27FC236}">
                <a16:creationId xmlns:a16="http://schemas.microsoft.com/office/drawing/2014/main" id="{709CEF1F-BCB5-735B-02BF-DED454DBF3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304;p39">
            <a:extLst>
              <a:ext uri="{FF2B5EF4-FFF2-40B4-BE49-F238E27FC236}">
                <a16:creationId xmlns:a16="http://schemas.microsoft.com/office/drawing/2014/main" id="{FFE4F61E-C63C-7D51-1C3F-FDF4515982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9466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kumimoji="0" lang="fr" b="0" i="0" u="none" strike="noStrike" kern="0" cap="none" spc="0" normalizeH="0" baseline="0" noProof="0" dirty="0">
                <a:ln>
                  <a:noFill/>
                </a:ln>
                <a:solidFill>
                  <a:srgbClr val="00194C"/>
                </a:solidFill>
                <a:effectLst/>
                <a:uLnTx/>
                <a:uFillTx/>
                <a:latin typeface="Bebas Neue"/>
                <a:ea typeface="Bebas Neue"/>
                <a:cs typeface="Bebas Neue"/>
                <a:sym typeface="Bebas Neue"/>
              </a:rPr>
              <a:t>Le SCHéma relationnel normalisé </a:t>
            </a:r>
            <a:endParaRPr b="0" dirty="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5BE4A42-91A4-6348-5A0D-8A4520AE5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2226"/>
            <a:ext cx="9216732" cy="283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573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>
          <a:extLst>
            <a:ext uri="{FF2B5EF4-FFF2-40B4-BE49-F238E27FC236}">
              <a16:creationId xmlns:a16="http://schemas.microsoft.com/office/drawing/2014/main" id="{9A81C596-B002-CBE3-EC77-0DB24CBDA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>
            <a:extLst>
              <a:ext uri="{FF2B5EF4-FFF2-40B4-BE49-F238E27FC236}">
                <a16:creationId xmlns:a16="http://schemas.microsoft.com/office/drawing/2014/main" id="{7B638508-8B98-E1D2-FED8-86FC7C54D6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304;p39">
            <a:extLst>
              <a:ext uri="{FF2B5EF4-FFF2-40B4-BE49-F238E27FC236}">
                <a16:creationId xmlns:a16="http://schemas.microsoft.com/office/drawing/2014/main" id="{E9D757DF-1B54-9887-3392-1722EF0AD7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9466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kumimoji="0" lang="fr-FR" b="0" i="0" u="none" strike="noStrike" kern="0" cap="none" spc="0" normalizeH="0" baseline="0" noProof="0" dirty="0">
                <a:ln>
                  <a:noFill/>
                </a:ln>
                <a:solidFill>
                  <a:srgbClr val="00194C"/>
                </a:solidFill>
                <a:effectLst/>
                <a:uLnTx/>
                <a:uFillTx/>
                <a:latin typeface="Bebas Neue"/>
                <a:ea typeface="Bebas Neue"/>
                <a:cs typeface="Bebas Neue"/>
                <a:sym typeface="Bebas Neue"/>
              </a:rPr>
              <a:t>Code de C</a:t>
            </a:r>
            <a:r>
              <a:rPr kumimoji="0" lang="fr" b="0" i="0" u="none" strike="noStrike" kern="0" cap="none" spc="0" normalizeH="0" baseline="0" noProof="0" dirty="0">
                <a:ln>
                  <a:noFill/>
                </a:ln>
                <a:solidFill>
                  <a:srgbClr val="00194C"/>
                </a:solidFill>
                <a:effectLst/>
                <a:uLnTx/>
                <a:uFillTx/>
                <a:latin typeface="Bebas Neue"/>
                <a:ea typeface="Bebas Neue"/>
                <a:cs typeface="Bebas Neue"/>
                <a:sym typeface="Bebas Neue"/>
              </a:rPr>
              <a:t>reation des tables</a:t>
            </a:r>
            <a:endParaRPr b="0" dirty="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6235DFB-6FED-6B10-0EE7-0F7AF35FC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148" y="995186"/>
            <a:ext cx="4290426" cy="414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385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4"/>
          <p:cNvSpPr txBox="1">
            <a:spLocks noGrp="1"/>
          </p:cNvSpPr>
          <p:nvPr>
            <p:ph type="title"/>
          </p:nvPr>
        </p:nvSpPr>
        <p:spPr>
          <a:xfrm>
            <a:off x="45425" y="1664025"/>
            <a:ext cx="8792700" cy="14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70"/>
              <a:buFont typeface="Calibri"/>
              <a:buNone/>
            </a:pPr>
            <a:r>
              <a:rPr lang="fr" sz="3970" b="0">
                <a:latin typeface="Bebas Neue"/>
                <a:ea typeface="Bebas Neue"/>
                <a:cs typeface="Bebas Neue"/>
                <a:sym typeface="Bebas Neue"/>
              </a:rPr>
              <a:t>La base de données avec les tables créées et les données chargées</a:t>
            </a:r>
            <a:endParaRPr sz="6600" b="0"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9B8B0025-E078-5D93-07AB-55736FFF2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04;p39">
            <a:extLst>
              <a:ext uri="{FF2B5EF4-FFF2-40B4-BE49-F238E27FC236}">
                <a16:creationId xmlns:a16="http://schemas.microsoft.com/office/drawing/2014/main" id="{C3ED3F6B-56AE-29D9-941A-9B56442360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9466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kumimoji="0" lang="fr-FR" b="0" i="0" u="none" strike="noStrike" kern="0" cap="none" spc="0" normalizeH="0" baseline="0" noProof="0" dirty="0">
                <a:ln>
                  <a:noFill/>
                </a:ln>
                <a:solidFill>
                  <a:srgbClr val="00194C"/>
                </a:solidFill>
                <a:effectLst/>
                <a:uLnTx/>
                <a:uFillTx/>
                <a:latin typeface="Bebas Neue"/>
                <a:ea typeface="Bebas Neue"/>
                <a:cs typeface="Bebas Neue"/>
                <a:sym typeface="Bebas Neue"/>
              </a:rPr>
              <a:t>T</a:t>
            </a:r>
            <a:r>
              <a:rPr kumimoji="0" lang="fr" b="0" i="0" u="none" strike="noStrike" kern="0" cap="none" spc="0" normalizeH="0" baseline="0" noProof="0" dirty="0">
                <a:ln>
                  <a:noFill/>
                </a:ln>
                <a:solidFill>
                  <a:srgbClr val="00194C"/>
                </a:solidFill>
                <a:effectLst/>
                <a:uLnTx/>
                <a:uFillTx/>
                <a:latin typeface="Bebas Neue"/>
                <a:ea typeface="Bebas Neue"/>
                <a:cs typeface="Bebas Neue"/>
                <a:sym typeface="Bebas Neue"/>
              </a:rPr>
              <a:t>able biens</a:t>
            </a:r>
            <a:endParaRPr b="0" dirty="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6ECDD69-50A5-A59E-30D8-86F678654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9597"/>
            <a:ext cx="9144000" cy="278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119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7A3E842C-9656-DB78-EDE7-1282E78AB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04;p39">
            <a:extLst>
              <a:ext uri="{FF2B5EF4-FFF2-40B4-BE49-F238E27FC236}">
                <a16:creationId xmlns:a16="http://schemas.microsoft.com/office/drawing/2014/main" id="{F007443D-D4FF-0EBC-5C59-380FC8DA11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9466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kumimoji="0" lang="fr-FR" b="0" i="0" u="none" strike="noStrike" kern="0" cap="none" spc="0" normalizeH="0" baseline="0" noProof="0" dirty="0">
                <a:ln>
                  <a:noFill/>
                </a:ln>
                <a:solidFill>
                  <a:srgbClr val="00194C"/>
                </a:solidFill>
                <a:effectLst/>
                <a:uLnTx/>
                <a:uFillTx/>
                <a:latin typeface="Bebas Neue"/>
                <a:ea typeface="Bebas Neue"/>
                <a:cs typeface="Bebas Neue"/>
                <a:sym typeface="Bebas Neue"/>
              </a:rPr>
              <a:t>T</a:t>
            </a:r>
            <a:r>
              <a:rPr kumimoji="0" lang="fr" b="0" i="0" u="none" strike="noStrike" kern="0" cap="none" spc="0" normalizeH="0" baseline="0" noProof="0" dirty="0">
                <a:ln>
                  <a:noFill/>
                </a:ln>
                <a:solidFill>
                  <a:srgbClr val="00194C"/>
                </a:solidFill>
                <a:effectLst/>
                <a:uLnTx/>
                <a:uFillTx/>
                <a:latin typeface="Bebas Neue"/>
                <a:ea typeface="Bebas Neue"/>
                <a:cs typeface="Bebas Neue"/>
                <a:sym typeface="Bebas Neue"/>
              </a:rPr>
              <a:t>able departements</a:t>
            </a:r>
            <a:endParaRPr b="0" dirty="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A35964B-7B6F-6465-39C1-B00515B6B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1378"/>
            <a:ext cx="9144000" cy="300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972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A33B2898-132E-B02A-205D-AB02D9E1B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04;p39">
            <a:extLst>
              <a:ext uri="{FF2B5EF4-FFF2-40B4-BE49-F238E27FC236}">
                <a16:creationId xmlns:a16="http://schemas.microsoft.com/office/drawing/2014/main" id="{41D22867-4D57-55E2-C527-6615168B7C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9466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kumimoji="0" lang="fr-FR" b="0" i="0" u="none" strike="noStrike" kern="0" cap="none" spc="0" normalizeH="0" baseline="0" noProof="0" dirty="0">
                <a:ln>
                  <a:noFill/>
                </a:ln>
                <a:solidFill>
                  <a:srgbClr val="00194C"/>
                </a:solidFill>
                <a:effectLst/>
                <a:uLnTx/>
                <a:uFillTx/>
                <a:latin typeface="Bebas Neue"/>
                <a:ea typeface="Bebas Neue"/>
                <a:cs typeface="Bebas Neue"/>
                <a:sym typeface="Bebas Neue"/>
              </a:rPr>
              <a:t>T</a:t>
            </a:r>
            <a:r>
              <a:rPr kumimoji="0" lang="fr" b="0" i="0" u="none" strike="noStrike" kern="0" cap="none" spc="0" normalizeH="0" baseline="0" noProof="0" dirty="0">
                <a:ln>
                  <a:noFill/>
                </a:ln>
                <a:solidFill>
                  <a:srgbClr val="00194C"/>
                </a:solidFill>
                <a:effectLst/>
                <a:uLnTx/>
                <a:uFillTx/>
                <a:latin typeface="Bebas Neue"/>
                <a:ea typeface="Bebas Neue"/>
                <a:cs typeface="Bebas Neue"/>
                <a:sym typeface="Bebas Neue"/>
              </a:rPr>
              <a:t>able population_par_Communes</a:t>
            </a:r>
            <a:endParaRPr b="0" dirty="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070168F-AF29-E3AC-ED41-770EC93C2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7148"/>
            <a:ext cx="9144000" cy="272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334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B11C3675-6D22-232E-2DDF-6CB938BE6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04;p39">
            <a:extLst>
              <a:ext uri="{FF2B5EF4-FFF2-40B4-BE49-F238E27FC236}">
                <a16:creationId xmlns:a16="http://schemas.microsoft.com/office/drawing/2014/main" id="{372ED9CB-5A97-4759-2DFA-C4DB0EA55B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9466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kumimoji="0" lang="fr-FR" b="0" i="0" u="none" strike="noStrike" kern="0" cap="none" spc="0" normalizeH="0" baseline="0" noProof="0" dirty="0">
                <a:ln>
                  <a:noFill/>
                </a:ln>
                <a:solidFill>
                  <a:srgbClr val="00194C"/>
                </a:solidFill>
                <a:effectLst/>
                <a:uLnTx/>
                <a:uFillTx/>
                <a:latin typeface="Bebas Neue"/>
                <a:ea typeface="Bebas Neue"/>
                <a:cs typeface="Bebas Neue"/>
                <a:sym typeface="Bebas Neue"/>
              </a:rPr>
              <a:t>T</a:t>
            </a:r>
            <a:r>
              <a:rPr kumimoji="0" lang="fr" b="0" i="0" u="none" strike="noStrike" kern="0" cap="none" spc="0" normalizeH="0" baseline="0" noProof="0" dirty="0">
                <a:ln>
                  <a:noFill/>
                </a:ln>
                <a:solidFill>
                  <a:srgbClr val="00194C"/>
                </a:solidFill>
                <a:effectLst/>
                <a:uLnTx/>
                <a:uFillTx/>
                <a:latin typeface="Bebas Neue"/>
                <a:ea typeface="Bebas Neue"/>
                <a:cs typeface="Bebas Neue"/>
                <a:sym typeface="Bebas Neue"/>
              </a:rPr>
              <a:t>able regions</a:t>
            </a:r>
            <a:endParaRPr b="0" dirty="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F9F0072-BE1D-5539-D114-FEC1C6953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66512"/>
            <a:ext cx="9144000" cy="241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48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04;p39">
            <a:extLst>
              <a:ext uri="{FF2B5EF4-FFF2-40B4-BE49-F238E27FC236}">
                <a16:creationId xmlns:a16="http://schemas.microsoft.com/office/drawing/2014/main" id="{3BFFC042-8BD9-ED03-AD12-7A6DFF153C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9466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kumimoji="0" lang="fr-FR" b="0" i="0" u="none" strike="noStrike" kern="0" cap="none" spc="0" normalizeH="0" baseline="0" noProof="0" dirty="0">
                <a:ln>
                  <a:noFill/>
                </a:ln>
                <a:solidFill>
                  <a:srgbClr val="00194C"/>
                </a:solidFill>
                <a:effectLst/>
                <a:uLnTx/>
                <a:uFillTx/>
                <a:latin typeface="Bebas Neue"/>
                <a:ea typeface="Bebas Neue"/>
                <a:cs typeface="Bebas Neue"/>
                <a:sym typeface="Bebas Neue"/>
              </a:rPr>
              <a:t>T</a:t>
            </a:r>
            <a:r>
              <a:rPr kumimoji="0" lang="fr" b="0" i="0" u="none" strike="noStrike" kern="0" cap="none" spc="0" normalizeH="0" baseline="0" noProof="0" dirty="0">
                <a:ln>
                  <a:noFill/>
                </a:ln>
                <a:solidFill>
                  <a:srgbClr val="00194C"/>
                </a:solidFill>
                <a:effectLst/>
                <a:uLnTx/>
                <a:uFillTx/>
                <a:latin typeface="Bebas Neue"/>
                <a:ea typeface="Bebas Neue"/>
                <a:cs typeface="Bebas Neue"/>
                <a:sym typeface="Bebas Neue"/>
              </a:rPr>
              <a:t>able transactions</a:t>
            </a:r>
            <a:endParaRPr b="0" dirty="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CD698D7-DB5A-FBC1-D71D-1D13A0F63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4328"/>
            <a:ext cx="9144000" cy="263484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5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900" cy="8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>
                <a:latin typeface="Bebas Neue"/>
                <a:ea typeface="Bebas Neue"/>
                <a:cs typeface="Bebas Neue"/>
                <a:sym typeface="Bebas Neue"/>
              </a:rPr>
              <a:t>La stratégie de sauvegarde </a:t>
            </a:r>
            <a:endParaRPr b="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73" name="Google Shape;273;p35"/>
          <p:cNvSpPr txBox="1"/>
          <p:nvPr/>
        </p:nvSpPr>
        <p:spPr>
          <a:xfrm>
            <a:off x="329275" y="1402175"/>
            <a:ext cx="8742900" cy="1626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50" dirty="0">
                <a:solidFill>
                  <a:srgbClr val="333333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fr" sz="1350" dirty="0">
                <a:solidFill>
                  <a:schemeClr val="accent1"/>
                </a:solidFill>
                <a:highlight>
                  <a:srgbClr val="FFFFFF"/>
                </a:highlight>
                <a:uFill>
                  <a:noFill/>
                </a:u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tratégie 3-2-1</a:t>
            </a:r>
            <a:r>
              <a:rPr lang="fr" sz="1350" dirty="0">
                <a:solidFill>
                  <a:srgbClr val="333333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:</a:t>
            </a:r>
            <a:endParaRPr sz="1350" dirty="0">
              <a:solidFill>
                <a:srgbClr val="333333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dirty="0">
              <a:solidFill>
                <a:srgbClr val="333333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50" dirty="0">
                <a:solidFill>
                  <a:srgbClr val="333333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Au moins trois copies des données dans des endroits différents, deux copies sur des supports différents et une copie hors site. </a:t>
            </a:r>
            <a:endParaRPr sz="1350" dirty="0">
              <a:solidFill>
                <a:srgbClr val="333333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dirty="0">
              <a:solidFill>
                <a:srgbClr val="333333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42" name="Picture 2" descr="Règle du 3-2-1">
            <a:extLst>
              <a:ext uri="{FF2B5EF4-FFF2-40B4-BE49-F238E27FC236}">
                <a16:creationId xmlns:a16="http://schemas.microsoft.com/office/drawing/2014/main" id="{12200867-6F4D-00BA-D5C5-32D1477D5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809" y="2646295"/>
            <a:ext cx="5314950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B6D713CA-D823-EE01-69AA-714712C661E7}"/>
              </a:ext>
            </a:extLst>
          </p:cNvPr>
          <p:cNvSpPr txBox="1"/>
          <p:nvPr/>
        </p:nvSpPr>
        <p:spPr>
          <a:xfrm>
            <a:off x="559165" y="4190452"/>
            <a:ext cx="8025669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333333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fr-FR" sz="1400" dirty="0">
                <a:solidFill>
                  <a:srgbClr val="333333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iversifier les lieux de stockage des sauvegardes afin de garantir la protection contre tout type de situation de perte de données.</a:t>
            </a:r>
            <a:endParaRPr lang="fr-FR" dirty="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48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48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48"/>
          <p:cNvSpPr txBox="1">
            <a:spLocks noGrp="1"/>
          </p:cNvSpPr>
          <p:nvPr>
            <p:ph type="title"/>
          </p:nvPr>
        </p:nvSpPr>
        <p:spPr>
          <a:xfrm>
            <a:off x="4789075" y="1743075"/>
            <a:ext cx="3269100" cy="12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lang="fr" sz="3800" b="0">
                <a:latin typeface="Bebas Neue"/>
                <a:ea typeface="Bebas Neue"/>
                <a:cs typeface="Bebas Neue"/>
                <a:sym typeface="Bebas Neue"/>
              </a:rPr>
              <a:t>Requêtes SQL </a:t>
            </a:r>
            <a:endParaRPr sz="3800" b="0">
              <a:latin typeface="Bebas Neue"/>
              <a:ea typeface="Bebas Neue"/>
              <a:cs typeface="Bebas Neue"/>
              <a:sym typeface="Bebas Neue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lang="fr" sz="3800" b="0">
                <a:latin typeface="Bebas Neue"/>
                <a:ea typeface="Bebas Neue"/>
                <a:cs typeface="Bebas Neue"/>
                <a:sym typeface="Bebas Neue"/>
              </a:rPr>
              <a:t>et résultats</a:t>
            </a:r>
            <a:endParaRPr sz="380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71" name="Google Shape;371;p48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2" name="Google Shape;372;p48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9"/>
          <p:cNvSpPr txBox="1">
            <a:spLocks noGrp="1"/>
          </p:cNvSpPr>
          <p:nvPr>
            <p:ph type="title"/>
          </p:nvPr>
        </p:nvSpPr>
        <p:spPr>
          <a:xfrm>
            <a:off x="389000" y="267699"/>
            <a:ext cx="62499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>
                <a:latin typeface="Bebas Neue"/>
                <a:ea typeface="Bebas Neue"/>
                <a:cs typeface="Bebas Neue"/>
                <a:sym typeface="Bebas Neue"/>
              </a:rPr>
              <a:t>Requête 1</a:t>
            </a:r>
            <a:endParaRPr dirty="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79" name="Google Shape;379;p4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23</a:t>
            </a:fld>
            <a:endParaRPr/>
          </a:p>
        </p:txBody>
      </p:sp>
      <p:sp>
        <p:nvSpPr>
          <p:cNvPr id="380" name="Google Shape;380;p49"/>
          <p:cNvSpPr txBox="1">
            <a:spLocks noGrp="1"/>
          </p:cNvSpPr>
          <p:nvPr>
            <p:ph type="body" idx="1"/>
          </p:nvPr>
        </p:nvSpPr>
        <p:spPr>
          <a:xfrm>
            <a:off x="390377" y="956500"/>
            <a:ext cx="7205700" cy="4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 sz="1600" b="1" i="1" u="sng" dirty="0">
                <a:latin typeface="Calibri" panose="020F0502020204030204" pitchFamily="34" charset="0"/>
                <a:ea typeface="Lexend SemiBold"/>
                <a:cs typeface="Calibri" panose="020F0502020204030204" pitchFamily="34" charset="0"/>
                <a:sym typeface="Lexend SemiBold"/>
              </a:rPr>
              <a:t>Nombre total d’appartements vendus au 1er semestre 2020:</a:t>
            </a:r>
            <a:endParaRPr sz="1600" b="1" i="1" u="sng" dirty="0">
              <a:latin typeface="Calibri" panose="020F0502020204030204" pitchFamily="34" charset="0"/>
              <a:ea typeface="Lexend SemiBold"/>
              <a:cs typeface="Calibri" panose="020F0502020204030204" pitchFamily="34" charset="0"/>
              <a:sym typeface="Lexend SemiBold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00C17FF-6CD6-D583-C6BD-A619FAB39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00" y="1630362"/>
            <a:ext cx="7277100" cy="30765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>
          <a:extLst>
            <a:ext uri="{FF2B5EF4-FFF2-40B4-BE49-F238E27FC236}">
              <a16:creationId xmlns:a16="http://schemas.microsoft.com/office/drawing/2014/main" id="{CC0FC292-747A-34EE-D30C-56D666673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9">
            <a:extLst>
              <a:ext uri="{FF2B5EF4-FFF2-40B4-BE49-F238E27FC236}">
                <a16:creationId xmlns:a16="http://schemas.microsoft.com/office/drawing/2014/main" id="{F21D5D2E-9F4D-50B6-8EDD-4A9E9F387E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0" y="267699"/>
            <a:ext cx="62499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>
                <a:latin typeface="Bebas Neue"/>
                <a:ea typeface="Bebas Neue"/>
                <a:cs typeface="Bebas Neue"/>
                <a:sym typeface="Bebas Neue"/>
              </a:rPr>
              <a:t>Requête 2</a:t>
            </a:r>
            <a:endParaRPr dirty="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79" name="Google Shape;379;p49">
            <a:extLst>
              <a:ext uri="{FF2B5EF4-FFF2-40B4-BE49-F238E27FC236}">
                <a16:creationId xmlns:a16="http://schemas.microsoft.com/office/drawing/2014/main" id="{E31A8A59-6752-EED0-6127-ABBAEE2AE5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24</a:t>
            </a:fld>
            <a:endParaRPr/>
          </a:p>
        </p:txBody>
      </p:sp>
      <p:sp>
        <p:nvSpPr>
          <p:cNvPr id="380" name="Google Shape;380;p49">
            <a:extLst>
              <a:ext uri="{FF2B5EF4-FFF2-40B4-BE49-F238E27FC236}">
                <a16:creationId xmlns:a16="http://schemas.microsoft.com/office/drawing/2014/main" id="{797FC3D3-DF9D-4B8D-724C-8AE586061E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7" y="956500"/>
            <a:ext cx="7205700" cy="4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1600" b="1" i="1" u="sng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Le nombre de ventes d’appartement par région pour le 1er semestre 2020.</a:t>
            </a:r>
            <a:endParaRPr dirty="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5865096-6A46-1C58-FB21-0F0504812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696" y="1244384"/>
            <a:ext cx="4943054" cy="389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7080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>
          <a:extLst>
            <a:ext uri="{FF2B5EF4-FFF2-40B4-BE49-F238E27FC236}">
              <a16:creationId xmlns:a16="http://schemas.microsoft.com/office/drawing/2014/main" id="{2143AE38-1782-CF3C-7A13-0012EE8DA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9">
            <a:extLst>
              <a:ext uri="{FF2B5EF4-FFF2-40B4-BE49-F238E27FC236}">
                <a16:creationId xmlns:a16="http://schemas.microsoft.com/office/drawing/2014/main" id="{F7A31FE0-5591-66D9-C72D-7E6DE6F38A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0" y="267699"/>
            <a:ext cx="62499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>
                <a:latin typeface="Bebas Neue"/>
                <a:ea typeface="Bebas Neue"/>
                <a:cs typeface="Bebas Neue"/>
                <a:sym typeface="Bebas Neue"/>
              </a:rPr>
              <a:t>Requête 3</a:t>
            </a:r>
            <a:endParaRPr dirty="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79" name="Google Shape;379;p49">
            <a:extLst>
              <a:ext uri="{FF2B5EF4-FFF2-40B4-BE49-F238E27FC236}">
                <a16:creationId xmlns:a16="http://schemas.microsoft.com/office/drawing/2014/main" id="{37807B02-0B9A-2707-101D-052CCA4086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25</a:t>
            </a:fld>
            <a:endParaRPr/>
          </a:p>
        </p:txBody>
      </p:sp>
      <p:sp>
        <p:nvSpPr>
          <p:cNvPr id="380" name="Google Shape;380;p49">
            <a:extLst>
              <a:ext uri="{FF2B5EF4-FFF2-40B4-BE49-F238E27FC236}">
                <a16:creationId xmlns:a16="http://schemas.microsoft.com/office/drawing/2014/main" id="{814E9749-D338-8A26-CFD5-649D055A04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7" y="956500"/>
            <a:ext cx="7205700" cy="4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1600" b="1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Proportion des ventes d’appartements par le nombre de pièces</a:t>
            </a:r>
            <a:endParaRPr dirty="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31DAE4D-0912-C892-E85E-60072BD47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425" y="1234856"/>
            <a:ext cx="5049775" cy="390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2493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>
          <a:extLst>
            <a:ext uri="{FF2B5EF4-FFF2-40B4-BE49-F238E27FC236}">
              <a16:creationId xmlns:a16="http://schemas.microsoft.com/office/drawing/2014/main" id="{D2D03B73-D523-BCE8-1E62-73806ADF4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9">
            <a:extLst>
              <a:ext uri="{FF2B5EF4-FFF2-40B4-BE49-F238E27FC236}">
                <a16:creationId xmlns:a16="http://schemas.microsoft.com/office/drawing/2014/main" id="{EA7DA0A2-6AA5-868E-E0F4-05F39B40A8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0" y="267699"/>
            <a:ext cx="62499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>
                <a:latin typeface="Bebas Neue"/>
                <a:ea typeface="Bebas Neue"/>
                <a:cs typeface="Bebas Neue"/>
                <a:sym typeface="Bebas Neue"/>
              </a:rPr>
              <a:t>Requête 4</a:t>
            </a:r>
            <a:endParaRPr dirty="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79" name="Google Shape;379;p49">
            <a:extLst>
              <a:ext uri="{FF2B5EF4-FFF2-40B4-BE49-F238E27FC236}">
                <a16:creationId xmlns:a16="http://schemas.microsoft.com/office/drawing/2014/main" id="{A596142D-946C-EBF6-D0B7-EF57955D6A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26</a:t>
            </a:fld>
            <a:endParaRPr/>
          </a:p>
        </p:txBody>
      </p:sp>
      <p:sp>
        <p:nvSpPr>
          <p:cNvPr id="380" name="Google Shape;380;p49">
            <a:extLst>
              <a:ext uri="{FF2B5EF4-FFF2-40B4-BE49-F238E27FC236}">
                <a16:creationId xmlns:a16="http://schemas.microsoft.com/office/drawing/2014/main" id="{0DD7D7BD-187C-5F8F-3E9B-90B1FE7FB4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7" y="956500"/>
            <a:ext cx="7205700" cy="4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1600" b="1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Liste des 10 départements où le prix du mètre carré est le plus élevé</a:t>
            </a:r>
            <a:endParaRPr dirty="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6E1797C-EC68-F2D5-6E3C-4CA09AA2F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123" y="1254644"/>
            <a:ext cx="5305927" cy="388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7388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>
          <a:extLst>
            <a:ext uri="{FF2B5EF4-FFF2-40B4-BE49-F238E27FC236}">
              <a16:creationId xmlns:a16="http://schemas.microsoft.com/office/drawing/2014/main" id="{DC87C273-6C24-9EDC-1A57-EC40F0F9D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9">
            <a:extLst>
              <a:ext uri="{FF2B5EF4-FFF2-40B4-BE49-F238E27FC236}">
                <a16:creationId xmlns:a16="http://schemas.microsoft.com/office/drawing/2014/main" id="{471C1BC3-7A40-6357-782C-1F642A378C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0" y="267699"/>
            <a:ext cx="62499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>
                <a:latin typeface="Bebas Neue"/>
                <a:ea typeface="Bebas Neue"/>
                <a:cs typeface="Bebas Neue"/>
                <a:sym typeface="Bebas Neue"/>
              </a:rPr>
              <a:t>Requête 5</a:t>
            </a:r>
            <a:endParaRPr dirty="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79" name="Google Shape;379;p49">
            <a:extLst>
              <a:ext uri="{FF2B5EF4-FFF2-40B4-BE49-F238E27FC236}">
                <a16:creationId xmlns:a16="http://schemas.microsoft.com/office/drawing/2014/main" id="{8E721DC5-D913-9C32-4E50-9638A5B163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27</a:t>
            </a:fld>
            <a:endParaRPr/>
          </a:p>
        </p:txBody>
      </p:sp>
      <p:sp>
        <p:nvSpPr>
          <p:cNvPr id="380" name="Google Shape;380;p49">
            <a:extLst>
              <a:ext uri="{FF2B5EF4-FFF2-40B4-BE49-F238E27FC236}">
                <a16:creationId xmlns:a16="http://schemas.microsoft.com/office/drawing/2014/main" id="{9B6A412D-3AFC-902A-EC67-88E9D415B7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7" y="956500"/>
            <a:ext cx="7205700" cy="4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1600" b="1" i="1" u="sng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Prix moyen du mètre carré d’une maison en Île-de-France</a:t>
            </a:r>
            <a:endParaRPr dirty="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D03A223-7D5A-5A87-5773-EDBF90FC5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02" y="1332155"/>
            <a:ext cx="6046098" cy="370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5809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>
          <a:extLst>
            <a:ext uri="{FF2B5EF4-FFF2-40B4-BE49-F238E27FC236}">
              <a16:creationId xmlns:a16="http://schemas.microsoft.com/office/drawing/2014/main" id="{19CFFC9C-1246-A6B9-7C42-17FF1904A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9">
            <a:extLst>
              <a:ext uri="{FF2B5EF4-FFF2-40B4-BE49-F238E27FC236}">
                <a16:creationId xmlns:a16="http://schemas.microsoft.com/office/drawing/2014/main" id="{94E44E8E-EACB-B3A2-9100-6834BB4D67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0" y="267699"/>
            <a:ext cx="62499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>
                <a:latin typeface="Bebas Neue"/>
                <a:ea typeface="Bebas Neue"/>
                <a:cs typeface="Bebas Neue"/>
                <a:sym typeface="Bebas Neue"/>
              </a:rPr>
              <a:t>Requête 6</a:t>
            </a:r>
            <a:endParaRPr dirty="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79" name="Google Shape;379;p49">
            <a:extLst>
              <a:ext uri="{FF2B5EF4-FFF2-40B4-BE49-F238E27FC236}">
                <a16:creationId xmlns:a16="http://schemas.microsoft.com/office/drawing/2014/main" id="{C97BB198-7B89-4329-EF11-8719D46179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28</a:t>
            </a:fld>
            <a:endParaRPr/>
          </a:p>
        </p:txBody>
      </p:sp>
      <p:sp>
        <p:nvSpPr>
          <p:cNvPr id="380" name="Google Shape;380;p49">
            <a:extLst>
              <a:ext uri="{FF2B5EF4-FFF2-40B4-BE49-F238E27FC236}">
                <a16:creationId xmlns:a16="http://schemas.microsoft.com/office/drawing/2014/main" id="{BC527E8E-B918-DEFC-5307-811DD14A89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7" y="956500"/>
            <a:ext cx="6306452" cy="4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1600" b="1" i="1" u="sng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Liste des 10 appartements les plus chers avec la région et le nombre de mètres carrés</a:t>
            </a:r>
            <a:endParaRPr dirty="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5B11059-E8AE-F465-8676-0ED629E92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604" y="1303351"/>
            <a:ext cx="4498646" cy="384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6087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>
          <a:extLst>
            <a:ext uri="{FF2B5EF4-FFF2-40B4-BE49-F238E27FC236}">
              <a16:creationId xmlns:a16="http://schemas.microsoft.com/office/drawing/2014/main" id="{EFC6643A-E5DE-C852-CFC9-9886D8F19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9">
            <a:extLst>
              <a:ext uri="{FF2B5EF4-FFF2-40B4-BE49-F238E27FC236}">
                <a16:creationId xmlns:a16="http://schemas.microsoft.com/office/drawing/2014/main" id="{3CAF5A65-1A6A-5787-2556-093FAC753A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0" y="267699"/>
            <a:ext cx="62499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>
                <a:latin typeface="Bebas Neue"/>
                <a:ea typeface="Bebas Neue"/>
                <a:cs typeface="Bebas Neue"/>
                <a:sym typeface="Bebas Neue"/>
              </a:rPr>
              <a:t>Requête 7</a:t>
            </a:r>
            <a:endParaRPr dirty="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79" name="Google Shape;379;p49">
            <a:extLst>
              <a:ext uri="{FF2B5EF4-FFF2-40B4-BE49-F238E27FC236}">
                <a16:creationId xmlns:a16="http://schemas.microsoft.com/office/drawing/2014/main" id="{12B879DA-B313-7D43-3F28-07B5AAFE60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29</a:t>
            </a:fld>
            <a:endParaRPr/>
          </a:p>
        </p:txBody>
      </p:sp>
      <p:sp>
        <p:nvSpPr>
          <p:cNvPr id="380" name="Google Shape;380;p49">
            <a:extLst>
              <a:ext uri="{FF2B5EF4-FFF2-40B4-BE49-F238E27FC236}">
                <a16:creationId xmlns:a16="http://schemas.microsoft.com/office/drawing/2014/main" id="{10D260FB-4247-4887-E8D7-ADC76768D2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7" y="956500"/>
            <a:ext cx="6306452" cy="4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1600" b="1" i="1" u="sng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Taux d’évolution du nombre de ventes entre le premier et le second trimestre de 2020</a:t>
            </a:r>
            <a:endParaRPr dirty="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52CE2C6-B199-118B-63DC-67B7410D6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" y="1516646"/>
            <a:ext cx="7404100" cy="3524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4796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>
          <a:extLst>
            <a:ext uri="{FF2B5EF4-FFF2-40B4-BE49-F238E27FC236}">
              <a16:creationId xmlns:a16="http://schemas.microsoft.com/office/drawing/2014/main" id="{9FCF62A2-9B4E-770E-A5C9-ED3572E6F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9">
            <a:extLst>
              <a:ext uri="{FF2B5EF4-FFF2-40B4-BE49-F238E27FC236}">
                <a16:creationId xmlns:a16="http://schemas.microsoft.com/office/drawing/2014/main" id="{76A1B988-52BF-D54D-8D08-5656F0E54A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0" y="267699"/>
            <a:ext cx="62499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>
                <a:latin typeface="Bebas Neue"/>
                <a:ea typeface="Bebas Neue"/>
                <a:cs typeface="Bebas Neue"/>
                <a:sym typeface="Bebas Neue"/>
              </a:rPr>
              <a:t>Requête 8</a:t>
            </a:r>
            <a:endParaRPr dirty="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79" name="Google Shape;379;p49">
            <a:extLst>
              <a:ext uri="{FF2B5EF4-FFF2-40B4-BE49-F238E27FC236}">
                <a16:creationId xmlns:a16="http://schemas.microsoft.com/office/drawing/2014/main" id="{E41E5F33-67F0-B08D-33BF-F681C46D21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30</a:t>
            </a:fld>
            <a:endParaRPr/>
          </a:p>
        </p:txBody>
      </p:sp>
      <p:sp>
        <p:nvSpPr>
          <p:cNvPr id="380" name="Google Shape;380;p49">
            <a:extLst>
              <a:ext uri="{FF2B5EF4-FFF2-40B4-BE49-F238E27FC236}">
                <a16:creationId xmlns:a16="http://schemas.microsoft.com/office/drawing/2014/main" id="{1A17D274-9DF8-43B8-70FC-8F0DA12992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9000" y="772304"/>
            <a:ext cx="6306452" cy="4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1600" b="1" i="1" u="sng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Le classement des régions par rapport au prix au mètre carré des appartement de plus de 4 pièces</a:t>
            </a:r>
            <a:endParaRPr dirty="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AEB44AB-20E1-4E75-4F11-DADCA2344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4041" y="1254286"/>
            <a:ext cx="3505409" cy="388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1434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>
          <a:extLst>
            <a:ext uri="{FF2B5EF4-FFF2-40B4-BE49-F238E27FC236}">
              <a16:creationId xmlns:a16="http://schemas.microsoft.com/office/drawing/2014/main" id="{3F533713-34F9-02C6-2303-E9E10C0B0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9">
            <a:extLst>
              <a:ext uri="{FF2B5EF4-FFF2-40B4-BE49-F238E27FC236}">
                <a16:creationId xmlns:a16="http://schemas.microsoft.com/office/drawing/2014/main" id="{AC1B9795-9AAD-EECF-90A7-93E46958D0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0" y="267699"/>
            <a:ext cx="62499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>
                <a:latin typeface="Bebas Neue"/>
                <a:ea typeface="Bebas Neue"/>
                <a:cs typeface="Bebas Neue"/>
                <a:sym typeface="Bebas Neue"/>
              </a:rPr>
              <a:t>Requête 9</a:t>
            </a:r>
            <a:endParaRPr dirty="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79" name="Google Shape;379;p49">
            <a:extLst>
              <a:ext uri="{FF2B5EF4-FFF2-40B4-BE49-F238E27FC236}">
                <a16:creationId xmlns:a16="http://schemas.microsoft.com/office/drawing/2014/main" id="{03C0B100-513B-C445-6086-B1767E391A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31</a:t>
            </a:fld>
            <a:endParaRPr/>
          </a:p>
        </p:txBody>
      </p:sp>
      <p:sp>
        <p:nvSpPr>
          <p:cNvPr id="9" name="Google Shape;380;p49">
            <a:extLst>
              <a:ext uri="{FF2B5EF4-FFF2-40B4-BE49-F238E27FC236}">
                <a16:creationId xmlns:a16="http://schemas.microsoft.com/office/drawing/2014/main" id="{EA045F9E-9A4C-9DE3-7CA7-AAB40F6F51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9000" y="832589"/>
            <a:ext cx="6306452" cy="4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1600" b="1" i="1" u="sng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Liste des communes ayant eu au moins 50 ventes au 1er trimestre</a:t>
            </a:r>
            <a:endParaRPr dirty="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EEAEFEC-2222-23EE-3B3B-A61094F75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03" y="1175859"/>
            <a:ext cx="4855198" cy="3967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7287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>
          <a:extLst>
            <a:ext uri="{FF2B5EF4-FFF2-40B4-BE49-F238E27FC236}">
              <a16:creationId xmlns:a16="http://schemas.microsoft.com/office/drawing/2014/main" id="{83289860-4A21-B782-68A7-DE8283C4E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9">
            <a:extLst>
              <a:ext uri="{FF2B5EF4-FFF2-40B4-BE49-F238E27FC236}">
                <a16:creationId xmlns:a16="http://schemas.microsoft.com/office/drawing/2014/main" id="{847A9424-7EC4-B8E0-6911-F6395BA08C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0" y="267699"/>
            <a:ext cx="62499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>
                <a:latin typeface="Bebas Neue"/>
                <a:ea typeface="Bebas Neue"/>
                <a:cs typeface="Bebas Neue"/>
                <a:sym typeface="Bebas Neue"/>
              </a:rPr>
              <a:t>Requête 9</a:t>
            </a:r>
            <a:endParaRPr dirty="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79" name="Google Shape;379;p49">
            <a:extLst>
              <a:ext uri="{FF2B5EF4-FFF2-40B4-BE49-F238E27FC236}">
                <a16:creationId xmlns:a16="http://schemas.microsoft.com/office/drawing/2014/main" id="{F4033A7D-1BC8-DD9D-149C-0747BB418E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32</a:t>
            </a:fld>
            <a:endParaRPr/>
          </a:p>
        </p:txBody>
      </p:sp>
      <p:sp>
        <p:nvSpPr>
          <p:cNvPr id="380" name="Google Shape;380;p49">
            <a:extLst>
              <a:ext uri="{FF2B5EF4-FFF2-40B4-BE49-F238E27FC236}">
                <a16:creationId xmlns:a16="http://schemas.microsoft.com/office/drawing/2014/main" id="{E0BB0D0C-736F-1ECC-0DD7-BB42929F22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9000" y="832589"/>
            <a:ext cx="6306452" cy="4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1600" b="1" i="1" u="sng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Liste des communes ayant eu au moins 50 ventes au 1er trimestre</a:t>
            </a:r>
            <a:endParaRPr dirty="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E96461D-DE22-7D87-6934-0F98D0526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877" y="1125078"/>
            <a:ext cx="3615873" cy="401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6379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>
          <a:extLst>
            <a:ext uri="{FF2B5EF4-FFF2-40B4-BE49-F238E27FC236}">
              <a16:creationId xmlns:a16="http://schemas.microsoft.com/office/drawing/2014/main" id="{79B8B932-2F4C-4165-90F9-B4DB18370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9">
            <a:extLst>
              <a:ext uri="{FF2B5EF4-FFF2-40B4-BE49-F238E27FC236}">
                <a16:creationId xmlns:a16="http://schemas.microsoft.com/office/drawing/2014/main" id="{72D47CDD-4C9F-1F38-03C0-13CD046F9E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0" y="267699"/>
            <a:ext cx="62499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>
                <a:latin typeface="Bebas Neue"/>
                <a:ea typeface="Bebas Neue"/>
                <a:cs typeface="Bebas Neue"/>
                <a:sym typeface="Bebas Neue"/>
              </a:rPr>
              <a:t>Requête 10</a:t>
            </a:r>
            <a:endParaRPr dirty="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79" name="Google Shape;379;p49">
            <a:extLst>
              <a:ext uri="{FF2B5EF4-FFF2-40B4-BE49-F238E27FC236}">
                <a16:creationId xmlns:a16="http://schemas.microsoft.com/office/drawing/2014/main" id="{C625E7AF-E326-6BB2-777C-210C3061586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33</a:t>
            </a:fld>
            <a:endParaRPr/>
          </a:p>
        </p:txBody>
      </p:sp>
      <p:sp>
        <p:nvSpPr>
          <p:cNvPr id="380" name="Google Shape;380;p49">
            <a:extLst>
              <a:ext uri="{FF2B5EF4-FFF2-40B4-BE49-F238E27FC236}">
                <a16:creationId xmlns:a16="http://schemas.microsoft.com/office/drawing/2014/main" id="{CB59B460-A962-8B17-3BE6-C61FB9F269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7" y="956500"/>
            <a:ext cx="6306452" cy="4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1600" b="1" i="1" u="sng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Différence en pourcentage du prix au mètre carré entre un appartement de 2 pièces et un appartement de 3 pièces</a:t>
            </a:r>
            <a:endParaRPr dirty="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3F44DDB-2966-A56A-2756-EC49E2F8C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63975"/>
            <a:ext cx="9144000" cy="270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4494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>
          <a:extLst>
            <a:ext uri="{FF2B5EF4-FFF2-40B4-BE49-F238E27FC236}">
              <a16:creationId xmlns:a16="http://schemas.microsoft.com/office/drawing/2014/main" id="{09BF75BE-E99D-D4CC-4D77-7659EE69D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9">
            <a:extLst>
              <a:ext uri="{FF2B5EF4-FFF2-40B4-BE49-F238E27FC236}">
                <a16:creationId xmlns:a16="http://schemas.microsoft.com/office/drawing/2014/main" id="{7ACCE881-E861-6931-D485-04C207869D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0" y="267699"/>
            <a:ext cx="62499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>
                <a:latin typeface="Bebas Neue"/>
                <a:ea typeface="Bebas Neue"/>
                <a:cs typeface="Bebas Neue"/>
                <a:sym typeface="Bebas Neue"/>
              </a:rPr>
              <a:t>Requête 11</a:t>
            </a:r>
            <a:endParaRPr dirty="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79" name="Google Shape;379;p49">
            <a:extLst>
              <a:ext uri="{FF2B5EF4-FFF2-40B4-BE49-F238E27FC236}">
                <a16:creationId xmlns:a16="http://schemas.microsoft.com/office/drawing/2014/main" id="{015CEAC3-3647-31A8-0019-7EE4634ACA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34</a:t>
            </a:fld>
            <a:endParaRPr/>
          </a:p>
        </p:txBody>
      </p:sp>
      <p:sp>
        <p:nvSpPr>
          <p:cNvPr id="380" name="Google Shape;380;p49">
            <a:extLst>
              <a:ext uri="{FF2B5EF4-FFF2-40B4-BE49-F238E27FC236}">
                <a16:creationId xmlns:a16="http://schemas.microsoft.com/office/drawing/2014/main" id="{58F40E9E-1879-7B42-8855-27D2E90D52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9000" y="792040"/>
            <a:ext cx="6306452" cy="4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1600" b="1" i="1" u="sng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Les moyennes de valeurs foncières pour le top 3 des communes des départements 06, 13, 33, 59 et 69</a:t>
            </a:r>
            <a:endParaRPr dirty="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ED72E84-B70A-79B5-B346-BF1F6401C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617" y="1291768"/>
            <a:ext cx="4752802" cy="385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635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>
          <a:extLst>
            <a:ext uri="{FF2B5EF4-FFF2-40B4-BE49-F238E27FC236}">
              <a16:creationId xmlns:a16="http://schemas.microsoft.com/office/drawing/2014/main" id="{264EB081-BC21-C70F-83CD-F6B91BF2E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9">
            <a:extLst>
              <a:ext uri="{FF2B5EF4-FFF2-40B4-BE49-F238E27FC236}">
                <a16:creationId xmlns:a16="http://schemas.microsoft.com/office/drawing/2014/main" id="{4532F9CD-92B0-A6B5-7AED-13B73FAAD9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0" y="267699"/>
            <a:ext cx="62499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>
                <a:latin typeface="Bebas Neue"/>
                <a:ea typeface="Bebas Neue"/>
                <a:cs typeface="Bebas Neue"/>
                <a:sym typeface="Bebas Neue"/>
              </a:rPr>
              <a:t>Requête 12</a:t>
            </a:r>
            <a:endParaRPr dirty="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79" name="Google Shape;379;p49">
            <a:extLst>
              <a:ext uri="{FF2B5EF4-FFF2-40B4-BE49-F238E27FC236}">
                <a16:creationId xmlns:a16="http://schemas.microsoft.com/office/drawing/2014/main" id="{63CF3EC5-4060-F539-3AE1-52A8DE5A76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35</a:t>
            </a:fld>
            <a:endParaRPr/>
          </a:p>
        </p:txBody>
      </p:sp>
      <p:sp>
        <p:nvSpPr>
          <p:cNvPr id="380" name="Google Shape;380;p49">
            <a:extLst>
              <a:ext uri="{FF2B5EF4-FFF2-40B4-BE49-F238E27FC236}">
                <a16:creationId xmlns:a16="http://schemas.microsoft.com/office/drawing/2014/main" id="{CBDC83AC-30E2-9EA4-14E5-ADD6B41267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9000" y="815500"/>
            <a:ext cx="6306452" cy="4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1600" b="1" i="1" u="sng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Les 20 communes avec le plus de transactions pour 1000 habitants pour les communes qui dépassent les 10 000 habitants</a:t>
            </a:r>
            <a:endParaRPr dirty="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2F55870-B64C-56A7-E8D0-1894C1513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734" y="1315473"/>
            <a:ext cx="5392166" cy="382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2266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Google Shape;539;p65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65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65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fr-FR" dirty="0"/>
              <a:t>Je vous remercie de votre attention.</a:t>
            </a:r>
          </a:p>
        </p:txBody>
      </p:sp>
      <p:pic>
        <p:nvPicPr>
          <p:cNvPr id="542" name="Google Shape;542;p65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80103" y="1578297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4280</TotalTime>
  <Words>1018</Words>
  <Application>Microsoft Office PowerPoint</Application>
  <PresentationFormat>Affichage à l'écran (16:9)</PresentationFormat>
  <Paragraphs>176</Paragraphs>
  <Slides>36</Slides>
  <Notes>36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36</vt:i4>
      </vt:variant>
    </vt:vector>
  </HeadingPairs>
  <TitlesOfParts>
    <vt:vector size="45" baseType="lpstr">
      <vt:lpstr>Bebas Neue</vt:lpstr>
      <vt:lpstr>Inter</vt:lpstr>
      <vt:lpstr>Lexend SemiBold</vt:lpstr>
      <vt:lpstr>Calibri</vt:lpstr>
      <vt:lpstr>Arial Black</vt:lpstr>
      <vt:lpstr>Lexend</vt:lpstr>
      <vt:lpstr>Arial</vt:lpstr>
      <vt:lpstr>Simple Light</vt:lpstr>
      <vt:lpstr>Thème Office</vt:lpstr>
      <vt:lpstr>Création et utilisation de la base de données</vt:lpstr>
      <vt:lpstr>Contexte du projet</vt:lpstr>
      <vt:lpstr>Les données initiales</vt:lpstr>
      <vt:lpstr>Présentation PowerPoint</vt:lpstr>
      <vt:lpstr>Les données a conserver</vt:lpstr>
      <vt:lpstr>Les données a conserver</vt:lpstr>
      <vt:lpstr>Les données a conserver</vt:lpstr>
      <vt:lpstr>Les données a conserver</vt:lpstr>
      <vt:lpstr>Les données a conserver</vt:lpstr>
      <vt:lpstr>Les données a conserver</vt:lpstr>
      <vt:lpstr>Les données a conserver</vt:lpstr>
      <vt:lpstr>dictionnaire des données</vt:lpstr>
      <vt:lpstr>Le SCHéma relationnel normalisé </vt:lpstr>
      <vt:lpstr>Code de Creation des tables</vt:lpstr>
      <vt:lpstr>La base de données avec les tables créées et les données chargées</vt:lpstr>
      <vt:lpstr>Table biens</vt:lpstr>
      <vt:lpstr>Table departements</vt:lpstr>
      <vt:lpstr>Table population_par_Communes</vt:lpstr>
      <vt:lpstr>Table regions</vt:lpstr>
      <vt:lpstr>Table transactions</vt:lpstr>
      <vt:lpstr>La stratégie de sauvegarde </vt:lpstr>
      <vt:lpstr>Requêtes SQL  et résultats</vt:lpstr>
      <vt:lpstr>Requête 1</vt:lpstr>
      <vt:lpstr>Requête 2</vt:lpstr>
      <vt:lpstr>Requête 3</vt:lpstr>
      <vt:lpstr>Requête 4</vt:lpstr>
      <vt:lpstr>Requête 5</vt:lpstr>
      <vt:lpstr>Requête 6</vt:lpstr>
      <vt:lpstr>Requête 7</vt:lpstr>
      <vt:lpstr>Requête 8</vt:lpstr>
      <vt:lpstr>Requête 9</vt:lpstr>
      <vt:lpstr>Requête 9</vt:lpstr>
      <vt:lpstr>Requête 10</vt:lpstr>
      <vt:lpstr>Requête 11</vt:lpstr>
      <vt:lpstr>Requête 12</vt:lpstr>
      <vt:lpstr>Je vous remercie de votre attention.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Création et utilisation de la base de données</dc:title>
  <dc:creator>jason</dc:creator>
  <cp:lastModifiedBy>jason zbakh</cp:lastModifiedBy>
  <cp:revision>11</cp:revision>
  <dcterms:modified xsi:type="dcterms:W3CDTF">2024-02-24T14:43:07Z</dcterms:modified>
</cp:coreProperties>
</file>