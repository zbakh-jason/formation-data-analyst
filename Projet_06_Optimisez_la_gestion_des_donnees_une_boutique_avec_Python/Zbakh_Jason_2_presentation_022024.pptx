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6" r:id="rId4"/>
    <p:sldId id="268" r:id="rId5"/>
    <p:sldId id="271" r:id="rId6"/>
    <p:sldId id="258" r:id="rId7"/>
    <p:sldId id="272" r:id="rId8"/>
    <p:sldId id="277" r:id="rId9"/>
    <p:sldId id="259" r:id="rId10"/>
    <p:sldId id="275" r:id="rId11"/>
    <p:sldId id="274" r:id="rId12"/>
    <p:sldId id="278" r:id="rId13"/>
    <p:sldId id="260" r:id="rId14"/>
    <p:sldId id="280" r:id="rId15"/>
    <p:sldId id="281" r:id="rId16"/>
    <p:sldId id="282" r:id="rId17"/>
    <p:sldId id="279" r:id="rId18"/>
    <p:sldId id="283" r:id="rId19"/>
    <p:sldId id="284" r:id="rId20"/>
    <p:sldId id="285" r:id="rId21"/>
    <p:sldId id="286" r:id="rId22"/>
  </p:sldIdLst>
  <p:sldSz cx="9144000" cy="5143500" type="screen16x9"/>
  <p:notesSz cx="6858000" cy="9144000"/>
  <p:embeddedFontLst>
    <p:embeddedFont>
      <p:font typeface="Bahnschrift Condensed" panose="020B0502040204020203" pitchFamily="34" charset="0"/>
      <p:regular r:id="rId24"/>
      <p:bold r:id="rId25"/>
    </p:embeddedFont>
    <p:embeddedFont>
      <p:font typeface="Montserrat" panose="000005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104" y="138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43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28198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3952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29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07971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6087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62911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75771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51008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20366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87216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39629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03069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25187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71373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97550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698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user.oc-static.com/upload/2022/09/12/16629708720608_image1.png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s://user.oc-static.com/upload/2022/09/12/16629708720608_image1.png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hyperlink" Target="https://user.oc-static.com/upload/2022/09/12/16629708720608_image1.png" TargetMode="Externa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hyperlink" Target="https://user.oc-static.com/upload/2022/09/12/16629708720608_image1.png" TargetMode="Externa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hyperlink" Target="https://user.oc-static.com/upload/2022/09/12/16629708720608_image1.png" TargetMode="External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hyperlink" Target="https://user.oc-static.com/upload/2022/09/12/16629708720608_image1.png" TargetMode="External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1.png"/><Relationship Id="rId9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oc-static.com/upload/2022/09/12/16629708720608_image1.png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50800" dir="5400000" sx="1000" sy="1000" algn="ctr" rotWithShape="0">
              <a:srgbClr val="000000">
                <a:alpha val="47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effectLst>
                <a:outerShdw blurRad="63500" sx="102000" sy="102000" algn="ctr" rotWithShape="0">
                  <a:prstClr val="black"/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580350" y="3762263"/>
            <a:ext cx="7983300" cy="894000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177800" dist="50800" dir="5400000" sx="41000" sy="41000" algn="ctr" rotWithShape="0">
              <a:schemeClr val="tx1">
                <a:lumMod val="95000"/>
                <a:lumOff val="5000"/>
              </a:schemeClr>
            </a:outerShdw>
          </a:effectLst>
        </p:spPr>
        <p:txBody>
          <a:bodyPr spcFirstLastPara="1" wrap="square" lIns="91425" tIns="91425" rIns="91425" bIns="91425" anchor="b" anchorCtr="0">
            <a:normAutofit fontScale="550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-FR" sz="5200" b="0" i="0" u="none" strike="noStrike" cap="none" dirty="0">
                <a:solidFill>
                  <a:srgbClr val="F3F3F3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outerShdw blurRad="965200" sx="115000" sy="115000" algn="ctr" rotWithShape="0">
                    <a:prstClr val="black">
                      <a:alpha val="75000"/>
                    </a:prstClr>
                  </a:outerShdw>
                </a:effectLst>
                <a:latin typeface="Montserrat"/>
                <a:ea typeface="Montserrat"/>
                <a:cs typeface="Montserrat"/>
                <a:sym typeface="Montserrat"/>
              </a:rPr>
              <a:t>Optimisez la gestion des données d'une boutique avec Python</a:t>
            </a:r>
          </a:p>
        </p:txBody>
      </p:sp>
      <p:sp>
        <p:nvSpPr>
          <p:cNvPr id="56" name="Google Shape;56;p1"/>
          <p:cNvSpPr txBox="1"/>
          <p:nvPr/>
        </p:nvSpPr>
        <p:spPr>
          <a:xfrm>
            <a:off x="6172633" y="120307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effectLst>
                  <a:glow rad="127000">
                    <a:schemeClr val="accent2">
                      <a:satMod val="175000"/>
                      <a:alpha val="40000"/>
                    </a:schemeClr>
                  </a:glow>
                  <a:reflection stA="45000" endPos="0" dist="50800" dir="5400000" sy="-100000" algn="bl" rotWithShape="0"/>
                </a:effectLst>
                <a:latin typeface="Montserrat"/>
                <a:ea typeface="Montserrat"/>
                <a:cs typeface="Montserrat"/>
                <a:sym typeface="Montserrat"/>
              </a:rPr>
              <a:t>[</a:t>
            </a:r>
            <a:r>
              <a:rPr lang="fr" sz="2000" b="0" i="0" u="none" strike="noStrike" cap="none" dirty="0">
                <a:solidFill>
                  <a:schemeClr val="lt1"/>
                </a:solidFill>
                <a:effectLst>
                  <a:glow rad="127000">
                    <a:schemeClr val="accent2">
                      <a:satMod val="175000"/>
                      <a:alpha val="40000"/>
                    </a:schemeClr>
                  </a:glow>
                  <a:reflection endPos="0" dist="50800" dir="5400000" sy="-100000" algn="bl" rotWithShape="0"/>
                </a:effectLst>
                <a:latin typeface="Montserrat"/>
                <a:ea typeface="Montserrat"/>
                <a:cs typeface="Montserrat"/>
                <a:sym typeface="Montserrat"/>
              </a:rPr>
              <a:t>ZBAKH</a:t>
            </a:r>
            <a:r>
              <a:rPr lang="fr" sz="2000" b="0" i="0" u="none" strike="noStrike" cap="none" dirty="0">
                <a:solidFill>
                  <a:schemeClr val="lt1"/>
                </a:solidFill>
                <a:effectLst>
                  <a:glow rad="127000">
                    <a:schemeClr val="accent2">
                      <a:satMod val="175000"/>
                      <a:alpha val="40000"/>
                    </a:schemeClr>
                  </a:glow>
                  <a:reflection stA="45000" endPos="0" dist="50800" dir="5400000" sy="-100000" algn="bl" rotWithShape="0"/>
                </a:effectLst>
                <a:latin typeface="Montserrat"/>
                <a:ea typeface="Montserrat"/>
                <a:cs typeface="Montserrat"/>
                <a:sym typeface="Montserrat"/>
              </a:rPr>
              <a:t> Jason</a:t>
            </a:r>
            <a:r>
              <a:rPr lang="fr" sz="2800" b="0" i="0" u="none" strike="noStrike" cap="none" dirty="0">
                <a:solidFill>
                  <a:schemeClr val="lt1"/>
                </a:solidFill>
                <a:effectLst>
                  <a:glow rad="127000">
                    <a:schemeClr val="accent2">
                      <a:satMod val="175000"/>
                      <a:alpha val="40000"/>
                    </a:schemeClr>
                  </a:glow>
                  <a:reflection stA="45000" endPos="0" dist="50800" dir="5400000" sy="-100000" algn="bl" rotWithShape="0"/>
                </a:effectLst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2800" b="0" i="0" u="none" strike="noStrike" cap="none" dirty="0">
              <a:solidFill>
                <a:schemeClr val="lt1"/>
              </a:solidFill>
              <a:effectLst>
                <a:glow rad="127000">
                  <a:schemeClr val="accent2">
                    <a:satMod val="175000"/>
                    <a:alpha val="40000"/>
                  </a:schemeClr>
                </a:glow>
                <a:reflection stA="45000" endPos="0" dist="50800" dir="5400000" sy="-100000" algn="bl" rotWithShape="0"/>
              </a:effectLs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3390497" y="354923"/>
            <a:ext cx="2363004" cy="466753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-FR" sz="2000" b="1" i="0" strike="noStrike" cap="none" dirty="0">
                <a:solidFill>
                  <a:schemeClr val="lt1"/>
                </a:solidFill>
                <a:effectLst>
                  <a:glow rad="254000">
                    <a:schemeClr val="accent1"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DATA </a:t>
            </a:r>
            <a:r>
              <a:rPr lang="fr-FR" sz="2000" b="1" i="0" strike="noStrike" cap="none" dirty="0">
                <a:solidFill>
                  <a:schemeClr val="lt1"/>
                </a:solidFill>
                <a:effectLst>
                  <a:glow rad="254000">
                    <a:schemeClr val="accent1">
                      <a:alpha val="40000"/>
                    </a:schemeClr>
                  </a:glow>
                </a:effectLst>
                <a:latin typeface="Montserrat"/>
                <a:ea typeface="Microsoft JhengHei UI" panose="020B0604030504040204" pitchFamily="34" charset="-120"/>
                <a:cs typeface="Montserrat"/>
                <a:sym typeface="Montserrat"/>
              </a:rPr>
              <a:t>ANALYST</a:t>
            </a:r>
          </a:p>
        </p:txBody>
      </p:sp>
      <p:sp>
        <p:nvSpPr>
          <p:cNvPr id="58" name="Google Shape;58;p1"/>
          <p:cNvSpPr txBox="1"/>
          <p:nvPr/>
        </p:nvSpPr>
        <p:spPr>
          <a:xfrm>
            <a:off x="-1137261" y="120307"/>
            <a:ext cx="3807680" cy="534150"/>
          </a:xfrm>
          <a:prstGeom prst="rect">
            <a:avLst/>
          </a:prstGeom>
          <a:noFill/>
          <a:ln>
            <a:noFill/>
          </a:ln>
          <a:effectLst>
            <a:outerShdw blurRad="63500" sx="113000" sy="113000" algn="ctr" rotWithShape="0">
              <a:schemeClr val="tx1">
                <a:alpha val="66000"/>
              </a:schemeClr>
            </a:outerShdw>
          </a:effectLst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effectLst>
                  <a:glow rad="228600">
                    <a:schemeClr val="accent2">
                      <a:satMod val="175000"/>
                      <a:alpha val="18000"/>
                    </a:schemeClr>
                  </a:glow>
                  <a:outerShdw blurRad="292100" sx="97000" sy="97000" algn="ctr" rotWithShape="0">
                    <a:schemeClr val="tx1"/>
                  </a:outerShdw>
                </a:effectLst>
                <a:latin typeface="Montserrat"/>
                <a:ea typeface="Montserrat"/>
                <a:cs typeface="Montserrat"/>
                <a:sym typeface="Montserrat"/>
              </a:rPr>
              <a:t>[</a:t>
            </a:r>
            <a:r>
              <a:rPr lang="fr" sz="2000" dirty="0">
                <a:solidFill>
                  <a:schemeClr val="lt1"/>
                </a:solidFill>
                <a:effectLst>
                  <a:glow rad="127000">
                    <a:schemeClr val="accent2">
                      <a:satMod val="175000"/>
                      <a:alpha val="40000"/>
                    </a:schemeClr>
                  </a:glow>
                  <a:outerShdw sx="1000" sy="1000" algn="ctr" rotWithShape="0">
                    <a:schemeClr val="tx1"/>
                  </a:outerShdw>
                </a:effectLst>
                <a:latin typeface="Montserrat"/>
                <a:ea typeface="Montserrat"/>
                <a:cs typeface="Montserrat"/>
                <a:sym typeface="Montserrat"/>
              </a:rPr>
              <a:t>17/03/24</a:t>
            </a:r>
            <a:r>
              <a:rPr lang="fr" sz="2800" b="0" i="0" u="none" strike="noStrike" cap="none" dirty="0">
                <a:solidFill>
                  <a:schemeClr val="lt1"/>
                </a:solidFill>
                <a:effectLst>
                  <a:glow rad="228600">
                    <a:schemeClr val="accent2">
                      <a:satMod val="175000"/>
                      <a:alpha val="18000"/>
                    </a:schemeClr>
                  </a:glow>
                  <a:outerShdw blurRad="292100" sx="97000" sy="97000" algn="ctr" rotWithShape="0">
                    <a:schemeClr val="tx1"/>
                  </a:outerShdw>
                </a:effectLst>
                <a:latin typeface="Montserrat"/>
                <a:ea typeface="Montserrat"/>
                <a:cs typeface="Montserrat"/>
                <a:sym typeface="Montserrat"/>
              </a:rPr>
              <a:t>]</a:t>
            </a:r>
          </a:p>
        </p:txBody>
      </p:sp>
      <p:pic>
        <p:nvPicPr>
          <p:cNvPr id="1026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4F33B0EC-FA45-9216-D51D-75208DB56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5837" y="1251992"/>
            <a:ext cx="3226796" cy="2079954"/>
          </a:xfrm>
          <a:prstGeom prst="snip2DiagRect">
            <a:avLst>
              <a:gd name="adj1" fmla="val 0"/>
              <a:gd name="adj2" fmla="val 15265"/>
            </a:avLst>
          </a:prstGeom>
          <a:solidFill>
            <a:srgbClr val="FFFFFF">
              <a:shade val="85000"/>
            </a:srgbClr>
          </a:solidFill>
          <a:ln w="88900" cap="sq">
            <a:solidFill>
              <a:schemeClr val="tx1"/>
            </a:solidFill>
            <a:miter lim="800000"/>
          </a:ln>
          <a:effectLst>
            <a:outerShdw blurRad="1270000" sx="106000" sy="106000" algn="tl" rotWithShape="0">
              <a:schemeClr val="bg1">
                <a:alpha val="32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51065" y="337977"/>
            <a:ext cx="8520600" cy="572700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blurRad="63500" sx="1000" sy="1000" algn="ctr" rotWithShape="0">
              <a:prstClr val="black"/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Présentation des datasets</a:t>
            </a:r>
            <a:endParaRPr sz="2500" b="0" i="0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1000"/>
                  </a:schemeClr>
                </a:glow>
              </a:effectLs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1BDB3FD-45D5-69EE-E033-42378781D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6627" y="1882299"/>
            <a:ext cx="7128724" cy="828649"/>
          </a:xfrm>
          <a:effectLst>
            <a:outerShdw blurRad="50800" dist="50800" dir="5400000" sx="7000" sy="7000" algn="ctr" rotWithShape="0">
              <a:schemeClr val="accent1">
                <a:alpha val="43000"/>
              </a:schemeClr>
            </a:outerShdw>
          </a:effectLst>
        </p:spPr>
        <p:txBody>
          <a:bodyPr/>
          <a:lstStyle/>
          <a:p>
            <a:pPr marL="114300" indent="0">
              <a:buNone/>
            </a:pPr>
            <a:r>
              <a:rPr lang="fr-FR" b="1" dirty="0">
                <a:solidFill>
                  <a:srgbClr val="0D0D0D"/>
                </a:solidFill>
                <a:latin typeface="Bahnschrift Condensed" panose="020B0502040204020203" pitchFamily="34" charset="0"/>
              </a:rPr>
              <a:t>- </a:t>
            </a:r>
            <a:r>
              <a:rPr lang="fr-FR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L’extraction du site Web comportant les codes SKU, les quantités vendues, et la description des produits.</a:t>
            </a:r>
            <a:endParaRPr lang="fr-FR" dirty="0">
              <a:latin typeface="Bahnschrift Condensed" panose="020B0502040204020203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4505861-C8A7-51EC-5C77-0FCBF84A6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40" y="2001767"/>
            <a:ext cx="430786" cy="430786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DC099C9D-D694-A426-72B1-8BD339C44B3E}"/>
              </a:ext>
            </a:extLst>
          </p:cNvPr>
          <p:cNvSpPr txBox="1"/>
          <p:nvPr/>
        </p:nvSpPr>
        <p:spPr>
          <a:xfrm>
            <a:off x="1386628" y="3901040"/>
            <a:ext cx="7757374" cy="70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tabLst/>
              <a:defRPr/>
            </a:pPr>
            <a:r>
              <a: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Bahnschrift Condensed" panose="020B0502040204020203" pitchFamily="34" charset="0"/>
                <a:sym typeface="Arial"/>
              </a:rPr>
              <a:t>- </a:t>
            </a:r>
            <a:r>
              <a:rPr lang="fr-FR" sz="1800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L’extraction du logiciel ERP comprenant les codes produits, les prix de vente et les prix d'achat, ainsi que l’état du stock.</a:t>
            </a:r>
            <a:endParaRPr kumimoji="0" lang="fr-FR" sz="1800" i="0" u="none" strike="noStrike" kern="0" cap="none" spc="0" normalizeH="0" baseline="0" noProof="0" dirty="0">
              <a:ln>
                <a:noFill/>
              </a:ln>
              <a:solidFill>
                <a:srgbClr val="271A38"/>
              </a:solidFill>
              <a:effectLst/>
              <a:uLnTx/>
              <a:uFillTx/>
              <a:latin typeface="Bahnschrift Condensed" panose="020B0502040204020203" pitchFamily="34" charset="0"/>
              <a:sym typeface="Arial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D3B6097-BBEC-ED79-5DCF-08EE4C7DD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40" y="3039233"/>
            <a:ext cx="430786" cy="43078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E1FD3E1-F540-362F-95A4-81BE62533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40" y="4029736"/>
            <a:ext cx="430786" cy="430786"/>
          </a:xfrm>
          <a:prstGeom prst="rect">
            <a:avLst/>
          </a:prstGeom>
        </p:spPr>
      </p:pic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1E8FE9F7-B587-7E5F-6E75-7DA2ABF18883}"/>
              </a:ext>
            </a:extLst>
          </p:cNvPr>
          <p:cNvSpPr txBox="1">
            <a:spLocks/>
          </p:cNvSpPr>
          <p:nvPr/>
        </p:nvSpPr>
        <p:spPr>
          <a:xfrm>
            <a:off x="1386626" y="2888140"/>
            <a:ext cx="7462099" cy="828649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7000" sy="7000" algn="ctr" rotWithShape="0">
              <a:schemeClr val="accent1">
                <a:alpha val="43000"/>
              </a:scheme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tabLst/>
              <a:defRPr/>
            </a:pPr>
            <a:r>
              <a: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Bahnschrift Condensed" panose="020B0502040204020203" pitchFamily="34" charset="0"/>
                <a:sym typeface="Arial"/>
              </a:rPr>
              <a:t>- </a:t>
            </a:r>
            <a:r>
              <a:rPr lang="fr-FR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Table de liaison qui permet de lier la base de données du site web à l’extraction de l’ERP de l’entreprise.</a:t>
            </a:r>
            <a:endParaRPr lang="fr-FR" dirty="0">
              <a:latin typeface="Bahnschrift Condensed" panose="020B0502040204020203" pitchFamily="34" charset="0"/>
            </a:endParaRPr>
          </a:p>
        </p:txBody>
      </p:sp>
      <p:pic>
        <p:nvPicPr>
          <p:cNvPr id="18" name="Picture 2" descr="Logo de l'entreprise Bottleneck  rouge et noir avec un sous-titre ">
            <a:hlinkClick r:id="rId4"/>
            <a:extLst>
              <a:ext uri="{FF2B5EF4-FFF2-40B4-BE49-F238E27FC236}">
                <a16:creationId xmlns:a16="http://schemas.microsoft.com/office/drawing/2014/main" id="{C5150D8C-7EB1-DA06-B5B3-C2E780B70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3F54D4E7-6A98-31E7-9EB8-EBAFA78D9C3A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19D6BC81-7F01-20DD-87DC-60DC683E7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08BBF73-1B55-A8B3-9C81-2A8685C73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690" y="1381071"/>
            <a:ext cx="4234310" cy="13902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55CB36B-9E33-117C-008A-FE86C06B116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47545"/>
          <a:stretch/>
        </p:blipFill>
        <p:spPr>
          <a:xfrm>
            <a:off x="4771408" y="1363173"/>
            <a:ext cx="4234310" cy="1051310"/>
          </a:xfrm>
          <a:prstGeom prst="rect">
            <a:avLst/>
          </a:prstGeom>
        </p:spPr>
      </p:pic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47243EDA-7E36-F29A-46E0-195CA2A40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8608" y="2798692"/>
            <a:ext cx="4396235" cy="398013"/>
          </a:xfrm>
          <a:effectLst>
            <a:outerShdw blurRad="50800" dist="50800" dir="5400000" sx="7000" sy="7000" algn="ctr" rotWithShape="0">
              <a:schemeClr val="accent1">
                <a:alpha val="43000"/>
              </a:schemeClr>
            </a:outerShdw>
          </a:effectLst>
        </p:spPr>
        <p:txBody>
          <a:bodyPr>
            <a:normAutofit fontScale="77500" lnSpcReduction="20000"/>
          </a:bodyPr>
          <a:lstStyle/>
          <a:p>
            <a:pPr marL="114300" indent="0" algn="ctr">
              <a:buNone/>
            </a:pPr>
            <a:r>
              <a:rPr lang="fr-FR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3 références avec des erreurs de saisie des prix de vente.</a:t>
            </a:r>
            <a:endParaRPr lang="fr-FR" dirty="0">
              <a:latin typeface="Bahnschrift Condensed" panose="020B0502040204020203" pitchFamily="34" charset="0"/>
            </a:endParaRP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941F966C-2C90-ABCB-D47C-D75009D59015}"/>
              </a:ext>
            </a:extLst>
          </p:cNvPr>
          <p:cNvSpPr txBox="1">
            <a:spLocks/>
          </p:cNvSpPr>
          <p:nvPr/>
        </p:nvSpPr>
        <p:spPr>
          <a:xfrm>
            <a:off x="4690445" y="2425989"/>
            <a:ext cx="4396235" cy="398013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7000" sy="7000" algn="ctr" rotWithShape="0">
              <a:schemeClr val="accent1">
                <a:alpha val="43000"/>
              </a:schemeClr>
            </a:outerShdw>
          </a:effectLst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 algn="ctr">
              <a:buFont typeface="Arial"/>
              <a:buNone/>
            </a:pPr>
            <a:r>
              <a:rPr lang="fr-FR" b="1" dirty="0">
                <a:latin typeface="Bahnschrift Condensed" panose="020B0502040204020203" pitchFamily="34" charset="0"/>
              </a:rPr>
              <a:t>2 références avec des valeurs stocks négatives 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4698C10-4E05-0E56-BEBC-E47FF8491735}"/>
              </a:ext>
            </a:extLst>
          </p:cNvPr>
          <p:cNvSpPr txBox="1"/>
          <p:nvPr/>
        </p:nvSpPr>
        <p:spPr>
          <a:xfrm>
            <a:off x="1735538" y="4355552"/>
            <a:ext cx="5501546" cy="3151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114300" marR="0" lvl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tabLst/>
              <a:defRPr/>
            </a:pPr>
            <a:r>
              <a:rPr lang="fr-FR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Reprogrammation de l’ERP pour signaler une erreur si une valeur négative est saisie.</a:t>
            </a:r>
            <a:endParaRPr kumimoji="0" lang="fr-FR" sz="11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Bahnschrift Condensed" panose="020B0502040204020203" pitchFamily="34" charset="0"/>
              <a:sym typeface="Arial"/>
            </a:endParaRPr>
          </a:p>
        </p:txBody>
      </p:sp>
      <p:sp>
        <p:nvSpPr>
          <p:cNvPr id="4" name="Google Shape;65;p4">
            <a:extLst>
              <a:ext uri="{FF2B5EF4-FFF2-40B4-BE49-F238E27FC236}">
                <a16:creationId xmlns:a16="http://schemas.microsoft.com/office/drawing/2014/main" id="{8311CD21-B3BA-6CB2-F6E2-731699D10C36}"/>
              </a:ext>
            </a:extLst>
          </p:cNvPr>
          <p:cNvSpPr txBox="1"/>
          <p:nvPr/>
        </p:nvSpPr>
        <p:spPr>
          <a:xfrm>
            <a:off x="895525" y="337250"/>
            <a:ext cx="8520600" cy="105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         </a:t>
            </a:r>
            <a:r>
              <a:rPr lang="fr" sz="2500" i="1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df_erp</a:t>
            </a:r>
            <a:endParaRPr sz="2500" i="1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1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66728A57-62CE-691B-1CA1-2A2032E302FC}"/>
              </a:ext>
            </a:extLst>
          </p:cNvPr>
          <p:cNvSpPr txBox="1">
            <a:spLocks/>
          </p:cNvSpPr>
          <p:nvPr/>
        </p:nvSpPr>
        <p:spPr>
          <a:xfrm>
            <a:off x="386413" y="3168334"/>
            <a:ext cx="4155688" cy="567989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7000" sy="7000" algn="ctr" rotWithShape="0">
              <a:schemeClr val="accent1">
                <a:alpha val="43000"/>
              </a:scheme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 algn="ctr">
              <a:buFont typeface="Arial"/>
              <a:buNone/>
            </a:pPr>
            <a:r>
              <a:rPr lang="fr-FR" sz="1200" b="1" dirty="0">
                <a:solidFill>
                  <a:srgbClr val="0D0D0D"/>
                </a:solidFill>
                <a:latin typeface="Bahnschrift Condensed" panose="020B0502040204020203" pitchFamily="34" charset="0"/>
              </a:rPr>
              <a:t>Erreur de type pour les variables </a:t>
            </a:r>
            <a:r>
              <a:rPr lang="fr-FR" sz="1200" b="1" dirty="0" err="1">
                <a:solidFill>
                  <a:srgbClr val="0D0D0D"/>
                </a:solidFill>
                <a:latin typeface="Bahnschrift Condensed" panose="020B0502040204020203" pitchFamily="34" charset="0"/>
              </a:rPr>
              <a:t>product_id</a:t>
            </a:r>
            <a:r>
              <a:rPr lang="fr-FR" sz="1200" b="1" dirty="0">
                <a:solidFill>
                  <a:srgbClr val="0D0D0D"/>
                </a:solidFill>
                <a:latin typeface="Bahnschrift Condensed" panose="020B0502040204020203" pitchFamily="34" charset="0"/>
              </a:rPr>
              <a:t> et </a:t>
            </a:r>
            <a:r>
              <a:rPr lang="fr-FR" sz="1200" b="1" dirty="0" err="1">
                <a:solidFill>
                  <a:srgbClr val="0D0D0D"/>
                </a:solidFill>
                <a:latin typeface="Bahnschrift Condensed" panose="020B0502040204020203" pitchFamily="34" charset="0"/>
              </a:rPr>
              <a:t>onsale_web</a:t>
            </a:r>
            <a:r>
              <a:rPr lang="fr-FR" sz="1200" b="1" dirty="0">
                <a:solidFill>
                  <a:srgbClr val="0D0D0D"/>
                </a:solidFill>
                <a:latin typeface="Bahnschrift Condensed" panose="020B0502040204020203" pitchFamily="34" charset="0"/>
              </a:rPr>
              <a:t> : int64 -&gt; </a:t>
            </a:r>
            <a:r>
              <a:rPr lang="fr-FR" sz="1200" b="1" dirty="0" err="1">
                <a:solidFill>
                  <a:srgbClr val="0D0D0D"/>
                </a:solidFill>
                <a:latin typeface="Bahnschrift Condensed" panose="020B0502040204020203" pitchFamily="34" charset="0"/>
              </a:rPr>
              <a:t>object</a:t>
            </a:r>
            <a:r>
              <a:rPr lang="fr-FR" sz="1200" b="1" dirty="0">
                <a:solidFill>
                  <a:srgbClr val="0D0D0D"/>
                </a:solidFill>
                <a:latin typeface="Bahnschrift Condensed" panose="020B0502040204020203" pitchFamily="34" charset="0"/>
              </a:rPr>
              <a:t>.</a:t>
            </a:r>
            <a:endParaRPr lang="fr-FR" sz="1200" b="1" dirty="0">
              <a:latin typeface="Bahnschrift Condensed" panose="020B0502040204020203" pitchFamily="34" charset="0"/>
            </a:endParaRP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0999CAAA-D7E4-AB2E-C013-719BAB28B046}"/>
              </a:ext>
            </a:extLst>
          </p:cNvPr>
          <p:cNvSpPr txBox="1">
            <a:spLocks/>
          </p:cNvSpPr>
          <p:nvPr/>
        </p:nvSpPr>
        <p:spPr>
          <a:xfrm>
            <a:off x="-47386" y="3648115"/>
            <a:ext cx="5004461" cy="363104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50800" dir="5400000" sx="7000" sy="7000" algn="ctr" rotWithShape="0">
              <a:schemeClr val="accent1">
                <a:alpha val="43000"/>
              </a:schemeClr>
            </a:outerShdw>
          </a:effectLst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 algn="ctr">
              <a:buFont typeface="Arial"/>
              <a:buNone/>
            </a:pPr>
            <a:r>
              <a:rPr lang="fr-FR" sz="1200" b="1">
                <a:solidFill>
                  <a:srgbClr val="0D0D0D"/>
                </a:solidFill>
                <a:latin typeface="Bahnschrift Condensed" panose="020B0502040204020203" pitchFamily="34" charset="0"/>
              </a:rPr>
              <a:t>Identification de 65 références de produits en stock qui ne sont pas en vente sur le site web.</a:t>
            </a:r>
            <a:endParaRPr lang="fr-FR" sz="1200" b="1" dirty="0">
              <a:latin typeface="Bahnschrift Condensed" panose="020B0502040204020203" pitchFamily="34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48AFFF6-3AF2-2880-8704-658A350669E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50939"/>
          <a:stretch/>
        </p:blipFill>
        <p:spPr>
          <a:xfrm>
            <a:off x="5085991" y="3337004"/>
            <a:ext cx="3845559" cy="674215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DF5326D5-CDE5-C3B4-12DC-0EEAB7D1C2BD}"/>
              </a:ext>
            </a:extLst>
          </p:cNvPr>
          <p:cNvSpPr txBox="1"/>
          <p:nvPr/>
        </p:nvSpPr>
        <p:spPr>
          <a:xfrm>
            <a:off x="5400507" y="3029835"/>
            <a:ext cx="3171922" cy="2769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1200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Identification de 4 références de produits vendus à perte.</a:t>
            </a:r>
            <a:endParaRPr lang="fr-FR" sz="1050" b="1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706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 animBg="1"/>
      <p:bldP spid="5" grpId="0"/>
      <p:bldP spid="10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105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         </a:t>
            </a:r>
            <a:r>
              <a:rPr lang="fr" sz="2500" i="1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df</a:t>
            </a:r>
            <a:r>
              <a:rPr lang="fr" sz="2500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_</a:t>
            </a:r>
            <a:r>
              <a:rPr lang="fr" sz="2500" i="1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liaison</a:t>
            </a:r>
            <a:endParaRPr sz="2500" i="1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1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3F54D4E7-6A98-31E7-9EB8-EBAFA78D9C3A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19D6BC81-7F01-20DD-87DC-60DC683E7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EDC5776C-E933-A206-613E-68F37C4E7ED6}"/>
              </a:ext>
            </a:extLst>
          </p:cNvPr>
          <p:cNvSpPr txBox="1">
            <a:spLocks/>
          </p:cNvSpPr>
          <p:nvPr/>
        </p:nvSpPr>
        <p:spPr>
          <a:xfrm>
            <a:off x="327508" y="1528823"/>
            <a:ext cx="4396236" cy="61479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7000" sy="7000" algn="ctr" rotWithShape="0">
              <a:schemeClr val="accent1">
                <a:alpha val="43000"/>
              </a:scheme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 algn="ctr">
              <a:buNone/>
            </a:pPr>
            <a:r>
              <a:rPr lang="fr-FR" sz="1200" b="1" dirty="0">
                <a:latin typeface="Bahnschrift Condensed" panose="020B0502040204020203" pitchFamily="34" charset="0"/>
              </a:rPr>
              <a:t>Erreur de type variables product_id et onsale_web : </a:t>
            </a:r>
          </a:p>
          <a:p>
            <a:pPr marL="114300" indent="0" algn="ctr">
              <a:buNone/>
            </a:pPr>
            <a:r>
              <a:rPr lang="fr-FR" sz="1200" b="1" dirty="0">
                <a:latin typeface="Bahnschrift Condensed" panose="020B0502040204020203" pitchFamily="34" charset="0"/>
              </a:rPr>
              <a:t>int64 -&gt; object</a:t>
            </a:r>
          </a:p>
          <a:p>
            <a:pPr marL="114300" indent="0" algn="ctr">
              <a:buFont typeface="Arial"/>
              <a:buNone/>
            </a:pPr>
            <a:endParaRPr lang="fr-FR" sz="1050" b="1" dirty="0">
              <a:latin typeface="Bahnschrift Condensed" panose="020B0502040204020203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03229BE-D808-C71E-CAD2-8B3A11F342A0}"/>
              </a:ext>
            </a:extLst>
          </p:cNvPr>
          <p:cNvSpPr txBox="1"/>
          <p:nvPr/>
        </p:nvSpPr>
        <p:spPr>
          <a:xfrm>
            <a:off x="5387385" y="4012921"/>
            <a:ext cx="3629567" cy="2769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kumimoji="0" lang="fr-FR" sz="1200" b="1" i="0" u="none" strike="noStrike" kern="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Bahnschrift Condensed" panose="020B0502040204020203" pitchFamily="34" charset="0"/>
                <a:sym typeface="Arial"/>
              </a:rPr>
              <a:t>Identification de 91 références produits avec un id_web manquants</a:t>
            </a:r>
            <a:endParaRPr lang="fr-FR" sz="1200" b="1" dirty="0">
              <a:latin typeface="Bahnschrift Condensed" panose="020B0502040204020203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6CD4A25-547A-8382-ECAD-233F0824A8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098" y="2107929"/>
            <a:ext cx="2915057" cy="42868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38C282E-EDE3-2EF5-3D87-8040C6D63A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258" y="2716551"/>
            <a:ext cx="5306165" cy="24768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653E51D-6880-B26E-5057-AC5549086F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828" y="3149652"/>
            <a:ext cx="3362794" cy="120984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FD591B52-5FCF-CB0A-B6AE-3B299002CD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8109" y="2316098"/>
            <a:ext cx="2181529" cy="1438476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EAF28D0B-85BB-4080-171A-61836D1227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54167" y="1797740"/>
            <a:ext cx="2896004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667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105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         </a:t>
            </a:r>
            <a:r>
              <a:rPr lang="fr" sz="2500" i="1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df_</a:t>
            </a:r>
            <a:r>
              <a:rPr lang="fr" sz="2500" i="1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w</a:t>
            </a:r>
            <a:r>
              <a:rPr lang="fr" sz="2500" i="1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e</a:t>
            </a:r>
            <a:r>
              <a:rPr lang="fr" sz="2500" i="1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b_produits</a:t>
            </a:r>
            <a:endParaRPr sz="2500" i="1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1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3F54D4E7-6A98-31E7-9EB8-EBAFA78D9C3A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19D6BC81-7F01-20DD-87DC-60DC683E7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47243EDA-7E36-F29A-46E0-195CA2A40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50533" y="2879245"/>
            <a:ext cx="2861126" cy="467544"/>
          </a:xfrm>
          <a:ln>
            <a:solidFill>
              <a:schemeClr val="tx1"/>
            </a:solidFill>
          </a:ln>
          <a:effectLst>
            <a:outerShdw blurRad="50800" dist="50800" dir="5400000" sx="7000" sy="7000" algn="ctr" rotWithShape="0">
              <a:schemeClr val="accent1">
                <a:alpha val="43000"/>
              </a:schemeClr>
            </a:outerShdw>
          </a:effectLst>
        </p:spPr>
        <p:txBody>
          <a:bodyPr>
            <a:normAutofit fontScale="25000" lnSpcReduction="20000"/>
          </a:bodyPr>
          <a:lstStyle/>
          <a:p>
            <a:pPr marL="114300" indent="0" algn="ctr">
              <a:buNone/>
            </a:pPr>
            <a:r>
              <a:rPr lang="fr-FR" sz="4000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Identification de deux erreurs d'irrégularité : valeurs négatives dans le total des ventes.</a:t>
            </a:r>
            <a:endParaRPr lang="fr-FR" sz="2800" b="1" dirty="0">
              <a:solidFill>
                <a:srgbClr val="7B7F8B"/>
              </a:solidFill>
              <a:effectLst/>
              <a:latin typeface="Bahnschrift Condensed" panose="020B0502040204020203" pitchFamily="34" charset="0"/>
            </a:endParaRPr>
          </a:p>
          <a:p>
            <a:pPr marL="114300" indent="0">
              <a:buNone/>
            </a:pPr>
            <a:br>
              <a:rPr lang="fr-FR" sz="900" b="1" dirty="0">
                <a:solidFill>
                  <a:srgbClr val="F6F6F4"/>
                </a:solidFill>
                <a:effectLst/>
                <a:latin typeface="Bahnschrift Condensed" panose="020B0502040204020203" pitchFamily="34" charset="0"/>
              </a:rPr>
            </a:br>
            <a:endParaRPr lang="fr-FR" sz="900" b="1" dirty="0">
              <a:solidFill>
                <a:srgbClr val="F6F6F4"/>
              </a:solidFill>
              <a:effectLst/>
              <a:latin typeface="Bahnschrift Condensed" panose="020B0502040204020203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5AA565A-5241-2D8A-B14E-6CA25FE14A9B}"/>
              </a:ext>
            </a:extLst>
          </p:cNvPr>
          <p:cNvSpPr txBox="1"/>
          <p:nvPr/>
        </p:nvSpPr>
        <p:spPr>
          <a:xfrm>
            <a:off x="129836" y="1776446"/>
            <a:ext cx="485777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1100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Identification de 88 codes SKU ne respectant pas la codification en cinq chiffres.</a:t>
            </a:r>
            <a:endParaRPr lang="fr-FR" sz="1000" b="1" dirty="0">
              <a:latin typeface="Bahnschrift Condensed" panose="020B0502040204020203" pitchFamily="34" charset="0"/>
            </a:endParaRPr>
          </a:p>
        </p:txBody>
      </p: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7BC99299-D40E-C0E2-8AAC-550F9E71D61B}"/>
              </a:ext>
            </a:extLst>
          </p:cNvPr>
          <p:cNvSpPr txBox="1">
            <a:spLocks/>
          </p:cNvSpPr>
          <p:nvPr/>
        </p:nvSpPr>
        <p:spPr>
          <a:xfrm>
            <a:off x="45100" y="3475332"/>
            <a:ext cx="2500649" cy="129415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7000" sy="7000" algn="ctr" rotWithShape="0">
              <a:schemeClr val="accent1">
                <a:alpha val="43000"/>
              </a:scheme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 algn="ctr">
              <a:buNone/>
            </a:pPr>
            <a:r>
              <a:rPr lang="fr-FR" sz="1050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"Filtre 'post_type' = 'product' Le dataframe 'df_web' contient 716 produits.</a:t>
            </a:r>
          </a:p>
          <a:p>
            <a:pPr marL="114300" indent="0" algn="ctr">
              <a:buNone/>
            </a:pPr>
            <a:endParaRPr lang="fr-FR" sz="1050" b="1" i="0" dirty="0">
              <a:solidFill>
                <a:srgbClr val="0D0D0D"/>
              </a:solidFill>
              <a:effectLst/>
              <a:latin typeface="Bahnschrift Condensed" panose="020B0502040204020203" pitchFamily="34" charset="0"/>
            </a:endParaRPr>
          </a:p>
          <a:p>
            <a:pPr marL="114300" indent="0" algn="ctr">
              <a:buNone/>
            </a:pPr>
            <a:r>
              <a:rPr lang="fr-FR" sz="1050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Afin d'éviter la redondance des données, il faudrait scinder la table en deux tables distinctes."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314F018-24CC-7E8A-7691-3EF9323BF5B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042" b="6340"/>
          <a:stretch/>
        </p:blipFill>
        <p:spPr>
          <a:xfrm>
            <a:off x="2434958" y="3481934"/>
            <a:ext cx="1895586" cy="1225108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F63D9226-6910-6942-1A5F-104B627212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1603" y="1665436"/>
            <a:ext cx="3758987" cy="1108724"/>
          </a:xfrm>
          <a:prstGeom prst="rect">
            <a:avLst/>
          </a:prstGeom>
        </p:spPr>
      </p:pic>
      <p:sp>
        <p:nvSpPr>
          <p:cNvPr id="30" name="Espace réservé du texte 2">
            <a:extLst>
              <a:ext uri="{FF2B5EF4-FFF2-40B4-BE49-F238E27FC236}">
                <a16:creationId xmlns:a16="http://schemas.microsoft.com/office/drawing/2014/main" id="{73A0DBAC-7986-98C6-44F9-5C66E10A408F}"/>
              </a:ext>
            </a:extLst>
          </p:cNvPr>
          <p:cNvSpPr txBox="1">
            <a:spLocks/>
          </p:cNvSpPr>
          <p:nvPr/>
        </p:nvSpPr>
        <p:spPr>
          <a:xfrm>
            <a:off x="1221344" y="2967220"/>
            <a:ext cx="2590093" cy="31505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x="7000" sy="7000" algn="ctr" rotWithShape="0">
              <a:schemeClr val="accent1">
                <a:alpha val="43000"/>
              </a:schemeClr>
            </a:outerShdw>
          </a:effectLst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 algn="ctr">
              <a:buFont typeface="Arial"/>
              <a:buNone/>
            </a:pPr>
            <a:r>
              <a:rPr lang="fr-FR" sz="4000" b="1" dirty="0">
                <a:solidFill>
                  <a:srgbClr val="7B7F8B"/>
                </a:solidFill>
                <a:latin typeface="Bahnschrift Condensed" panose="020B0502040204020203" pitchFamily="34" charset="0"/>
                <a:ea typeface="Microsoft JhengHei UI" panose="020B0604030504040204" pitchFamily="34" charset="-120"/>
              </a:rPr>
              <a:t>Renommer la colonne 'sku' en 'id_web'</a:t>
            </a:r>
            <a:endParaRPr lang="fr-FR" sz="2800" b="1" dirty="0">
              <a:solidFill>
                <a:srgbClr val="7B7F8B"/>
              </a:solidFill>
              <a:latin typeface="Bahnschrift Condensed" panose="020B0502040204020203" pitchFamily="34" charset="0"/>
            </a:endParaRPr>
          </a:p>
          <a:p>
            <a:pPr marL="114300" indent="0">
              <a:buFont typeface="Arial"/>
              <a:buNone/>
            </a:pPr>
            <a:br>
              <a:rPr lang="fr-FR" sz="900" b="1" dirty="0">
                <a:solidFill>
                  <a:srgbClr val="F6F6F4"/>
                </a:solidFill>
                <a:latin typeface="Bahnschrift Condensed" panose="020B0502040204020203" pitchFamily="34" charset="0"/>
              </a:rPr>
            </a:br>
            <a:endParaRPr lang="fr-FR" sz="900" b="1" dirty="0">
              <a:solidFill>
                <a:srgbClr val="F6F6F4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CE49E491-0444-A658-1E08-24FEA0EC0E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757" y="2194307"/>
            <a:ext cx="4229271" cy="162441"/>
          </a:xfrm>
          <a:prstGeom prst="rect">
            <a:avLst/>
          </a:prstGeom>
        </p:spPr>
      </p:pic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B23B929D-BCFD-B3F1-3F86-05A8500E437B}"/>
              </a:ext>
            </a:extLst>
          </p:cNvPr>
          <p:cNvSpPr txBox="1">
            <a:spLocks/>
          </p:cNvSpPr>
          <p:nvPr/>
        </p:nvSpPr>
        <p:spPr>
          <a:xfrm>
            <a:off x="4873621" y="3550617"/>
            <a:ext cx="3986969" cy="433211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50800" dir="5400000" sx="7000" sy="7000" algn="ctr" rotWithShape="0">
              <a:schemeClr val="accent1">
                <a:alpha val="43000"/>
              </a:schemeClr>
            </a:outerShdw>
          </a:effectLst>
        </p:spPr>
        <p:txBody>
          <a:bodyPr spcFirstLastPara="1" wrap="square" lIns="91425" tIns="91425" rIns="91425" bIns="91425" anchor="t" anchorCtr="0">
            <a:normAutofit fontScale="4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 algn="ctr">
              <a:buFont typeface="Arial"/>
              <a:buNone/>
            </a:pPr>
            <a:r>
              <a:rPr lang="fr-FR" sz="3000" b="1" dirty="0">
                <a:solidFill>
                  <a:srgbClr val="7B7F8B"/>
                </a:solidFill>
                <a:latin typeface="Bahnschrift Condensed" panose="020B0502040204020203" pitchFamily="34" charset="0"/>
                <a:ea typeface="Microsoft JhengHei UI" panose="020B0604030504040204" pitchFamily="34" charset="-120"/>
              </a:rPr>
              <a:t>Récupération de 2 codes </a:t>
            </a:r>
            <a:r>
              <a:rPr lang="fr-FR" sz="3000" b="1" dirty="0" err="1">
                <a:solidFill>
                  <a:srgbClr val="7B7F8B"/>
                </a:solidFill>
                <a:latin typeface="Bahnschrift Condensed" panose="020B0502040204020203" pitchFamily="34" charset="0"/>
                <a:ea typeface="Microsoft JhengHei UI" panose="020B0604030504040204" pitchFamily="34" charset="-120"/>
              </a:rPr>
              <a:t>id_product</a:t>
            </a:r>
            <a:r>
              <a:rPr lang="fr-FR" sz="3000" b="1" dirty="0">
                <a:solidFill>
                  <a:srgbClr val="7B7F8B"/>
                </a:solidFill>
                <a:latin typeface="Bahnschrift Condensed" panose="020B0502040204020203" pitchFamily="34" charset="0"/>
                <a:ea typeface="Microsoft JhengHei UI" panose="020B0604030504040204" pitchFamily="34" charset="-120"/>
              </a:rPr>
              <a:t> depuis le lien https</a:t>
            </a:r>
            <a:endParaRPr lang="fr-FR" sz="3000" b="1" dirty="0">
              <a:solidFill>
                <a:srgbClr val="F6F6F4"/>
              </a:solidFill>
              <a:latin typeface="Bahnschrift Condensed" panose="020B0502040204020203" pitchFamily="34" charset="0"/>
            </a:endParaRPr>
          </a:p>
          <a:p>
            <a:endParaRPr lang="fr-FR" sz="400" b="1" dirty="0">
              <a:solidFill>
                <a:srgbClr val="7B7F8B"/>
              </a:solidFill>
              <a:latin typeface="Bahnschrift Condensed" panose="020B0502040204020203" pitchFamily="34" charset="0"/>
            </a:endParaRPr>
          </a:p>
          <a:p>
            <a:pPr marL="114300" indent="0">
              <a:buFont typeface="Arial"/>
              <a:buNone/>
            </a:pPr>
            <a:br>
              <a:rPr lang="fr-FR" sz="200" b="1" dirty="0">
                <a:solidFill>
                  <a:srgbClr val="F6F6F4"/>
                </a:solidFill>
                <a:latin typeface="Bahnschrift Condensed" panose="020B0502040204020203" pitchFamily="34" charset="0"/>
              </a:rPr>
            </a:br>
            <a:endParaRPr lang="fr-FR" sz="200" b="1" dirty="0">
              <a:solidFill>
                <a:srgbClr val="F6F6F4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E7ADCE6-B4A8-F894-FCF0-CD414DC329A0}"/>
              </a:ext>
            </a:extLst>
          </p:cNvPr>
          <p:cNvSpPr txBox="1"/>
          <p:nvPr/>
        </p:nvSpPr>
        <p:spPr>
          <a:xfrm>
            <a:off x="599699" y="2497161"/>
            <a:ext cx="362956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kumimoji="0" lang="fr-FR" sz="1200" b="1" i="0" u="none" strike="noStrike" kern="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Bahnschrift Condensed" panose="020B0502040204020203" pitchFamily="34" charset="0"/>
                <a:sym typeface="Arial"/>
              </a:rPr>
              <a:t>Identification 85 références produits sans code sku</a:t>
            </a:r>
            <a:endParaRPr lang="fr-FR" sz="1200" b="1" dirty="0">
              <a:latin typeface="Bahnschrift Condensed" panose="020B0502040204020203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C721BDF-B37B-6A47-020E-D23CCC3FC5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9693" y="3958836"/>
            <a:ext cx="1590897" cy="609685"/>
          </a:xfrm>
          <a:prstGeom prst="rect">
            <a:avLst/>
          </a:prstGeom>
        </p:spPr>
      </p:pic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10A008F6-AB2A-C38C-E04A-0C956FBC6E9C}"/>
              </a:ext>
            </a:extLst>
          </p:cNvPr>
          <p:cNvSpPr txBox="1">
            <a:spLocks/>
          </p:cNvSpPr>
          <p:nvPr/>
        </p:nvSpPr>
        <p:spPr>
          <a:xfrm>
            <a:off x="3816856" y="4085469"/>
            <a:ext cx="4396236" cy="61479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7000" sy="7000" algn="ctr" rotWithShape="0">
              <a:schemeClr val="accent1">
                <a:alpha val="43000"/>
              </a:scheme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 algn="ctr">
              <a:buFont typeface="Arial"/>
              <a:buNone/>
            </a:pPr>
            <a:r>
              <a:rPr lang="fr-FR" sz="1200" b="1" dirty="0">
                <a:latin typeface="Bahnschrift Condensed" panose="020B0502040204020203" pitchFamily="34" charset="0"/>
              </a:rPr>
              <a:t>Ajout des références dans le df_liaison</a:t>
            </a:r>
          </a:p>
        </p:txBody>
      </p:sp>
    </p:spTree>
    <p:extLst>
      <p:ext uri="{BB962C8B-B14F-4D97-AF65-F5344CB8AC3E}">
        <p14:creationId xmlns:p14="http://schemas.microsoft.com/office/powerpoint/2010/main" val="2318664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/>
      <p:bldP spid="19" grpId="0"/>
      <p:bldP spid="30" grpId="0" animBg="1"/>
      <p:bldP spid="4" grpId="0" animBg="1"/>
      <p:bldP spid="5" grpId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66950" y="337250"/>
            <a:ext cx="8520600" cy="99625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glow>
              <a:schemeClr val="accent1"/>
            </a:glo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Fusion ou consolidations des données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kumimoji="0" lang="fr" sz="25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>
                  <a:glow rad="1003300">
                    <a:srgbClr val="4285F4">
                      <a:alpha val="11000"/>
                    </a:srgbClr>
                  </a:glow>
                </a:effectLst>
                <a:uLnTx/>
                <a:uFillTx/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2"/>
                  </a:ext>
                </a:extLst>
              </a:rPr>
              <a:t>          </a:t>
            </a:r>
            <a:r>
              <a:rPr kumimoji="0" lang="fr" sz="2500" b="0" i="1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>
                  <a:glow rad="1003300">
                    <a:srgbClr val="4285F4">
                      <a:alpha val="11000"/>
                    </a:srgbClr>
                  </a:glow>
                </a:effectLst>
                <a:uLnTx/>
                <a:uFillTx/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2"/>
                  </a:ext>
                </a:extLst>
              </a:rPr>
              <a:t>df_</a:t>
            </a:r>
            <a:r>
              <a:rPr lang="fr" sz="2500" i="1" dirty="0">
                <a:solidFill>
                  <a:srgbClr val="F3F3F3"/>
                </a:solidFill>
                <a:effectLst>
                  <a:glow rad="1003300">
                    <a:srgbClr val="4285F4">
                      <a:alpha val="11000"/>
                    </a:srgb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2"/>
                  </a:ext>
                </a:extLst>
              </a:rPr>
              <a:t>liaison</a:t>
            </a:r>
            <a:r>
              <a:rPr kumimoji="0" lang="fr" sz="2500" b="0" i="1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>
                  <a:glow rad="1003300">
                    <a:srgbClr val="4285F4">
                      <a:alpha val="11000"/>
                    </a:srgbClr>
                  </a:glow>
                </a:effectLst>
                <a:uLnTx/>
                <a:uFillTx/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2"/>
                  </a:ext>
                </a:extLst>
              </a:rPr>
              <a:t> et df_erp</a:t>
            </a:r>
            <a:endParaRPr sz="2500" b="0" i="0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1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0F6D274B-6FC8-48D4-3076-C20686BBB5B3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F51855A6-15B1-0E08-8F1B-33A0CF804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EA14F4F-1CA8-E89C-A0D8-AC2F12CC5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1624498"/>
            <a:ext cx="5259807" cy="302543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F29E81A-8190-8A0D-7391-85B0D4A4D707}"/>
              </a:ext>
            </a:extLst>
          </p:cNvPr>
          <p:cNvSpPr txBox="1"/>
          <p:nvPr/>
        </p:nvSpPr>
        <p:spPr>
          <a:xfrm>
            <a:off x="0" y="1556087"/>
            <a:ext cx="37490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>
                <a:latin typeface="Bahnschrift Condensed" panose="020B0502040204020203" pitchFamily="34" charset="0"/>
              </a:rPr>
              <a:t> df_erp : 825 lignes, aucune valeurs manquantes.</a:t>
            </a:r>
          </a:p>
          <a:p>
            <a:endParaRPr lang="fr-FR" sz="1200" b="1" dirty="0">
              <a:latin typeface="Bahnschrift Condensed" panose="020B0502040204020203" pitchFamily="34" charset="0"/>
            </a:endParaRPr>
          </a:p>
          <a:p>
            <a:r>
              <a:rPr lang="fr-FR" sz="1200" b="1" dirty="0">
                <a:latin typeface="Bahnschrift Condensed" panose="020B0502040204020203" pitchFamily="34" charset="0"/>
              </a:rPr>
              <a:t>df_liaison : 825 valeurs et 91 id_web sans correspondances</a:t>
            </a:r>
            <a:br>
              <a:rPr lang="fr-FR" sz="1200" b="1" dirty="0">
                <a:latin typeface="Bahnschrift Condensed" panose="020B0502040204020203" pitchFamily="34" charset="0"/>
              </a:rPr>
            </a:br>
            <a:endParaRPr lang="fr-FR" sz="1200" b="1" dirty="0">
              <a:latin typeface="Bahnschrift Condensed" panose="020B0502040204020203" pitchFamily="34" charset="0"/>
            </a:endParaRPr>
          </a:p>
          <a:p>
            <a:r>
              <a:rPr lang="fr-FR" sz="1200" b="1" dirty="0">
                <a:latin typeface="Bahnschrift Condensed" panose="020B0502040204020203" pitchFamily="34" charset="0"/>
              </a:rPr>
              <a:t>+ 2 id_web avec le code produit du lien https</a:t>
            </a:r>
          </a:p>
          <a:p>
            <a:r>
              <a:rPr lang="fr-FR" sz="1200" b="1" dirty="0">
                <a:latin typeface="Bahnschrift Condensed" panose="020B0502040204020203" pitchFamily="34" charset="0"/>
              </a:rPr>
              <a:t> id_web 736 non nulles.</a:t>
            </a:r>
          </a:p>
          <a:p>
            <a:pPr algn="ctr"/>
            <a:r>
              <a:rPr lang="fr-FR" sz="1200" b="1" dirty="0">
                <a:latin typeface="Bahnschrift Condensed" panose="020B0502040204020203" pitchFamily="34" charset="0"/>
              </a:rPr>
              <a:t>erp + liaison = df_merge :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8515E8A3-ADD3-0F9D-89B2-10DE2E3590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899" y="2941082"/>
            <a:ext cx="3017242" cy="19691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0F6D274B-6FC8-48D4-3076-C20686BBB5B3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F51855A6-15B1-0E08-8F1B-33A0CF804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1" name="Google Shape;73;p5">
            <a:extLst>
              <a:ext uri="{FF2B5EF4-FFF2-40B4-BE49-F238E27FC236}">
                <a16:creationId xmlns:a16="http://schemas.microsoft.com/office/drawing/2014/main" id="{31C65854-877E-1AFD-784F-57AE1B5AA4E8}"/>
              </a:ext>
            </a:extLst>
          </p:cNvPr>
          <p:cNvSpPr txBox="1"/>
          <p:nvPr/>
        </p:nvSpPr>
        <p:spPr>
          <a:xfrm>
            <a:off x="866950" y="337250"/>
            <a:ext cx="8520600" cy="99625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glow>
              <a:schemeClr val="accent1"/>
            </a:glo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3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Fusion ou consolidations des données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kumimoji="0" lang="fr" sz="25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>
                  <a:glow rad="1003300">
                    <a:schemeClr val="accent1">
                      <a:alpha val="13000"/>
                    </a:schemeClr>
                  </a:glow>
                </a:effectLst>
                <a:uLnTx/>
                <a:uFillTx/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2"/>
                  </a:ext>
                </a:extLst>
              </a:rPr>
              <a:t>          </a:t>
            </a:r>
            <a:r>
              <a:rPr kumimoji="0" lang="fr" sz="2500" b="0" i="1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>
                  <a:glow rad="1003300">
                    <a:schemeClr val="accent1">
                      <a:alpha val="13000"/>
                    </a:schemeClr>
                  </a:glow>
                </a:effectLst>
                <a:uLnTx/>
                <a:uFillTx/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2"/>
                  </a:ext>
                </a:extLst>
              </a:rPr>
              <a:t>df_</a:t>
            </a:r>
            <a:r>
              <a:rPr lang="fr" sz="2500" i="1" dirty="0">
                <a:solidFill>
                  <a:srgbClr val="F3F3F3"/>
                </a:solidFill>
                <a:effectLst>
                  <a:glow rad="1003300">
                    <a:schemeClr val="accent1">
                      <a:alpha val="13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2"/>
                  </a:ext>
                </a:extLst>
              </a:rPr>
              <a:t>merge</a:t>
            </a:r>
            <a:r>
              <a:rPr kumimoji="0" lang="fr" sz="2500" b="0" i="1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>
                  <a:glow rad="1003300">
                    <a:schemeClr val="accent1">
                      <a:alpha val="13000"/>
                    </a:schemeClr>
                  </a:glow>
                </a:effectLst>
                <a:uLnTx/>
                <a:uFillTx/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2"/>
                  </a:ext>
                </a:extLst>
              </a:rPr>
              <a:t> et df_web_produits</a:t>
            </a:r>
            <a:endParaRPr sz="2500" b="0" i="0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3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701DD9A-98D3-B842-BF16-A18CD923EA52}"/>
              </a:ext>
            </a:extLst>
          </p:cNvPr>
          <p:cNvSpPr txBox="1"/>
          <p:nvPr/>
        </p:nvSpPr>
        <p:spPr>
          <a:xfrm>
            <a:off x="1166469" y="4309810"/>
            <a:ext cx="646115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1200" b="1" dirty="0">
                <a:solidFill>
                  <a:srgbClr val="0D0D0D"/>
                </a:solidFill>
                <a:latin typeface="Bahnschrift Condensed" panose="020B0502040204020203" pitchFamily="34" charset="0"/>
              </a:rPr>
              <a:t>d</a:t>
            </a:r>
            <a:r>
              <a:rPr lang="fr-FR" sz="1200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f_merge : id_web 736 valeurs</a:t>
            </a:r>
            <a:r>
              <a:rPr lang="fr-FR" sz="1200" b="1" dirty="0">
                <a:solidFill>
                  <a:srgbClr val="0D0D0D"/>
                </a:solidFill>
                <a:latin typeface="Bahnschrift Condensed" panose="020B0502040204020203" pitchFamily="34" charset="0"/>
              </a:rPr>
              <a:t>   +  df_web_produits : id_web 715 valeurs =  df_wer_erp : 713 valeurs</a:t>
            </a:r>
            <a:endParaRPr lang="fr-FR" sz="1200" b="1" i="0" dirty="0">
              <a:solidFill>
                <a:srgbClr val="0D0D0D"/>
              </a:solidFill>
              <a:effectLst/>
              <a:latin typeface="Bahnschrift Condensed" panose="020B0502040204020203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F58C5AF3-001B-6931-2B7D-63568CDB1449}"/>
              </a:ext>
            </a:extLst>
          </p:cNvPr>
          <p:cNvSpPr txBox="1"/>
          <p:nvPr/>
        </p:nvSpPr>
        <p:spPr>
          <a:xfrm>
            <a:off x="3673125" y="1679777"/>
            <a:ext cx="8011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200" b="1" dirty="0">
                <a:solidFill>
                  <a:srgbClr val="0D0D0D"/>
                </a:solidFill>
                <a:latin typeface="Bahnschrift Condensed" panose="020B0502040204020203" pitchFamily="34" charset="0"/>
              </a:rPr>
              <a:t>d</a:t>
            </a:r>
            <a:r>
              <a:rPr lang="fr-FR" sz="1200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f_</a:t>
            </a:r>
            <a:r>
              <a:rPr lang="fr-FR" sz="1200" b="1" dirty="0">
                <a:solidFill>
                  <a:srgbClr val="0D0D0D"/>
                </a:solidFill>
                <a:latin typeface="Bahnschrift Condensed" panose="020B0502040204020203" pitchFamily="34" charset="0"/>
              </a:rPr>
              <a:t>merge</a:t>
            </a:r>
            <a:endParaRPr lang="fr-FR" sz="1200" b="1" i="0" dirty="0">
              <a:solidFill>
                <a:srgbClr val="0D0D0D"/>
              </a:solidFill>
              <a:effectLst/>
              <a:latin typeface="Bahnschrift Condensed" panose="020B0502040204020203" pitchFamily="34" charset="0"/>
            </a:endParaRP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3DEB8797-5E89-66EF-513A-44AC8101AA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7" y="1453587"/>
            <a:ext cx="5000783" cy="196263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8D62BEEE-B688-E283-1258-D5E4AE5A4D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976" y="1947754"/>
            <a:ext cx="2094681" cy="2159801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A4F263B8-EFBA-360D-A410-CF6E1F6B4607}"/>
              </a:ext>
            </a:extLst>
          </p:cNvPr>
          <p:cNvSpPr txBox="1"/>
          <p:nvPr/>
        </p:nvSpPr>
        <p:spPr>
          <a:xfrm>
            <a:off x="884042" y="1660302"/>
            <a:ext cx="1297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200" b="1" dirty="0">
                <a:solidFill>
                  <a:srgbClr val="0D0D0D"/>
                </a:solidFill>
                <a:latin typeface="Bahnschrift Condensed" panose="020B0502040204020203" pitchFamily="34" charset="0"/>
              </a:rPr>
              <a:t>d</a:t>
            </a:r>
            <a:r>
              <a:rPr lang="fr-FR" sz="1200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f_web_</a:t>
            </a:r>
            <a:r>
              <a:rPr lang="fr-FR" sz="1200" b="1" dirty="0">
                <a:solidFill>
                  <a:srgbClr val="0D0D0D"/>
                </a:solidFill>
                <a:latin typeface="Bahnschrift Condensed" panose="020B0502040204020203" pitchFamily="34" charset="0"/>
              </a:rPr>
              <a:t>erp</a:t>
            </a:r>
            <a:endParaRPr lang="fr-FR" sz="1200" b="1" i="0" dirty="0">
              <a:solidFill>
                <a:srgbClr val="0D0D0D"/>
              </a:solidFill>
              <a:effectLst/>
              <a:latin typeface="Bahnschrift Condensed" panose="020B0502040204020203" pitchFamily="34" charset="0"/>
            </a:endParaRPr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40E43463-216D-2303-642A-00217B688D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4959" y="1956776"/>
            <a:ext cx="2697480" cy="1786458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976E3F8C-8323-B2E6-3101-EB7C2B77BD95}"/>
              </a:ext>
            </a:extLst>
          </p:cNvPr>
          <p:cNvSpPr txBox="1"/>
          <p:nvPr/>
        </p:nvSpPr>
        <p:spPr>
          <a:xfrm>
            <a:off x="6636273" y="1660302"/>
            <a:ext cx="1297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200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Df_web_produits</a:t>
            </a:r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8603C5C2-FD6A-FEC6-095B-D637B2BAC1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2741" y="1947754"/>
            <a:ext cx="3124608" cy="178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027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2" grpId="0"/>
      <p:bldP spid="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0F6D274B-6FC8-48D4-3076-C20686BBB5B3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F51855A6-15B1-0E08-8F1B-33A0CF804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F29E81A-8190-8A0D-7391-85B0D4A4D707}"/>
              </a:ext>
            </a:extLst>
          </p:cNvPr>
          <p:cNvSpPr txBox="1"/>
          <p:nvPr/>
        </p:nvSpPr>
        <p:spPr>
          <a:xfrm>
            <a:off x="6499860" y="2704139"/>
            <a:ext cx="269748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b="0" i="0" dirty="0">
                <a:solidFill>
                  <a:srgbClr val="0D0D0D"/>
                </a:solidFill>
                <a:effectLst/>
                <a:latin typeface="Söhne"/>
              </a:rPr>
              <a:t>Les id_web 5075 et 5070 ne sont pas présents dans df_web_produits :</a:t>
            </a:r>
          </a:p>
          <a:p>
            <a:r>
              <a:rPr lang="fr-FR" sz="1050" dirty="0">
                <a:solidFill>
                  <a:srgbClr val="0D0D0D"/>
                </a:solidFill>
                <a:latin typeface="Söhne"/>
              </a:rPr>
              <a:t>P</a:t>
            </a:r>
            <a:r>
              <a:rPr lang="fr-FR" sz="1050" b="0" i="0" dirty="0">
                <a:solidFill>
                  <a:srgbClr val="0D0D0D"/>
                </a:solidFill>
                <a:effectLst/>
                <a:latin typeface="Söhne"/>
              </a:rPr>
              <a:t>ar conséquent, ils n'ont pas été ajoutés.</a:t>
            </a:r>
          </a:p>
          <a:p>
            <a:pPr algn="ctr"/>
            <a:endParaRPr lang="fr-FR" sz="1050" dirty="0">
              <a:solidFill>
                <a:srgbClr val="0D0D0D"/>
              </a:solidFill>
              <a:latin typeface="Söhne"/>
            </a:endParaRPr>
          </a:p>
          <a:p>
            <a:pPr algn="ctr"/>
            <a:r>
              <a:rPr lang="fr-FR" sz="1050" b="0" i="0" dirty="0">
                <a:solidFill>
                  <a:srgbClr val="0D0D0D"/>
                </a:solidFill>
                <a:effectLst/>
                <a:latin typeface="Söhne"/>
              </a:rPr>
              <a:t> Ils ne présentent pas d'informations essentielles.</a:t>
            </a:r>
            <a:endParaRPr lang="fr-FR" sz="900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CA9EA86-2EA4-715F-9C82-B1636343B8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8" y="1896812"/>
            <a:ext cx="4322602" cy="54255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D7252575-83EB-4960-B021-E21010BCDA1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650" r="27035" b="17304"/>
          <a:stretch/>
        </p:blipFill>
        <p:spPr>
          <a:xfrm>
            <a:off x="4499610" y="1763069"/>
            <a:ext cx="4697730" cy="858605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78D955F6-7F96-6F54-E6C4-BFE2A303D1C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21005"/>
          <a:stretch/>
        </p:blipFill>
        <p:spPr>
          <a:xfrm>
            <a:off x="161310" y="2718996"/>
            <a:ext cx="6294735" cy="1032114"/>
          </a:xfrm>
          <a:prstGeom prst="rect">
            <a:avLst/>
          </a:prstGeom>
        </p:spPr>
      </p:pic>
      <p:sp>
        <p:nvSpPr>
          <p:cNvPr id="21" name="Google Shape;73;p5">
            <a:extLst>
              <a:ext uri="{FF2B5EF4-FFF2-40B4-BE49-F238E27FC236}">
                <a16:creationId xmlns:a16="http://schemas.microsoft.com/office/drawing/2014/main" id="{31C65854-877E-1AFD-784F-57AE1B5AA4E8}"/>
              </a:ext>
            </a:extLst>
          </p:cNvPr>
          <p:cNvSpPr txBox="1"/>
          <p:nvPr/>
        </p:nvSpPr>
        <p:spPr>
          <a:xfrm>
            <a:off x="866950" y="337250"/>
            <a:ext cx="8520600" cy="99625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glow>
              <a:schemeClr val="accent1"/>
            </a:glo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Fusion ou consolidations des données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kumimoji="0" lang="fr" sz="250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>
                  <a:glow rad="1003300">
                    <a:srgbClr val="4285F4">
                      <a:alpha val="11000"/>
                    </a:srgbClr>
                  </a:glow>
                </a:effectLst>
                <a:uLnTx/>
                <a:uFillTx/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2"/>
                  </a:ext>
                </a:extLst>
              </a:rPr>
              <a:t>          </a:t>
            </a:r>
            <a:r>
              <a:rPr kumimoji="0" lang="fr" sz="250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>
                  <a:glow rad="1003300">
                    <a:srgbClr val="4285F4">
                      <a:alpha val="11000"/>
                    </a:srgbClr>
                  </a:glow>
                </a:effectLst>
                <a:uLnTx/>
                <a:uFillTx/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2"/>
                  </a:ext>
                </a:extLst>
              </a:rPr>
              <a:t>df_</a:t>
            </a:r>
            <a:r>
              <a:rPr lang="fr" sz="2500" dirty="0">
                <a:solidFill>
                  <a:srgbClr val="F3F3F3"/>
                </a:solidFill>
                <a:effectLst>
                  <a:glow rad="1003300">
                    <a:srgbClr val="4285F4">
                      <a:alpha val="11000"/>
                    </a:srgb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2"/>
                  </a:ext>
                </a:extLst>
              </a:rPr>
              <a:t>merge</a:t>
            </a:r>
            <a:r>
              <a:rPr kumimoji="0" lang="fr" sz="250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>
                  <a:glow rad="1003300">
                    <a:srgbClr val="4285F4">
                      <a:alpha val="11000"/>
                    </a:srgbClr>
                  </a:glow>
                </a:effectLst>
                <a:uLnTx/>
                <a:uFillTx/>
                <a:latin typeface="Bahnschrift Condensed" panose="020B0502040204020203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2"/>
                  </a:ext>
                </a:extLst>
              </a:rPr>
              <a:t> et df_web_produits</a:t>
            </a:r>
            <a:endParaRPr sz="2500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1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8A13708-4D1C-9F32-183B-0B56D6ABAA9F}"/>
              </a:ext>
            </a:extLst>
          </p:cNvPr>
          <p:cNvSpPr txBox="1"/>
          <p:nvPr/>
        </p:nvSpPr>
        <p:spPr>
          <a:xfrm>
            <a:off x="1814307" y="1422746"/>
            <a:ext cx="551538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1400" b="0" i="0" dirty="0">
                <a:solidFill>
                  <a:srgbClr val="0D0D0D"/>
                </a:solidFill>
                <a:effectLst/>
                <a:latin typeface="Söhne"/>
              </a:rPr>
              <a:t>Identification des différences entre df_web_produits et df_web_erp :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716A70A-0177-20A3-4502-BC31A9BC9503}"/>
              </a:ext>
            </a:extLst>
          </p:cNvPr>
          <p:cNvSpPr txBox="1"/>
          <p:nvPr/>
        </p:nvSpPr>
        <p:spPr>
          <a:xfrm>
            <a:off x="2823582" y="3848432"/>
            <a:ext cx="349683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1400" b="0" i="0" dirty="0">
                <a:solidFill>
                  <a:srgbClr val="0D0D0D"/>
                </a:solidFill>
                <a:effectLst/>
                <a:latin typeface="Söhne"/>
              </a:rPr>
              <a:t>Différences entre df_</a:t>
            </a:r>
            <a:r>
              <a:rPr lang="fr-FR" dirty="0">
                <a:solidFill>
                  <a:srgbClr val="0D0D0D"/>
                </a:solidFill>
                <a:latin typeface="Söhne"/>
              </a:rPr>
              <a:t>merge et df_web_erp</a:t>
            </a:r>
            <a:r>
              <a:rPr lang="fr-FR" sz="1400" b="0" i="0" dirty="0">
                <a:solidFill>
                  <a:srgbClr val="0D0D0D"/>
                </a:solidFill>
                <a:effectLst/>
                <a:latin typeface="Söhne"/>
              </a:rPr>
              <a:t> :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63085FD-7906-755E-17BF-D35309853A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310" y="4219690"/>
            <a:ext cx="5077456" cy="32423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B82CF73-57B0-45A9-BDF6-146E9BC104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4614" y="4219690"/>
            <a:ext cx="1485077" cy="373173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4D1532B4-BE48-879F-AF05-9F8220472B48}"/>
              </a:ext>
            </a:extLst>
          </p:cNvPr>
          <p:cNvSpPr txBox="1"/>
          <p:nvPr/>
        </p:nvSpPr>
        <p:spPr>
          <a:xfrm>
            <a:off x="396240" y="4684949"/>
            <a:ext cx="8602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effectLst/>
                <a:latin typeface="Söhne Mono"/>
              </a:rPr>
              <a:t>Les id_web du df_merge qui ne sont pas présents dans df_web_produits n'ont donc pas été ajoutés à df_web_erp.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0817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12275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0DC3292D-6BFD-7629-14C6-C7ECBB974FD3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C11456DA-A47E-6CED-DD06-BC98B2048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43FB92A-89B1-56C4-78E6-2F2B2564E5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68310"/>
            <a:ext cx="9144000" cy="3469919"/>
          </a:xfrm>
          <a:prstGeom prst="rect">
            <a:avLst/>
          </a:prstGeom>
        </p:spPr>
      </p:pic>
      <p:sp>
        <p:nvSpPr>
          <p:cNvPr id="4" name="Google Shape;81;p6">
            <a:extLst>
              <a:ext uri="{FF2B5EF4-FFF2-40B4-BE49-F238E27FC236}">
                <a16:creationId xmlns:a16="http://schemas.microsoft.com/office/drawing/2014/main" id="{9E7D039F-9380-36FD-211D-607E5F54A7BA}"/>
              </a:ext>
            </a:extLst>
          </p:cNvPr>
          <p:cNvSpPr txBox="1"/>
          <p:nvPr/>
        </p:nvSpPr>
        <p:spPr>
          <a:xfrm>
            <a:off x="895525" y="337250"/>
            <a:ext cx="8520600" cy="100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univariées du prix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</a:t>
            </a:r>
            <a:r>
              <a:rPr lang="fr-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Histogramme</a:t>
            </a:r>
            <a:endParaRPr lang="fr" sz="2500" b="0" i="0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1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1000"/>
                  </a:schemeClr>
                </a:glow>
              </a:effectLs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12275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0DC3292D-6BFD-7629-14C6-C7ECBB974FD3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C11456DA-A47E-6CED-DD06-BC98B2048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F6134EF-D2DF-E55C-98ED-EE7F793DDD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731706"/>
            <a:ext cx="4388979" cy="234880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79C35FA-6927-C1A5-2DD3-1EC1434D0D3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2905"/>
          <a:stretch/>
        </p:blipFill>
        <p:spPr>
          <a:xfrm>
            <a:off x="420165" y="2397956"/>
            <a:ext cx="3516351" cy="2733269"/>
          </a:xfrm>
          <a:prstGeom prst="rect">
            <a:avLst/>
          </a:prstGeom>
        </p:spPr>
      </p:pic>
      <p:sp>
        <p:nvSpPr>
          <p:cNvPr id="15" name="Google Shape;81;p6">
            <a:extLst>
              <a:ext uri="{FF2B5EF4-FFF2-40B4-BE49-F238E27FC236}">
                <a16:creationId xmlns:a16="http://schemas.microsoft.com/office/drawing/2014/main" id="{38D3F4D5-32DA-5082-4F4E-DBBD6470BD38}"/>
              </a:ext>
            </a:extLst>
          </p:cNvPr>
          <p:cNvSpPr txBox="1"/>
          <p:nvPr/>
        </p:nvSpPr>
        <p:spPr>
          <a:xfrm>
            <a:off x="895525" y="337250"/>
            <a:ext cx="8520600" cy="100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univariées du prix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Z-score et IQR (</a:t>
            </a:r>
            <a:r>
              <a:rPr lang="fr-FR" sz="2500" b="0" i="0" u="none" strike="noStrike" cap="none" dirty="0" err="1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Interval</a:t>
            </a:r>
            <a:r>
              <a:rPr lang="fr-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interquartile)</a:t>
            </a:r>
            <a:endParaRPr lang="fr-FR" sz="2500" b="0" i="0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1000"/>
                  </a:schemeClr>
                </a:glow>
              </a:effectLs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8C8EF98-833B-9012-6EB0-6F04115234C8}"/>
              </a:ext>
            </a:extLst>
          </p:cNvPr>
          <p:cNvSpPr txBox="1"/>
          <p:nvPr/>
        </p:nvSpPr>
        <p:spPr>
          <a:xfrm>
            <a:off x="-137530" y="1466804"/>
            <a:ext cx="470953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latin typeface="Bahnschrift Condensed" panose="020B0502040204020203" pitchFamily="34" charset="0"/>
              </a:rPr>
              <a:t>Le z-score mesure à quel point un prix est éloigné de la moyenne des prix. </a:t>
            </a:r>
          </a:p>
          <a:p>
            <a:pPr algn="ctr"/>
            <a:endParaRPr lang="fr-FR" sz="800" dirty="0">
              <a:latin typeface="Bahnschrift Condensed" panose="020B0502040204020203" pitchFamily="34" charset="0"/>
            </a:endParaRPr>
          </a:p>
          <a:p>
            <a:pPr algn="ctr"/>
            <a:r>
              <a:rPr lang="fr-FR" dirty="0">
                <a:latin typeface="Bahnschrift Condensed" panose="020B0502040204020203" pitchFamily="34" charset="0"/>
              </a:rPr>
              <a:t> - Un z-score élevé indique que le prix est beaucoup plus haut que ce que l'on observe habituellement.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4CA0CAC-4FDA-B3F7-D029-8024BF4E7F96}"/>
              </a:ext>
            </a:extLst>
          </p:cNvPr>
          <p:cNvSpPr txBox="1"/>
          <p:nvPr/>
        </p:nvSpPr>
        <p:spPr>
          <a:xfrm>
            <a:off x="4469781" y="1402475"/>
            <a:ext cx="477643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latin typeface="Bahnschrift Condensed" panose="020B0502040204020203" pitchFamily="34" charset="0"/>
              </a:rPr>
              <a:t>L'IQR mesure la différence entre le prix en dessous duquel se trouvent 25% des prix les plus bas et le prix en dessous duquel se situent 75% des prix.</a:t>
            </a:r>
          </a:p>
          <a:p>
            <a:pPr algn="ctr"/>
            <a:endParaRPr lang="fr-FR" dirty="0">
              <a:latin typeface="Bahnschrift Condensed" panose="020B0502040204020203" pitchFamily="34" charset="0"/>
            </a:endParaRPr>
          </a:p>
          <a:p>
            <a:pPr algn="ctr"/>
            <a:r>
              <a:rPr lang="fr-FR" dirty="0">
                <a:latin typeface="Bahnschrift Condensed" panose="020B0502040204020203" pitchFamily="34" charset="0"/>
              </a:rPr>
              <a:t>En d'autres termes, il calcule l'écart entre le prix médian des 25% de prix inférieurs et celui des 75% de prix inférieurs</a:t>
            </a:r>
          </a:p>
        </p:txBody>
      </p:sp>
    </p:spTree>
    <p:extLst>
      <p:ext uri="{BB962C8B-B14F-4D97-AF65-F5344CB8AC3E}">
        <p14:creationId xmlns:p14="http://schemas.microsoft.com/office/powerpoint/2010/main" val="6566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12275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100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univariées du prix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</a:t>
            </a:r>
            <a:r>
              <a:rPr lang="fr-FR" sz="2500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V</a:t>
            </a:r>
            <a:r>
              <a:rPr lang="fr-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isualisation de l’</a:t>
            </a:r>
            <a:r>
              <a:rPr lang="fr-FR" sz="2500" dirty="0" err="1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i</a:t>
            </a:r>
            <a:r>
              <a:rPr lang="fr-FR" sz="2500" b="0" i="0" u="none" strike="noStrike" cap="none" dirty="0" err="1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nterval</a:t>
            </a:r>
            <a:r>
              <a:rPr lang="fr-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interquartile</a:t>
            </a:r>
            <a:endParaRPr lang="fr" sz="2500" b="0" i="0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1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1000"/>
                  </a:schemeClr>
                </a:glow>
              </a:effectLs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0DC3292D-6BFD-7629-14C6-C7ECBB974FD3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C11456DA-A47E-6CED-DD06-BC98B2048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945E5C0-42A6-25B9-04C3-0A490C55F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2658" y="1628078"/>
            <a:ext cx="9068899" cy="351542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A5EE951-1A8D-1069-E86E-F4407F0741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8235" y="1487298"/>
            <a:ext cx="4138006" cy="48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347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12275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1;p6">
            <a:extLst>
              <a:ext uri="{FF2B5EF4-FFF2-40B4-BE49-F238E27FC236}">
                <a16:creationId xmlns:a16="http://schemas.microsoft.com/office/drawing/2014/main" id="{EE8C8B48-F512-364E-0B86-411CB2638E1A}"/>
              </a:ext>
            </a:extLst>
          </p:cNvPr>
          <p:cNvSpPr txBox="1"/>
          <p:nvPr/>
        </p:nvSpPr>
        <p:spPr>
          <a:xfrm>
            <a:off x="895525" y="337250"/>
            <a:ext cx="8520600" cy="100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univariées du prix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Affichage des </a:t>
            </a:r>
            <a:r>
              <a:rPr lang="fr-FR" sz="2500" b="0" i="0" u="none" strike="noStrike" cap="none" dirty="0" err="1">
                <a:solidFill>
                  <a:srgbClr val="F3F3F3"/>
                </a:solidFill>
                <a:effectLst>
                  <a:glow rad="1003300">
                    <a:schemeClr val="accent1">
                      <a:alpha val="11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outliers</a:t>
            </a:r>
            <a:endParaRPr lang="fr-FR" sz="2500" b="0" i="0" u="none" strike="noStrike" cap="none" dirty="0">
              <a:solidFill>
                <a:srgbClr val="F3F3F3"/>
              </a:solidFill>
              <a:effectLst>
                <a:glow rad="1003300">
                  <a:schemeClr val="accent1">
                    <a:alpha val="11000"/>
                  </a:schemeClr>
                </a:glow>
              </a:effectLs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0DC3292D-6BFD-7629-14C6-C7ECBB974FD3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C11456DA-A47E-6CED-DD06-BC98B2048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9D4F8A0-90FC-D8C7-B5E6-B97C148FC8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4791" y="1399274"/>
            <a:ext cx="6794418" cy="374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492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C7A4FD77-882C-E188-D858-13B8287459CC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7D4ABB7D-0FE5-E4CB-BC6F-30A15E455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F5DF8BDE-886F-6A2D-6625-0232CB3EE10D}"/>
              </a:ext>
            </a:extLst>
          </p:cNvPr>
          <p:cNvSpPr txBox="1"/>
          <p:nvPr/>
        </p:nvSpPr>
        <p:spPr>
          <a:xfrm>
            <a:off x="592968" y="1766296"/>
            <a:ext cx="39318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latin typeface="Bahnschrift Condensed" panose="020B0502040204020203" pitchFamily="34" charset="0"/>
              </a:rPr>
              <a:t>Le chiffre d'affaires total est de :143 505 .09 € (du 1 octobre au 31 octobre)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3F1BAD11-D15A-886A-D1CA-ECF1B83106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3791" y="3285351"/>
            <a:ext cx="3493415" cy="1641800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878FF148-35C8-1E59-183A-EA5E4D1ECC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793" y="1407162"/>
            <a:ext cx="4490170" cy="291479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4AE2958C-2B37-55F5-6097-247790F22C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954" y="3285351"/>
            <a:ext cx="4269823" cy="1601184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DBE19F30-AB46-8DB0-8F23-0F5AA1B88FE0}"/>
              </a:ext>
            </a:extLst>
          </p:cNvPr>
          <p:cNvSpPr txBox="1"/>
          <p:nvPr/>
        </p:nvSpPr>
        <p:spPr>
          <a:xfrm>
            <a:off x="640181" y="2230386"/>
            <a:ext cx="39318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latin typeface="Bahnschrift Condensed" panose="020B0502040204020203" pitchFamily="34" charset="0"/>
              </a:rPr>
              <a:t>Le chiffre d'affaires total outliers exclut :</a:t>
            </a:r>
          </a:p>
          <a:p>
            <a:pPr algn="ctr"/>
            <a:r>
              <a:rPr lang="fr-FR" b="1" dirty="0">
                <a:latin typeface="Bahnschrift Condensed" panose="020B0502040204020203" pitchFamily="34" charset="0"/>
              </a:rPr>
              <a:t>126 895.€</a:t>
            </a:r>
          </a:p>
        </p:txBody>
      </p:sp>
      <p:sp>
        <p:nvSpPr>
          <p:cNvPr id="33" name="Google Shape;81;p6">
            <a:extLst>
              <a:ext uri="{FF2B5EF4-FFF2-40B4-BE49-F238E27FC236}">
                <a16:creationId xmlns:a16="http://schemas.microsoft.com/office/drawing/2014/main" id="{93D535F1-07B2-445A-9425-684FE76D8A0D}"/>
              </a:ext>
            </a:extLst>
          </p:cNvPr>
          <p:cNvSpPr txBox="1"/>
          <p:nvPr/>
        </p:nvSpPr>
        <p:spPr>
          <a:xfrm>
            <a:off x="867492" y="478516"/>
            <a:ext cx="8096075" cy="88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800" b="0" i="0" u="none" strike="noStrike" cap="none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800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 C.A</a:t>
            </a:r>
            <a:endParaRPr sz="2800" b="0" i="0" u="none" strike="noStrike" cap="none" dirty="0">
              <a:solidFill>
                <a:srgbClr val="F3F3F3"/>
              </a:solidFill>
              <a:effectLst>
                <a:glow rad="1028700">
                  <a:schemeClr val="accent1">
                    <a:alpha val="14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9C8C8C3-B0AB-5CF3-02BE-95C0EF55EC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3040" y="1419905"/>
            <a:ext cx="4060527" cy="171770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EB5B2C1-AB3F-13EB-C356-D5EE22E08C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3040" y="2634726"/>
            <a:ext cx="2483155" cy="49866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60B8C2A-DFFC-98B0-E0B9-F1EADA16B2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968" y="2757348"/>
            <a:ext cx="4163006" cy="3524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C7A4FD77-882C-E188-D858-13B8287459CC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7D4ABB7D-0FE5-E4CB-BC6F-30A15E455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7F30E27-976E-AB5D-D57A-5AAAEEAE38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476276"/>
            <a:ext cx="9144000" cy="3526903"/>
          </a:xfrm>
          <a:prstGeom prst="rect">
            <a:avLst/>
          </a:prstGeom>
        </p:spPr>
      </p:pic>
      <p:sp>
        <p:nvSpPr>
          <p:cNvPr id="7" name="Google Shape;81;p6">
            <a:extLst>
              <a:ext uri="{FF2B5EF4-FFF2-40B4-BE49-F238E27FC236}">
                <a16:creationId xmlns:a16="http://schemas.microsoft.com/office/drawing/2014/main" id="{1B7AD790-EB3B-2374-28CB-2E3AE149367A}"/>
              </a:ext>
            </a:extLst>
          </p:cNvPr>
          <p:cNvSpPr txBox="1"/>
          <p:nvPr/>
        </p:nvSpPr>
        <p:spPr>
          <a:xfrm>
            <a:off x="867492" y="478516"/>
            <a:ext cx="8096075" cy="88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800" b="0" i="0" u="none" strike="noStrike" cap="none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800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 C.A</a:t>
            </a:r>
            <a:endParaRPr sz="2800" b="0" i="0" u="none" strike="noStrike" cap="none" dirty="0">
              <a:solidFill>
                <a:srgbClr val="F3F3F3"/>
              </a:solidFill>
              <a:effectLst>
                <a:glow rad="1028700">
                  <a:schemeClr val="accent1">
                    <a:alpha val="14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698427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C7A4FD77-882C-E188-D858-13B8287459CC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7D4ABB7D-0FE5-E4CB-BC6F-30A15E455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A1DD509-DAB7-11F1-8E71-5F5F2AA37A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808373"/>
            <a:ext cx="9144000" cy="2733889"/>
          </a:xfrm>
          <a:prstGeom prst="rect">
            <a:avLst/>
          </a:prstGeom>
        </p:spPr>
      </p:pic>
      <p:sp>
        <p:nvSpPr>
          <p:cNvPr id="4" name="Google Shape;81;p6">
            <a:extLst>
              <a:ext uri="{FF2B5EF4-FFF2-40B4-BE49-F238E27FC236}">
                <a16:creationId xmlns:a16="http://schemas.microsoft.com/office/drawing/2014/main" id="{12D34F6D-674E-2189-4647-AEF4DB44BA69}"/>
              </a:ext>
            </a:extLst>
          </p:cNvPr>
          <p:cNvSpPr txBox="1"/>
          <p:nvPr/>
        </p:nvSpPr>
        <p:spPr>
          <a:xfrm>
            <a:off x="874926" y="348850"/>
            <a:ext cx="8096075" cy="88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Quantitiés vendues</a:t>
            </a:r>
            <a:endParaRPr sz="2500" b="0" i="0" u="none" strike="noStrike" cap="none" dirty="0">
              <a:solidFill>
                <a:srgbClr val="F3F3F3"/>
              </a:solidFill>
              <a:effectLst>
                <a:glow rad="1028700">
                  <a:schemeClr val="accent1">
                    <a:alpha val="14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285336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C7A4FD77-882C-E188-D858-13B8287459CC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7D4ABB7D-0FE5-E4CB-BC6F-30A15E455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E08A8DCD-2164-B7CE-7D0A-045F6E62E7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46" y="1727450"/>
            <a:ext cx="4764060" cy="301789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FA40926F-540A-5E98-2787-07E2987BB6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0238" y="2682396"/>
            <a:ext cx="3633762" cy="1720967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95FCE7A6-F52A-4966-971A-EC149A2000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5825" y="4104594"/>
            <a:ext cx="2582695" cy="298769"/>
          </a:xfrm>
          <a:prstGeom prst="rect">
            <a:avLst/>
          </a:prstGeom>
        </p:spPr>
      </p:pic>
      <p:sp>
        <p:nvSpPr>
          <p:cNvPr id="22" name="Google Shape;81;p6">
            <a:extLst>
              <a:ext uri="{FF2B5EF4-FFF2-40B4-BE49-F238E27FC236}">
                <a16:creationId xmlns:a16="http://schemas.microsoft.com/office/drawing/2014/main" id="{B0ED8209-9878-50EF-2F38-9E7F41904CEC}"/>
              </a:ext>
            </a:extLst>
          </p:cNvPr>
          <p:cNvSpPr txBox="1"/>
          <p:nvPr/>
        </p:nvSpPr>
        <p:spPr>
          <a:xfrm>
            <a:off x="874926" y="348850"/>
            <a:ext cx="8096075" cy="88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Quantitiés vendues</a:t>
            </a:r>
            <a:endParaRPr sz="2500" b="0" i="0" u="none" strike="noStrike" cap="none" dirty="0">
              <a:solidFill>
                <a:srgbClr val="F3F3F3"/>
              </a:solidFill>
              <a:effectLst>
                <a:glow rad="1028700">
                  <a:schemeClr val="accent1">
                    <a:alpha val="14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365225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C7A4FD77-882C-E188-D858-13B8287459CC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7D4ABB7D-0FE5-E4CB-BC6F-30A15E455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C2E8555-1C49-8A89-3011-EF1E07C55E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695" y="1390200"/>
            <a:ext cx="7218610" cy="3753300"/>
          </a:xfrm>
          <a:prstGeom prst="rect">
            <a:avLst/>
          </a:prstGeom>
        </p:spPr>
      </p:pic>
      <p:sp>
        <p:nvSpPr>
          <p:cNvPr id="6" name="Google Shape;81;p6">
            <a:extLst>
              <a:ext uri="{FF2B5EF4-FFF2-40B4-BE49-F238E27FC236}">
                <a16:creationId xmlns:a16="http://schemas.microsoft.com/office/drawing/2014/main" id="{675399FE-6B3C-8B90-D5C7-F0966DB60636}"/>
              </a:ext>
            </a:extLst>
          </p:cNvPr>
          <p:cNvSpPr txBox="1"/>
          <p:nvPr/>
        </p:nvSpPr>
        <p:spPr>
          <a:xfrm>
            <a:off x="867492" y="333909"/>
            <a:ext cx="8096075" cy="88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Estimation de la durée du stock</a:t>
            </a:r>
            <a:endParaRPr sz="2500" b="0" i="0" u="none" strike="noStrike" cap="none" dirty="0">
              <a:solidFill>
                <a:srgbClr val="F3F3F3"/>
              </a:solidFill>
              <a:effectLst>
                <a:glow rad="1028700">
                  <a:schemeClr val="accent1">
                    <a:alpha val="14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739675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C7A4FD77-882C-E188-D858-13B8287459CC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7D4ABB7D-0FE5-E4CB-BC6F-30A15E455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DB4D2E6-55D9-0EF6-3156-2A5B20BF38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908667"/>
            <a:ext cx="9144000" cy="317916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368B2B5A-F258-360C-E6DB-7C8BD3D9A8A8}"/>
              </a:ext>
            </a:extLst>
          </p:cNvPr>
          <p:cNvSpPr txBox="1"/>
          <p:nvPr/>
        </p:nvSpPr>
        <p:spPr>
          <a:xfrm>
            <a:off x="0" y="1510934"/>
            <a:ext cx="7917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dirty="0">
                <a:solidFill>
                  <a:srgbClr val="0D0D0D"/>
                </a:solidFill>
                <a:latin typeface="Bahnschrift Condensed" panose="020B0502040204020203" pitchFamily="34" charset="0"/>
              </a:rPr>
              <a:t>S</a:t>
            </a:r>
            <a:r>
              <a:rPr lang="fr-FR" sz="1200" b="1" i="0" dirty="0">
                <a:solidFill>
                  <a:srgbClr val="0D0D0D"/>
                </a:solidFill>
                <a:effectLst/>
                <a:latin typeface="Bahnschrift Condensed" panose="020B0502040204020203" pitchFamily="34" charset="0"/>
              </a:rPr>
              <a:t>omme de la valorisation total des stocks : 492 835.85 €                         Nombre de produits en stock : 16 620 produits </a:t>
            </a:r>
            <a:endParaRPr lang="fr-FR" sz="1200" b="1" dirty="0">
              <a:latin typeface="Bahnschrift Condensed" panose="020B0502040204020203" pitchFamily="34" charset="0"/>
            </a:endParaRPr>
          </a:p>
        </p:txBody>
      </p:sp>
      <p:sp>
        <p:nvSpPr>
          <p:cNvPr id="6" name="Google Shape;81;p6">
            <a:extLst>
              <a:ext uri="{FF2B5EF4-FFF2-40B4-BE49-F238E27FC236}">
                <a16:creationId xmlns:a16="http://schemas.microsoft.com/office/drawing/2014/main" id="{57462E8D-BFEB-7F7A-21FC-6A3F3F75A507}"/>
              </a:ext>
            </a:extLst>
          </p:cNvPr>
          <p:cNvSpPr txBox="1"/>
          <p:nvPr/>
        </p:nvSpPr>
        <p:spPr>
          <a:xfrm>
            <a:off x="867492" y="333909"/>
            <a:ext cx="8096075" cy="88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Estimation de la durée du stock</a:t>
            </a:r>
            <a:endParaRPr sz="2500" b="0" i="0" u="none" strike="noStrike" cap="none" dirty="0">
              <a:solidFill>
                <a:srgbClr val="F3F3F3"/>
              </a:solidFill>
              <a:effectLst>
                <a:glow rad="1028700">
                  <a:schemeClr val="accent1">
                    <a:alpha val="14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27161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C7A4FD77-882C-E188-D858-13B8287459CC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7D4ABB7D-0FE5-E4CB-BC6F-30A15E455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FDADB394-E9CF-547B-5502-1305AB46BA9E}"/>
              </a:ext>
            </a:extLst>
          </p:cNvPr>
          <p:cNvSpPr txBox="1"/>
          <p:nvPr/>
        </p:nvSpPr>
        <p:spPr>
          <a:xfrm>
            <a:off x="270510" y="4315202"/>
            <a:ext cx="8602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latin typeface="Bahnschrift Condensed" panose="020B0502040204020203" pitchFamily="34" charset="0"/>
              </a:rPr>
              <a:t>Le taux de marge minimum est de 22,78%                             Le taux de marger maximum est de 47,76%</a:t>
            </a:r>
          </a:p>
        </p:txBody>
      </p:sp>
      <p:sp>
        <p:nvSpPr>
          <p:cNvPr id="4" name="Google Shape;81;p6">
            <a:extLst>
              <a:ext uri="{FF2B5EF4-FFF2-40B4-BE49-F238E27FC236}">
                <a16:creationId xmlns:a16="http://schemas.microsoft.com/office/drawing/2014/main" id="{244BFA26-8E09-A851-7B98-4DD32DDA5EA9}"/>
              </a:ext>
            </a:extLst>
          </p:cNvPr>
          <p:cNvSpPr txBox="1"/>
          <p:nvPr/>
        </p:nvSpPr>
        <p:spPr>
          <a:xfrm>
            <a:off x="867492" y="311680"/>
            <a:ext cx="8096075" cy="88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Taux de marge</a:t>
            </a:r>
            <a:endParaRPr sz="2500" b="0" i="0" u="none" strike="noStrike" cap="none" dirty="0">
              <a:solidFill>
                <a:srgbClr val="F3F3F3"/>
              </a:solidFill>
              <a:effectLst>
                <a:glow rad="1028700">
                  <a:schemeClr val="accent1">
                    <a:alpha val="14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2226A29-FE86-8800-804F-210FAF0190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22879"/>
            <a:ext cx="9144000" cy="262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368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C7A4FD77-882C-E188-D858-13B8287459CC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7D4ABB7D-0FE5-E4CB-BC6F-30A15E455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0143889-0F48-F494-FCC3-4B979BFF8F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9818" y="1390200"/>
            <a:ext cx="4204364" cy="3659469"/>
          </a:xfrm>
          <a:prstGeom prst="rect">
            <a:avLst/>
          </a:prstGeom>
        </p:spPr>
      </p:pic>
      <p:sp>
        <p:nvSpPr>
          <p:cNvPr id="4" name="Google Shape;81;p6">
            <a:extLst>
              <a:ext uri="{FF2B5EF4-FFF2-40B4-BE49-F238E27FC236}">
                <a16:creationId xmlns:a16="http://schemas.microsoft.com/office/drawing/2014/main" id="{600B7167-06F7-21D9-B81E-873BDDD74896}"/>
              </a:ext>
            </a:extLst>
          </p:cNvPr>
          <p:cNvSpPr txBox="1"/>
          <p:nvPr/>
        </p:nvSpPr>
        <p:spPr>
          <a:xfrm>
            <a:off x="874926" y="315510"/>
            <a:ext cx="8096075" cy="88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 Etude des corréllations</a:t>
            </a:r>
            <a:endParaRPr sz="2500" b="0" i="0" u="none" strike="noStrike" cap="none" dirty="0">
              <a:solidFill>
                <a:srgbClr val="F3F3F3"/>
              </a:solidFill>
              <a:effectLst>
                <a:glow rad="1028700">
                  <a:schemeClr val="accent1">
                    <a:alpha val="14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1329799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6;p4">
            <a:extLst>
              <a:ext uri="{FF2B5EF4-FFF2-40B4-BE49-F238E27FC236}">
                <a16:creationId xmlns:a16="http://schemas.microsoft.com/office/drawing/2014/main" id="{C7A4FD77-882C-E188-D858-13B8287459CC}"/>
              </a:ext>
            </a:extLst>
          </p:cNvPr>
          <p:cNvSpPr/>
          <p:nvPr/>
        </p:nvSpPr>
        <p:spPr>
          <a:xfrm>
            <a:off x="967715" y="99407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glow rad="127000">
              <a:schemeClr val="accent1">
                <a:alpha val="26000"/>
              </a:schemeClr>
            </a:glow>
            <a:outerShdw blurRad="50800" sx="6000" sy="6000" algn="ctr" rotWithShape="0">
              <a:prstClr val="black">
                <a:alpha val="9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Logo de l'entreprise Bottleneck  rouge et noir avec un sous-titre ">
            <a:hlinkClick r:id="rId3"/>
            <a:extLst>
              <a:ext uri="{FF2B5EF4-FFF2-40B4-BE49-F238E27FC236}">
                <a16:creationId xmlns:a16="http://schemas.microsoft.com/office/drawing/2014/main" id="{7D4ABB7D-0FE5-E4CB-BC6F-30A15E455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20" y="371430"/>
            <a:ext cx="1108829" cy="6395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FA33AC5-F15E-680F-40AE-53587E1E5B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90200"/>
            <a:ext cx="8847349" cy="179815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1C5E60D-9FFA-6834-26D9-4D55A1C7D5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39" y="3188359"/>
            <a:ext cx="8795310" cy="1798159"/>
          </a:xfrm>
          <a:prstGeom prst="rect">
            <a:avLst/>
          </a:prstGeom>
        </p:spPr>
      </p:pic>
      <p:sp>
        <p:nvSpPr>
          <p:cNvPr id="7" name="Google Shape;81;p6">
            <a:extLst>
              <a:ext uri="{FF2B5EF4-FFF2-40B4-BE49-F238E27FC236}">
                <a16:creationId xmlns:a16="http://schemas.microsoft.com/office/drawing/2014/main" id="{01B939DA-D74D-BD57-8CAD-805CF886D2F1}"/>
              </a:ext>
            </a:extLst>
          </p:cNvPr>
          <p:cNvSpPr txBox="1"/>
          <p:nvPr/>
        </p:nvSpPr>
        <p:spPr>
          <a:xfrm>
            <a:off x="860058" y="333909"/>
            <a:ext cx="8096075" cy="88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effectLst>
                  <a:glow rad="1028700">
                    <a:schemeClr val="accent1">
                      <a:alpha val="14000"/>
                    </a:schemeClr>
                  </a:glow>
                </a:effectLst>
                <a:latin typeface="Bahnschrift Condensed" panose="020B0502040204020203" pitchFamily="34" charset="0"/>
                <a:ea typeface="Montserrat"/>
                <a:cs typeface="Montserrat"/>
                <a:sym typeface="Montserrat"/>
              </a:rPr>
              <a:t>          Analyse Bivariée : C.A, Quantités vendues, Prix</a:t>
            </a:r>
            <a:endParaRPr sz="2500" b="0" i="0" u="none" strike="noStrike" cap="none" dirty="0">
              <a:solidFill>
                <a:srgbClr val="F3F3F3"/>
              </a:solidFill>
              <a:effectLst>
                <a:glow rad="1028700">
                  <a:schemeClr val="accent1">
                    <a:alpha val="14000"/>
                  </a:schemeClr>
                </a:glow>
              </a:effectLst>
              <a:latin typeface="Bahnschrift Condensed" panose="020B0502040204020203" pitchFamily="34" charset="0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62176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3906</TotalTime>
  <Words>820</Words>
  <Application>Microsoft Office PowerPoint</Application>
  <PresentationFormat>Affichage à l'écran (16:9)</PresentationFormat>
  <Paragraphs>96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7" baseType="lpstr">
      <vt:lpstr>Montserrat</vt:lpstr>
      <vt:lpstr>Söhne Mono</vt:lpstr>
      <vt:lpstr>Bahnschrift Condensed</vt:lpstr>
      <vt:lpstr>Söhne</vt:lpstr>
      <vt:lpstr>Arial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WadJa</dc:creator>
  <cp:lastModifiedBy>WadJa</cp:lastModifiedBy>
  <cp:revision>27</cp:revision>
  <dcterms:modified xsi:type="dcterms:W3CDTF">2024-03-18T08:44:06Z</dcterms:modified>
</cp:coreProperties>
</file>