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9" r:id="rId3"/>
    <p:sldId id="261" r:id="rId4"/>
    <p:sldId id="293" r:id="rId5"/>
    <p:sldId id="306" r:id="rId6"/>
    <p:sldId id="317" r:id="rId7"/>
    <p:sldId id="318" r:id="rId8"/>
    <p:sldId id="307" r:id="rId9"/>
    <p:sldId id="311" r:id="rId10"/>
    <p:sldId id="315" r:id="rId11"/>
    <p:sldId id="314" r:id="rId12"/>
    <p:sldId id="319" r:id="rId13"/>
    <p:sldId id="299" r:id="rId14"/>
    <p:sldId id="301" r:id="rId15"/>
    <p:sldId id="302" r:id="rId16"/>
    <p:sldId id="303" r:id="rId17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C"/>
    <a:srgbClr val="00FFFF"/>
    <a:srgbClr val="24B9D3"/>
    <a:srgbClr val="207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6296" autoAdjust="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450AB22-52FC-40E6-98AA-74BCCD5188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B9199D-72B2-45AE-A712-E5736A22F0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426B1-7527-4E28-B97D-380F113BB44F}" type="datetime1">
              <a:rPr lang="fr-FR" smtClean="0"/>
              <a:t>26/04/2024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1359D5-DD6B-4137-AD75-B46D517142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5F9710-A4BE-4433-A7ED-20397B3D73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D19D5-D423-4C7D-BE37-350F3D82A9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52370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DAC19-97A4-4601-8E6F-C9F59AF9B80C}" type="datetime1">
              <a:rPr lang="fr-FR" smtClean="0"/>
              <a:pPr/>
              <a:t>26/04/2024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D9EE5-14A8-4D2F-A0BD-1BB33ACFF75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52047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D9EE5-14A8-4D2F-A0BD-1BB33ACFF75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7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C754D9-8403-4920-99DE-7A11B3EB392D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78179-134A-413C-9D9E-CE85F9A9554A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2181A-20E0-48F1-8B0C-0171BD4BC4FC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DDFBC9-DF66-450F-9B47-163A607B32B5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9A2534-DEDE-4B74-ACE3-4739456B341E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99A1F2-963C-4433-9938-07FA0A1EA149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321462-A4AC-4C47-B649-01878A1A064F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3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8B83CE-0B77-4D5B-ABB2-11D315121664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D38337-0C26-419D-8506-A7BD0E35E1A9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2016B0-50B5-47B5-A44A-13E00F7CDA92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54252-1D92-4478-9B35-EF53CB57F087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texte 3"/>
          <p:cNvSpPr>
            <a:spLocks noGrp="1"/>
          </p:cNvSpPr>
          <p:nvPr>
            <p:ph type="body" sz="half" idx="14" hasCustomPrompt="1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rtl="0">
              <a:buNone/>
            </a:pPr>
            <a:r>
              <a:rPr lang="fr-FR" noProof="0"/>
              <a:t>Modifiez les styles du texte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C55A38-EB06-4BE8-943C-A998B4C9E3F3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2" name="Zone de texte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“</a:t>
            </a:r>
          </a:p>
        </p:txBody>
      </p:sp>
      <p:sp>
        <p:nvSpPr>
          <p:cNvPr id="15" name="Zone de texte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fr-FR" noProof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professionn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F8690B-5D8F-4E48-B212-77F0BC48118D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27A5DE-2DD6-4418-A363-EF10D0B5FD9F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nne 3 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9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0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1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cxnSp>
        <p:nvCxnSpPr>
          <p:cNvPr id="19" name="Connecteur droit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C65DA7-E5C5-4D74-B097-AC1BE004E448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C7DA1A-EC3C-47F8-91A2-6837F02EFD3F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C3F780-36C0-4115-8D68-C9FCA3157A4C}" type="datetime1">
              <a:rPr lang="fr-FR" noProof="0" smtClean="0"/>
              <a:t>26/04/2024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e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 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7E5CEDF6-0650-4886-A306-D0167EC655ED}" type="datetime1">
              <a:rPr lang="fr-FR" noProof="0" smtClean="0"/>
              <a:t>26/04/2024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carte de visite, Police&#10;&#10;Description générée automatiquement">
            <a:extLst>
              <a:ext uri="{FF2B5EF4-FFF2-40B4-BE49-F238E27FC236}">
                <a16:creationId xmlns:a16="http://schemas.microsoft.com/office/drawing/2014/main" id="{4EB34491-080F-E865-C391-790E7F014F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54" b="78176"/>
          <a:stretch/>
        </p:blipFill>
        <p:spPr>
          <a:xfrm>
            <a:off x="1199072" y="1928696"/>
            <a:ext cx="9790981" cy="36957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C51EFAC-A59E-CC0A-5D92-1391717E88E1}"/>
              </a:ext>
            </a:extLst>
          </p:cNvPr>
          <p:cNvSpPr txBox="1"/>
          <p:nvPr/>
        </p:nvSpPr>
        <p:spPr>
          <a:xfrm>
            <a:off x="2492409" y="2148945"/>
            <a:ext cx="7158867" cy="83099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  <a:latin typeface="Rockwell"/>
                <a:ea typeface="STXingkai"/>
                <a:cs typeface="Lucida Sans Unicode"/>
              </a:rPr>
              <a:t>Projet 8 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58FC43-89D9-8B39-41F9-B20CA48FB1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26" r="13394" b="25888"/>
          <a:stretch/>
        </p:blipFill>
        <p:spPr bwMode="auto">
          <a:xfrm>
            <a:off x="1199071" y="3040328"/>
            <a:ext cx="9790981" cy="25840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73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0D73219-140D-F588-7EE2-0D4B826E9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422" y="442886"/>
            <a:ext cx="8947522" cy="1400530"/>
          </a:xfrm>
        </p:spPr>
        <p:txBody>
          <a:bodyPr anchor="ctr">
            <a:normAutofit/>
          </a:bodyPr>
          <a:lstStyle/>
          <a:p>
            <a:pPr algn="ctr"/>
            <a:r>
              <a:rPr lang="fr-FR" b="1" i="1" dirty="0">
                <a:solidFill>
                  <a:srgbClr val="FFFFFF"/>
                </a:solidFill>
              </a:rPr>
              <a:t>Plan de réalisation</a:t>
            </a:r>
            <a:endParaRPr lang="fr-FR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76C5C-2AED-6CD6-F3FA-C8A972F2D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848" y="2860264"/>
            <a:ext cx="9108773" cy="3424126"/>
          </a:xfrm>
          <a:ln w="57150">
            <a:solidFill>
              <a:srgbClr val="20737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7F7F7"/>
              </a:buClr>
            </a:pPr>
            <a:endParaRPr lang="fr-FR" sz="1600" b="1" dirty="0">
              <a:solidFill>
                <a:schemeClr val="bg1"/>
              </a:solidFill>
            </a:endParaRPr>
          </a:p>
          <a:p>
            <a:pPr>
              <a:buClr>
                <a:srgbClr val="F7F7F7"/>
              </a:buClr>
            </a:pPr>
            <a:r>
              <a:rPr lang="fr-FR" sz="1700" b="1" dirty="0">
                <a:solidFill>
                  <a:schemeClr val="bg1"/>
                </a:solidFill>
              </a:rPr>
              <a:t>1: Présentation des données</a:t>
            </a:r>
            <a:endParaRPr lang="fr-FR" sz="1600" b="1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1600" b="1" dirty="0">
                <a:solidFill>
                  <a:schemeClr val="bg1"/>
                </a:solidFill>
              </a:rPr>
              <a:t>2 : Traitement et anonymisation des données</a:t>
            </a:r>
          </a:p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1600" b="1" dirty="0">
                <a:solidFill>
                  <a:schemeClr val="bg1"/>
                </a:solidFill>
              </a:rPr>
              <a:t>3 : Calcul l’index d’égalité professionnelle dans KNIME</a:t>
            </a:r>
          </a:p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1600" b="1" dirty="0">
                <a:solidFill>
                  <a:schemeClr val="bg1"/>
                </a:solidFill>
              </a:rPr>
              <a:t>4 : Score d’égalité femmes/hommes et recommandations</a:t>
            </a:r>
          </a:p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1600" b="1" dirty="0">
                <a:solidFill>
                  <a:schemeClr val="bg1"/>
                </a:solidFill>
              </a:rPr>
              <a:t>5 : Indicateurs complémentaires</a:t>
            </a:r>
            <a:endParaRPr lang="fr-FR" sz="1600" dirty="0">
              <a:solidFill>
                <a:srgbClr val="271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986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bleu vert, cercle, Turquoise&#10;&#10;Description générée automatiquement">
            <a:extLst>
              <a:ext uri="{FF2B5EF4-FFF2-40B4-BE49-F238E27FC236}">
                <a16:creationId xmlns:a16="http://schemas.microsoft.com/office/drawing/2014/main" id="{76A45812-CF5D-3A05-7B19-871E41F4F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8203" y="-221226"/>
            <a:ext cx="2749025" cy="907025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D2F9FFB-1BB6-85C4-B112-9DD9542F598D}"/>
              </a:ext>
            </a:extLst>
          </p:cNvPr>
          <p:cNvSpPr txBox="1"/>
          <p:nvPr/>
        </p:nvSpPr>
        <p:spPr>
          <a:xfrm>
            <a:off x="2106525" y="355962"/>
            <a:ext cx="79729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u="sng" dirty="0">
                <a:solidFill>
                  <a:schemeClr val="bg1"/>
                </a:solidFill>
              </a:rPr>
              <a:t>Présentation des données</a:t>
            </a:r>
            <a:endParaRPr lang="fr-FR" sz="2400" u="sng" dirty="0">
              <a:solidFill>
                <a:schemeClr val="bg1"/>
              </a:solidFill>
            </a:endParaRP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F3F6FCC-C80D-7D30-E369-CAD226ECAB21}"/>
              </a:ext>
            </a:extLst>
          </p:cNvPr>
          <p:cNvSpPr txBox="1">
            <a:spLocks/>
          </p:cNvSpPr>
          <p:nvPr/>
        </p:nvSpPr>
        <p:spPr>
          <a:xfrm>
            <a:off x="-1354479" y="2089767"/>
            <a:ext cx="2708955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800" b="1" i="1" dirty="0">
                <a:solidFill>
                  <a:srgbClr val="FFFFFF"/>
                </a:solidFill>
              </a:rPr>
              <a:t>Info Pro.csv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981BAB0A-BDFB-EAED-3B22-DA10E38394EA}"/>
              </a:ext>
            </a:extLst>
          </p:cNvPr>
          <p:cNvSpPr txBox="1">
            <a:spLocks/>
          </p:cNvSpPr>
          <p:nvPr/>
        </p:nvSpPr>
        <p:spPr>
          <a:xfrm>
            <a:off x="-1224927" y="5288429"/>
            <a:ext cx="2708955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800" b="1" i="1" dirty="0">
                <a:solidFill>
                  <a:srgbClr val="FFFFFF"/>
                </a:solidFill>
              </a:rPr>
              <a:t>Rémunération.csv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857D50A-5A54-7B11-DFA3-63F82210A330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1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B548C7-09D5-8172-1C43-E1EC461535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06"/>
          <a:stretch/>
        </p:blipFill>
        <p:spPr>
          <a:xfrm>
            <a:off x="2106525" y="2196299"/>
            <a:ext cx="8564170" cy="9832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5D8E54F-B2B6-F38C-64E9-6E2462AF81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870"/>
          <a:stretch/>
        </p:blipFill>
        <p:spPr>
          <a:xfrm>
            <a:off x="2106525" y="3853542"/>
            <a:ext cx="8411749" cy="9832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94369A8-1A9F-AB53-6AD5-EF8F137E732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-664" b="57698"/>
          <a:stretch/>
        </p:blipFill>
        <p:spPr>
          <a:xfrm>
            <a:off x="2106525" y="5373455"/>
            <a:ext cx="7499114" cy="9832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AB16B96-8D13-DB3D-3AD4-57E1BE2327FB}"/>
              </a:ext>
            </a:extLst>
          </p:cNvPr>
          <p:cNvSpPr txBox="1">
            <a:spLocks/>
          </p:cNvSpPr>
          <p:nvPr/>
        </p:nvSpPr>
        <p:spPr>
          <a:xfrm>
            <a:off x="-1354478" y="3613638"/>
            <a:ext cx="2708955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800" b="1" i="1" dirty="0">
                <a:solidFill>
                  <a:srgbClr val="FFFFFF"/>
                </a:solidFill>
              </a:rPr>
              <a:t>Salarié.csv</a:t>
            </a:r>
          </a:p>
        </p:txBody>
      </p:sp>
    </p:spTree>
    <p:extLst>
      <p:ext uri="{BB962C8B-B14F-4D97-AF65-F5344CB8AC3E}">
        <p14:creationId xmlns:p14="http://schemas.microsoft.com/office/powerpoint/2010/main" val="427194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D2F9FFB-1BB6-85C4-B112-9DD9542F598D}"/>
              </a:ext>
            </a:extLst>
          </p:cNvPr>
          <p:cNvSpPr txBox="1"/>
          <p:nvPr/>
        </p:nvSpPr>
        <p:spPr>
          <a:xfrm>
            <a:off x="2106525" y="355962"/>
            <a:ext cx="79729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400" b="1" u="sng" dirty="0">
                <a:solidFill>
                  <a:schemeClr val="bg1"/>
                </a:solidFill>
              </a:rPr>
              <a:t>Traitement et anonymisation des données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857D50A-5A54-7B11-DFA3-63F82210A330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2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6F6F322-68DE-2B36-660A-55478549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550"/>
            <a:ext cx="12192000" cy="512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4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D5888F2-B66F-61B8-A9EB-ABA1AA222A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916"/>
          <a:stretch/>
        </p:blipFill>
        <p:spPr>
          <a:xfrm>
            <a:off x="2204863" y="1682157"/>
            <a:ext cx="7782273" cy="48725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A919A98-6B77-9428-F79F-0032FCAF2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477"/>
          <a:stretch/>
        </p:blipFill>
        <p:spPr>
          <a:xfrm>
            <a:off x="217685" y="215973"/>
            <a:ext cx="4443092" cy="11609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D4419A76-35E9-C18A-C104-EA901C33CF44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15006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C5E9F-EFEA-8D12-9496-B3805F5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9005"/>
            <a:ext cx="10306050" cy="573216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n°1 - Nombre de salariés du sexe sous-représenté parmi les 10 plus hautes rémunérations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D94B62E-62B4-D39A-E545-AD94D7CC24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912"/>
          <a:stretch/>
        </p:blipFill>
        <p:spPr>
          <a:xfrm>
            <a:off x="232242" y="1566759"/>
            <a:ext cx="7706012" cy="107055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EE05D41-8217-61C7-C574-E4CE339DA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42" y="2637318"/>
            <a:ext cx="2956816" cy="27434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3B64ED6-8AA4-986C-5BD6-61CB7E4688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93" r="55833" b="8091"/>
          <a:stretch/>
        </p:blipFill>
        <p:spPr>
          <a:xfrm>
            <a:off x="6563559" y="3962883"/>
            <a:ext cx="4976978" cy="2808887"/>
          </a:xfrm>
          <a:prstGeom prst="roundRect">
            <a:avLst>
              <a:gd name="adj" fmla="val 1131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0A7E1D9D-5C4A-97B8-9391-29292DBC22C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2B0990-755C-4574-6554-6A7B70CE1E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0650"/>
          <a:stretch/>
        </p:blipFill>
        <p:spPr>
          <a:xfrm>
            <a:off x="232242" y="2911662"/>
            <a:ext cx="5396201" cy="149015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F7402B-23EB-01BC-7EA9-DC79AB910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99" y="4441376"/>
            <a:ext cx="4858886" cy="149015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FA418BF-0474-B727-7A81-D53E74D790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235" y="5971090"/>
            <a:ext cx="3844213" cy="80068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0257565-2A39-9EE2-FCCD-55947E10CEF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2167"/>
          <a:stretch/>
        </p:blipFill>
        <p:spPr>
          <a:xfrm>
            <a:off x="6122219" y="2764821"/>
            <a:ext cx="5820623" cy="10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81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C5E9F-EFEA-8D12-9496-B3805F5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9005"/>
            <a:ext cx="10306050" cy="573216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n°1 - Nombre de salariés du sexe sous-représenté parmi les 10 plus hautes rémunérations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A7E1D9D-5C4A-97B8-9391-29292DBC22C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18AE65-1AB5-B12A-4465-4A58A1E2F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7" y="1659659"/>
            <a:ext cx="4608370" cy="7005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06EF6A8-D56C-D42F-301D-4EF745467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4326"/>
            <a:ext cx="12192000" cy="42033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5D3E45E-651B-3401-3108-6B9C65722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362" y="1684722"/>
            <a:ext cx="2600688" cy="47631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EF57707-1018-BC34-84E5-49CF93E7D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678" y="2168762"/>
            <a:ext cx="2372056" cy="20005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42FC7E8-0755-866F-3FD7-35C702C0FF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2287"/>
          <a:stretch/>
        </p:blipFill>
        <p:spPr>
          <a:xfrm>
            <a:off x="4920085" y="1659660"/>
            <a:ext cx="2687358" cy="104826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2B9CED2-89D0-1AE6-D84D-71BA8CBF5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345" y="3144512"/>
            <a:ext cx="2553056" cy="38105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ADAAF7D-9E9E-D648-3BAD-7CFC1E544A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630029"/>
            <a:ext cx="12192000" cy="309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12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1267178-0043-0D44-E17C-9A7468CF3C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76" t="2265" r="18341" b="42190"/>
          <a:stretch/>
        </p:blipFill>
        <p:spPr>
          <a:xfrm>
            <a:off x="2215716" y="5351607"/>
            <a:ext cx="2071243" cy="11808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3E03BF7-08E3-E0C7-1E79-2A00BBD9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08" y="4230632"/>
            <a:ext cx="5616165" cy="9625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4496184B-C456-1F6A-E759-5D812CDBB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9005"/>
            <a:ext cx="10172534" cy="573216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N°1 - Nombre de salariés du sexe sous-représenté parmi les 10 plus hautes rémunérations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32C7B9E-AF1C-2BE5-7592-A40179787733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12A4E5C4-EBC4-BB5D-BE7C-98ADEB3D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07" y="2088344"/>
            <a:ext cx="5616165" cy="20630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D756F84-96C8-C1D9-D581-9724D83C2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654" y="1678921"/>
            <a:ext cx="5795718" cy="503782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32" name="Titre 1">
            <a:extLst>
              <a:ext uri="{FF2B5EF4-FFF2-40B4-BE49-F238E27FC236}">
                <a16:creationId xmlns:a16="http://schemas.microsoft.com/office/drawing/2014/main" id="{05B9AF36-CB34-BE7F-1143-F10F4EABD909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22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C5E9F-EFEA-8D12-9496-B3805F5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219004"/>
            <a:ext cx="8248650" cy="1002951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n°2 - Écart global de rémunération entre les femmes et les hommes.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79AFB1-C738-A335-6959-FAB4282F0C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400"/>
          <a:stretch/>
        </p:blipFill>
        <p:spPr>
          <a:xfrm>
            <a:off x="2579522" y="1743075"/>
            <a:ext cx="6321552" cy="48379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DA34AC2-7DDD-5A43-0510-EC85AFEE1B5F}"/>
              </a:ext>
            </a:extLst>
          </p:cNvPr>
          <p:cNvSpPr txBox="1"/>
          <p:nvPr/>
        </p:nvSpPr>
        <p:spPr>
          <a:xfrm>
            <a:off x="2562804" y="6581001"/>
            <a:ext cx="6321552" cy="276999"/>
          </a:xfrm>
          <a:prstGeom prst="rect">
            <a:avLst/>
          </a:prstGeom>
          <a:solidFill>
            <a:schemeClr val="bg1"/>
          </a:solidFill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highlight>
                  <a:srgbClr val="000000"/>
                </a:highlight>
              </a:rPr>
              <a:t>Source : https://egapro.travail.gouv.fr/aide-simulation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A2CF1BE-C79E-E3FE-B49B-2DE167BBD62D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38134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F56B06C-6E0C-71CB-DB93-4F262635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31" y="1720479"/>
            <a:ext cx="7486537" cy="61574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715D4C9-0FB1-8BDE-BC40-F453FEC06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0" y="2628944"/>
            <a:ext cx="5462647" cy="408319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0C9A1A0-3B54-3F58-5E95-B77C33127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804" y="2628944"/>
            <a:ext cx="5404044" cy="4083190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B08AB7F3-9701-FA61-2FD2-675FE4D2EDBF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3E11CE19-1497-609F-2762-275B6126C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3" y="1105999"/>
            <a:ext cx="8248650" cy="1002951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n°2 - Écart global de rémunération entre les femmes et les hommes.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952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C5E9F-EFEA-8D12-9496-B3805F5F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3" y="1105999"/>
            <a:ext cx="8248650" cy="1002951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n°2 - Écart global de rémunération entre les femmes et les hommes.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FDF4DE1F-E77E-8D9A-D5CA-3ED4D247476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027BB04-CB97-5D39-80EC-0BF250A9C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43"/>
          <a:stretch/>
        </p:blipFill>
        <p:spPr>
          <a:xfrm>
            <a:off x="4865543" y="1557524"/>
            <a:ext cx="5590517" cy="110285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5D6B9A8-015F-EA6F-3385-85F4C8147B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89" b="15171"/>
          <a:stretch/>
        </p:blipFill>
        <p:spPr>
          <a:xfrm>
            <a:off x="111154" y="1720313"/>
            <a:ext cx="3722678" cy="20536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7515B6D-A4BC-841D-DC06-59DE52E4B7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698"/>
          <a:stretch/>
        </p:blipFill>
        <p:spPr>
          <a:xfrm>
            <a:off x="488351" y="3994966"/>
            <a:ext cx="11174083" cy="284579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B0A7087-0F35-C4C7-3022-B4A33290C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150" y="2690616"/>
            <a:ext cx="8211696" cy="127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1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FDF4DE1F-E77E-8D9A-D5CA-3ED4D247476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3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920384" y="209482"/>
            <a:ext cx="7972978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Calcul l’index d’égalité professionnelle dans KNIME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46DCCC-9C33-A580-7676-CBF793924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1" y="5707280"/>
            <a:ext cx="1225402" cy="84741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C07158-33D3-E945-519D-7660AEF69F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843"/>
          <a:stretch/>
        </p:blipFill>
        <p:spPr>
          <a:xfrm>
            <a:off x="6846636" y="3503506"/>
            <a:ext cx="5228950" cy="198746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CDE2867-E20D-B7AF-4064-99FDCECAFC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9755"/>
          <a:stretch/>
        </p:blipFill>
        <p:spPr>
          <a:xfrm>
            <a:off x="9474053" y="5707280"/>
            <a:ext cx="1395681" cy="8474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256E94-1C8A-7D3D-12B8-9D4C37F90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216" y="1720478"/>
            <a:ext cx="6470288" cy="5052047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D933664C-F6E9-CC37-2867-1E5B7ED3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3" y="1105999"/>
            <a:ext cx="8248650" cy="1002951"/>
          </a:xfrm>
        </p:spPr>
        <p:txBody>
          <a:bodyPr/>
          <a:lstStyle/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n°2 - Écart global de rémunération entre les femmes et les hommes.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103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FDF4DE1F-E77E-8D9A-D5CA-3ED4D247476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4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319842" y="244297"/>
            <a:ext cx="8762647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Score d’égalité femmes/hommes et recommandations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A4D2F913-8A1C-2C29-FCEC-E3FAB21F7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" y="2335551"/>
            <a:ext cx="12288366" cy="1002951"/>
          </a:xfrm>
        </p:spPr>
        <p:txBody>
          <a:bodyPr/>
          <a:lstStyle/>
          <a:p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n°2 - Écart global de rémunération entre les femmes et les hommes.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FBED81C7-425E-FE1D-3DC8-784FD49444C6}"/>
              </a:ext>
            </a:extLst>
          </p:cNvPr>
          <p:cNvSpPr txBox="1">
            <a:spLocks/>
          </p:cNvSpPr>
          <p:nvPr/>
        </p:nvSpPr>
        <p:spPr>
          <a:xfrm>
            <a:off x="-3194" y="3181888"/>
            <a:ext cx="12294753" cy="573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n°3 - Écart de taux d’augmentation (plus de 250 salariés)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2A0CB0D9-8AB4-5284-700C-64DE98F0FD38}"/>
              </a:ext>
            </a:extLst>
          </p:cNvPr>
          <p:cNvSpPr txBox="1">
            <a:spLocks/>
          </p:cNvSpPr>
          <p:nvPr/>
        </p:nvSpPr>
        <p:spPr>
          <a:xfrm>
            <a:off x="0" y="5130585"/>
            <a:ext cx="12291560" cy="573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n°5 - Écart de taux de promotion (plus de 250 salariés)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50171137-433F-AF6F-4F1B-E8F0E89B2F8E}"/>
              </a:ext>
            </a:extLst>
          </p:cNvPr>
          <p:cNvSpPr txBox="1">
            <a:spLocks/>
          </p:cNvSpPr>
          <p:nvPr/>
        </p:nvSpPr>
        <p:spPr>
          <a:xfrm>
            <a:off x="-3194" y="1384066"/>
            <a:ext cx="12192000" cy="573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n°1 - Nombre de salariés du sexe sous-représenté parmi les 10 plus hautes rémunérations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4AB228C5-7A94-9E86-BA42-A45FEF0381BD}"/>
              </a:ext>
            </a:extLst>
          </p:cNvPr>
          <p:cNvSpPr txBox="1">
            <a:spLocks/>
          </p:cNvSpPr>
          <p:nvPr/>
        </p:nvSpPr>
        <p:spPr>
          <a:xfrm>
            <a:off x="1" y="4134401"/>
            <a:ext cx="12288366" cy="57321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Indicateur n°4 - Indicateur - pourcentage de salariées augmentées dans l’année suivant leur retour de congé maternité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38" name="Titre 1">
            <a:extLst>
              <a:ext uri="{FF2B5EF4-FFF2-40B4-BE49-F238E27FC236}">
                <a16:creationId xmlns:a16="http://schemas.microsoft.com/office/drawing/2014/main" id="{0609BD43-D4D8-AE10-9BB0-955518094AA4}"/>
              </a:ext>
            </a:extLst>
          </p:cNvPr>
          <p:cNvSpPr txBox="1">
            <a:spLocks/>
          </p:cNvSpPr>
          <p:nvPr/>
        </p:nvSpPr>
        <p:spPr>
          <a:xfrm>
            <a:off x="3055584" y="6213150"/>
            <a:ext cx="4385220" cy="4109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  <a:t>Score d’égalité femmes/hommes :  84/100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54" name="Titre 1">
            <a:extLst>
              <a:ext uri="{FF2B5EF4-FFF2-40B4-BE49-F238E27FC236}">
                <a16:creationId xmlns:a16="http://schemas.microsoft.com/office/drawing/2014/main" id="{C24A017D-4F14-72BB-7F3C-F791DAFA4168}"/>
              </a:ext>
            </a:extLst>
          </p:cNvPr>
          <p:cNvSpPr txBox="1">
            <a:spLocks/>
          </p:cNvSpPr>
          <p:nvPr/>
        </p:nvSpPr>
        <p:spPr>
          <a:xfrm>
            <a:off x="4222621" y="5543414"/>
            <a:ext cx="2051145" cy="34303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dirty="0">
                <a:solidFill>
                  <a:schemeClr val="bg1"/>
                </a:solidFill>
                <a:ea typeface="+mj-lt"/>
                <a:cs typeface="+mj-lt"/>
              </a:rPr>
              <a:t>15 / 15 Points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7C7521EC-4091-BF94-4B08-D260344AE9AF}"/>
              </a:ext>
            </a:extLst>
          </p:cNvPr>
          <p:cNvSpPr txBox="1">
            <a:spLocks/>
          </p:cNvSpPr>
          <p:nvPr/>
        </p:nvSpPr>
        <p:spPr>
          <a:xfrm>
            <a:off x="4222620" y="4655036"/>
            <a:ext cx="2051145" cy="34303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dirty="0">
                <a:solidFill>
                  <a:schemeClr val="bg1"/>
                </a:solidFill>
                <a:ea typeface="+mj-lt"/>
                <a:cs typeface="+mj-lt"/>
              </a:rPr>
              <a:t>0 / 15 Points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56" name="Titre 1">
            <a:extLst>
              <a:ext uri="{FF2B5EF4-FFF2-40B4-BE49-F238E27FC236}">
                <a16:creationId xmlns:a16="http://schemas.microsoft.com/office/drawing/2014/main" id="{64DCA27C-8CEB-E7F9-B1FF-70E9F4B5182B}"/>
              </a:ext>
            </a:extLst>
          </p:cNvPr>
          <p:cNvSpPr txBox="1">
            <a:spLocks/>
          </p:cNvSpPr>
          <p:nvPr/>
        </p:nvSpPr>
        <p:spPr>
          <a:xfrm>
            <a:off x="4185826" y="3678686"/>
            <a:ext cx="2051145" cy="34303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dirty="0">
                <a:solidFill>
                  <a:schemeClr val="bg1"/>
                </a:solidFill>
                <a:ea typeface="+mj-lt"/>
                <a:cs typeface="+mj-lt"/>
              </a:rPr>
              <a:t>20 / 20 Points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57" name="Titre 1">
            <a:extLst>
              <a:ext uri="{FF2B5EF4-FFF2-40B4-BE49-F238E27FC236}">
                <a16:creationId xmlns:a16="http://schemas.microsoft.com/office/drawing/2014/main" id="{9190216C-F5ED-EB74-0584-376DDAA850C6}"/>
              </a:ext>
            </a:extLst>
          </p:cNvPr>
          <p:cNvSpPr txBox="1">
            <a:spLocks/>
          </p:cNvSpPr>
          <p:nvPr/>
        </p:nvSpPr>
        <p:spPr>
          <a:xfrm>
            <a:off x="4185825" y="2772596"/>
            <a:ext cx="2051145" cy="34303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dirty="0">
                <a:solidFill>
                  <a:schemeClr val="bg1"/>
                </a:solidFill>
                <a:ea typeface="+mj-lt"/>
                <a:cs typeface="+mj-lt"/>
              </a:rPr>
              <a:t>39 / 40 Points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58" name="Titre 1">
            <a:extLst>
              <a:ext uri="{FF2B5EF4-FFF2-40B4-BE49-F238E27FC236}">
                <a16:creationId xmlns:a16="http://schemas.microsoft.com/office/drawing/2014/main" id="{40AEC990-90D4-AE6C-8AEB-563C60D4E729}"/>
              </a:ext>
            </a:extLst>
          </p:cNvPr>
          <p:cNvSpPr txBox="1">
            <a:spLocks/>
          </p:cNvSpPr>
          <p:nvPr/>
        </p:nvSpPr>
        <p:spPr>
          <a:xfrm>
            <a:off x="4185824" y="1866616"/>
            <a:ext cx="2051145" cy="34303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1600" b="1" i="1" dirty="0">
                <a:solidFill>
                  <a:schemeClr val="bg1"/>
                </a:solidFill>
                <a:ea typeface="+mj-lt"/>
                <a:cs typeface="+mj-lt"/>
              </a:rPr>
              <a:t>10 / 10 Points</a:t>
            </a:r>
            <a:br>
              <a:rPr lang="fr-FR" sz="1600" b="1" i="1" u="sng" dirty="0">
                <a:solidFill>
                  <a:schemeClr val="tx1"/>
                </a:solidFill>
                <a:ea typeface="+mj-lt"/>
                <a:cs typeface="+mj-lt"/>
              </a:rPr>
            </a:br>
            <a:endParaRPr lang="fr-FR" sz="1600" b="1" i="1" u="sng" dirty="0">
              <a:solidFill>
                <a:schemeClr val="tx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702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FDF4DE1F-E77E-8D9A-D5CA-3ED4D2474763}"/>
              </a:ext>
            </a:extLst>
          </p:cNvPr>
          <p:cNvSpPr txBox="1">
            <a:spLocks/>
          </p:cNvSpPr>
          <p:nvPr/>
        </p:nvSpPr>
        <p:spPr>
          <a:xfrm>
            <a:off x="10245318" y="269422"/>
            <a:ext cx="1038033" cy="71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5</a:t>
            </a:r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F8318-111C-46B0-5806-5EA6C3EA5761}"/>
              </a:ext>
            </a:extLst>
          </p:cNvPr>
          <p:cNvSpPr txBox="1"/>
          <p:nvPr/>
        </p:nvSpPr>
        <p:spPr>
          <a:xfrm>
            <a:off x="1599669" y="111130"/>
            <a:ext cx="8762647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Indicateurs complémentaires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BE7BE3-5AEB-0942-BE3A-47F969E8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242" y="1511091"/>
            <a:ext cx="5984847" cy="494871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495DEE1-F042-DF21-AD78-8BAECFAD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3" y="1511091"/>
            <a:ext cx="5984847" cy="494871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880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FDF4DE1F-E77E-8D9A-D5CA-3ED4D2474763}"/>
              </a:ext>
            </a:extLst>
          </p:cNvPr>
          <p:cNvSpPr txBox="1">
            <a:spLocks/>
          </p:cNvSpPr>
          <p:nvPr/>
        </p:nvSpPr>
        <p:spPr>
          <a:xfrm>
            <a:off x="9486192" y="303303"/>
            <a:ext cx="2594655" cy="1607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3600" b="1" dirty="0">
                <a:solidFill>
                  <a:schemeClr val="tx1"/>
                </a:solidFill>
                <a:ea typeface="+mj-lt"/>
                <a:cs typeface="+mj-lt"/>
              </a:rPr>
              <a:t>5</a:t>
            </a:r>
          </a:p>
          <a:p>
            <a:pPr algn="ctr"/>
            <a:endParaRPr lang="fr-FR" sz="2400" b="1" dirty="0">
              <a:solidFill>
                <a:srgbClr val="FFFFFF"/>
              </a:solidFill>
              <a:ea typeface="+mj-lt"/>
              <a:cs typeface="+mj-lt"/>
            </a:endParaRPr>
          </a:p>
          <a:p>
            <a:pPr algn="ctr"/>
            <a:endParaRPr lang="fr-FR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13CCAFF-14B4-2DE1-613D-4CD36E317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67"/>
          <a:stretch/>
        </p:blipFill>
        <p:spPr>
          <a:xfrm>
            <a:off x="1197149" y="1240149"/>
            <a:ext cx="9567685" cy="55067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F9B45C3-6A97-8634-8D35-95829909F4F1}"/>
              </a:ext>
            </a:extLst>
          </p:cNvPr>
          <p:cNvSpPr txBox="1"/>
          <p:nvPr/>
        </p:nvSpPr>
        <p:spPr>
          <a:xfrm>
            <a:off x="1599669" y="111130"/>
            <a:ext cx="8762647" cy="7134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200000"/>
              </a:lnSpc>
              <a:buClr>
                <a:srgbClr val="F7F7F7"/>
              </a:buClr>
            </a:pPr>
            <a:r>
              <a:rPr lang="fr-FR" sz="2400" b="1" u="sng" dirty="0"/>
              <a:t>Indicateurs complémentaires</a:t>
            </a:r>
          </a:p>
        </p:txBody>
      </p:sp>
    </p:spTree>
    <p:extLst>
      <p:ext uri="{BB962C8B-B14F-4D97-AF65-F5344CB8AC3E}">
        <p14:creationId xmlns:p14="http://schemas.microsoft.com/office/powerpoint/2010/main" val="3642408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AA002CE-BCA7-70BA-1CFE-F5E2C8DF1C20}"/>
              </a:ext>
            </a:extLst>
          </p:cNvPr>
          <p:cNvSpPr txBox="1"/>
          <p:nvPr/>
        </p:nvSpPr>
        <p:spPr>
          <a:xfrm>
            <a:off x="1414463" y="2967335"/>
            <a:ext cx="9363074" cy="92333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5400" b="1" i="0" dirty="0">
                <a:effectLst/>
                <a:highlight>
                  <a:srgbClr val="000000"/>
                </a:highlight>
                <a:latin typeface="arial" panose="020B0604020202020204" pitchFamily="34" charset="0"/>
              </a:rPr>
              <a:t>Merci pour votre attention</a:t>
            </a:r>
            <a:endParaRPr lang="fr-FR" sz="5400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80236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16615</TotalTime>
  <Words>381</Words>
  <Application>Microsoft Office PowerPoint</Application>
  <PresentationFormat>Grand écran</PresentationFormat>
  <Paragraphs>57</Paragraphs>
  <Slides>16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Rockwell</vt:lpstr>
      <vt:lpstr>Wingdings 3</vt:lpstr>
      <vt:lpstr>Ion</vt:lpstr>
      <vt:lpstr>Présentation PowerPoint</vt:lpstr>
      <vt:lpstr>Plan de réalisation</vt:lpstr>
      <vt:lpstr>Présentation PowerPoint</vt:lpstr>
      <vt:lpstr>Présentation PowerPoint</vt:lpstr>
      <vt:lpstr>Présentation PowerPoint</vt:lpstr>
      <vt:lpstr>Indicateur n°1 - Nombre de salariés du sexe sous-représenté parmi les 10 plus hautes rémunérations</vt:lpstr>
      <vt:lpstr>Indicateur n°1 - Nombre de salariés du sexe sous-représenté parmi les 10 plus hautes rémunérations</vt:lpstr>
      <vt:lpstr>Indicateur N°1 - Nombre de salariés du sexe sous-représenté parmi les 10 plus hautes rémunérations</vt:lpstr>
      <vt:lpstr>Indicateur n°2 - Écart global de rémunération entre les femmes et les hommes. </vt:lpstr>
      <vt:lpstr>Indicateur n°2 - Écart global de rémunération entre les femmes et les hommes. </vt:lpstr>
      <vt:lpstr>Indicateur n°2 - Écart global de rémunération entre les femmes et les hommes. </vt:lpstr>
      <vt:lpstr>Indicateur n°2 - Écart global de rémunération entre les femmes et les hommes. </vt:lpstr>
      <vt:lpstr>Indicateur n°2 - Écart global de rémunération entre les femmes et les hommes.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WadJa</dc:creator>
  <cp:lastModifiedBy>WadJa</cp:lastModifiedBy>
  <cp:revision>3220</cp:revision>
  <dcterms:created xsi:type="dcterms:W3CDTF">2023-12-10T20:21:10Z</dcterms:created>
  <dcterms:modified xsi:type="dcterms:W3CDTF">2024-05-02T02:21:07Z</dcterms:modified>
</cp:coreProperties>
</file>